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1.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2.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charts/chart3.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M1 · Problem &amp; EER" id="{21361137-f4ac-3670-1ad8-388a2b1c8572}">
          <p14:sldIdLst>
            <p14:sldId id="256"/>
            <p14:sldId id="257"/>
            <p14:sldId id="258"/>
            <p14:sldId id="259"/>
            <p14:sldId id="260"/>
          </p14:sldIdLst>
        </p14:section>
        <p14:section name="M2 · Schema &amp; normalization" id="{2c5f5e86-dfca-254b-e8df-c684a304528b}">
          <p14:sldIdLst>
            <p14:sldId id="261"/>
            <p14:sldId id="262"/>
            <p14:sldId id="263"/>
          </p14:sldIdLst>
        </p14:section>
        <p14:section name="M3 · DDL, data &amp; queries" id="{93c5c595-bb6e-7850-010d-fab82f1829fe}">
          <p14:sldIdLst>
            <p14:sldId id="264"/>
            <p14:sldId id="265"/>
            <p14:sldId id="266"/>
            <p14:sldId id="267"/>
          </p14:sldIdLst>
        </p14:section>
        <p14:section name="M4 · Rules, transactions &amp; performance" id="{b2c66745-5d3d-910a-5e2d-46bae883bb2e}">
          <p14:sldIdLst>
            <p14:sldId id="268"/>
            <p14:sldId id="269"/>
            <p14:sldId id="270"/>
            <p14:sldId id="271"/>
            <p14:sldId id="272"/>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F2937"/>
                </a:solidFill>
                <a:latin typeface="+mn-lt"/>
              </a:defRPr>
            </a:pPr>
            <a:r>
              <a:rPr sz="1300" b="0" i="0" u="none" strike="noStrike">
                <a:solidFill>
                  <a:srgbClr val="1F2937"/>
                </a:solidFill>
                <a:latin typeface="+mn-lt"/>
              </a:rPr>
              <a:t>Q4: cumulative % of batch placed (SUM() OVER)</a:t>
            </a:r>
          </a:p>
        </c:rich>
      </c:tx>
      <c:layout/>
      <c:overlay val="0"/>
    </c:title>
    <c:autoTitleDeleted val="0"/>
    <c:plotArea>
      <c:layout/>
      <c:lineChart>
        <c:varyColors val="0"/>
        <c:ser>
          <c:idx val="0"/>
          <c:order val="0"/>
          <c:tx>
            <c:strRef>
              <c:f>Sheet1!$B$1</c:f>
              <c:strCache>
                <c:ptCount val="1"/>
                <c:pt idx="0">
                  <c:v>PGDBA</c:v>
                </c:pt>
              </c:strCache>
            </c:strRef>
          </c:tx>
          <c:spPr>
            <a:solidFill>
              <a:srgbClr val="4F46E5"/>
            </a:solidFill>
            <a:ln w="31750" cap="flat">
              <a:solidFill>
                <a:srgbClr val="4F46E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4F46E5"/>
              </a:solidFill>
              <a:ln w="9525" cap="flat">
                <a:solidFill>
                  <a:srgbClr val="4F46E5"/>
                </a:solidFill>
                <a:prstDash val="solid"/>
                <a:round/>
              </a:ln>
              <a:effectLst/>
            </c:spPr>
          </c:marker>
          <c:cat>
            <c:multiLvlStrRef>
              <c:f>Sheet1!$A$2:$A$12</c:f>
              <c:multiLvlStrCache>
                <c:ptCount val="11"/>
                <c:lvl>
                  <c:pt idx="0">
                    <c:v>18 Oct</c:v>
                  </c:pt>
                  <c:pt idx="1">
                    <c:v>19 Oct</c:v>
                  </c:pt>
                  <c:pt idx="2">
                    <c:v>20 Oct</c:v>
                  </c:pt>
                  <c:pt idx="3">
                    <c:v>21 Oct</c:v>
                  </c:pt>
                  <c:pt idx="4">
                    <c:v>22 Oct</c:v>
                  </c:pt>
                  <c:pt idx="5">
                    <c:v>23 Oct</c:v>
                  </c:pt>
                  <c:pt idx="6">
                    <c:v>24 Oct</c:v>
                  </c:pt>
                  <c:pt idx="7">
                    <c:v>25 Oct</c:v>
                  </c:pt>
                  <c:pt idx="8">
                    <c:v>26 Oct</c:v>
                  </c:pt>
                  <c:pt idx="9">
                    <c:v>27 Oct</c:v>
                  </c:pt>
                  <c:pt idx="10">
                    <c:v>28 Oct</c:v>
                  </c:pt>
                </c:lvl>
              </c:multiLvlStrCache>
            </c:multiLvlStrRef>
          </c:cat>
          <c:val>
            <c:numRef>
              <c:f>Sheet1!$B$2:$B$12</c:f>
              <c:numCache>
                <c:formatCode>General</c:formatCode>
                <c:ptCount val="11"/>
                <c:pt idx="0">
                  <c:v>0</c:v>
                </c:pt>
                <c:pt idx="1">
                  <c:v>1.7</c:v>
                </c:pt>
                <c:pt idx="2">
                  <c:v>3.4</c:v>
                </c:pt>
                <c:pt idx="3">
                  <c:v>6.8</c:v>
                </c:pt>
                <c:pt idx="4">
                  <c:v>11.9</c:v>
                </c:pt>
                <c:pt idx="5">
                  <c:v>11.9</c:v>
                </c:pt>
                <c:pt idx="6">
                  <c:v>15.3</c:v>
                </c:pt>
                <c:pt idx="7">
                  <c:v>16.9</c:v>
                </c:pt>
                <c:pt idx="8">
                  <c:v>20.3</c:v>
                </c:pt>
                <c:pt idx="9">
                  <c:v>20.3</c:v>
                </c:pt>
                <c:pt idx="10">
                  <c:v>20.3</c:v>
                </c:pt>
              </c:numCache>
            </c:numRef>
          </c:val>
          <c:smooth val="0"/>
        </c:ser>
        <c:ser>
          <c:idx val="1"/>
          <c:order val="1"/>
          <c:tx>
            <c:strRef>
              <c:f>Sheet1!$C$1</c:f>
              <c:strCache>
                <c:ptCount val="1"/>
                <c:pt idx="0">
                  <c:v>PGP</c:v>
                </c:pt>
              </c:strCache>
            </c:strRef>
          </c:tx>
          <c:spPr>
            <a:solidFill>
              <a:srgbClr val="0EA5E9"/>
            </a:solidFill>
            <a:ln w="31750" cap="flat">
              <a:solidFill>
                <a:srgbClr val="0EA5E9"/>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0EA5E9"/>
              </a:solidFill>
              <a:ln w="9525" cap="flat">
                <a:solidFill>
                  <a:srgbClr val="0EA5E9"/>
                </a:solidFill>
                <a:prstDash val="solid"/>
                <a:round/>
              </a:ln>
              <a:effectLst/>
            </c:spPr>
          </c:marker>
          <c:cat>
            <c:multiLvlStrRef>
              <c:f>Sheet1!$A$2:$A$12</c:f>
              <c:multiLvlStrCache>
                <c:ptCount val="11"/>
                <c:lvl>
                  <c:pt idx="0">
                    <c:v>18 Oct</c:v>
                  </c:pt>
                  <c:pt idx="1">
                    <c:v>19 Oct</c:v>
                  </c:pt>
                  <c:pt idx="2">
                    <c:v>20 Oct</c:v>
                  </c:pt>
                  <c:pt idx="3">
                    <c:v>21 Oct</c:v>
                  </c:pt>
                  <c:pt idx="4">
                    <c:v>22 Oct</c:v>
                  </c:pt>
                  <c:pt idx="5">
                    <c:v>23 Oct</c:v>
                  </c:pt>
                  <c:pt idx="6">
                    <c:v>24 Oct</c:v>
                  </c:pt>
                  <c:pt idx="7">
                    <c:v>25 Oct</c:v>
                  </c:pt>
                  <c:pt idx="8">
                    <c:v>26 Oct</c:v>
                  </c:pt>
                  <c:pt idx="9">
                    <c:v>27 Oct</c:v>
                  </c:pt>
                  <c:pt idx="10">
                    <c:v>28 Oct</c:v>
                  </c:pt>
                </c:lvl>
              </c:multiLvlStrCache>
            </c:multiLvlStrRef>
          </c:cat>
          <c:val>
            <c:numRef>
              <c:f>Sheet1!$C$2:$C$12</c:f>
              <c:numCache>
                <c:formatCode>General</c:formatCode>
                <c:ptCount val="11"/>
                <c:pt idx="0">
                  <c:v>0</c:v>
                </c:pt>
                <c:pt idx="1">
                  <c:v>3.4</c:v>
                </c:pt>
                <c:pt idx="2">
                  <c:v>5.6</c:v>
                </c:pt>
                <c:pt idx="3">
                  <c:v>7.9</c:v>
                </c:pt>
                <c:pt idx="4">
                  <c:v>10.1</c:v>
                </c:pt>
                <c:pt idx="5">
                  <c:v>11.2</c:v>
                </c:pt>
                <c:pt idx="6">
                  <c:v>11.2</c:v>
                </c:pt>
                <c:pt idx="7">
                  <c:v>11.2</c:v>
                </c:pt>
                <c:pt idx="8">
                  <c:v>11.2</c:v>
                </c:pt>
                <c:pt idx="9">
                  <c:v>13.5</c:v>
                </c:pt>
                <c:pt idx="10">
                  <c:v>18</c:v>
                </c:pt>
              </c:numCache>
            </c:numRef>
          </c:val>
          <c:smooth val="0"/>
        </c:ser>
        <c:ser>
          <c:idx val="2"/>
          <c:order val="2"/>
          <c:tx>
            <c:strRef>
              <c:f>Sheet1!$D$1</c:f>
              <c:strCache>
                <c:ptCount val="1"/>
                <c:pt idx="0">
                  <c:v>PGPEX</c:v>
                </c:pt>
              </c:strCache>
            </c:strRef>
          </c:tx>
          <c:spPr>
            <a:solidFill>
              <a:srgbClr val="F59E0B"/>
            </a:solidFill>
            <a:ln w="31750" cap="flat">
              <a:solidFill>
                <a:srgbClr val="F59E0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F59E0B"/>
              </a:solidFill>
              <a:ln w="9525" cap="flat">
                <a:solidFill>
                  <a:srgbClr val="F59E0B"/>
                </a:solidFill>
                <a:prstDash val="solid"/>
                <a:round/>
              </a:ln>
              <a:effectLst/>
            </c:spPr>
          </c:marker>
          <c:cat>
            <c:multiLvlStrRef>
              <c:f>Sheet1!$A$2:$A$12</c:f>
              <c:multiLvlStrCache>
                <c:ptCount val="11"/>
                <c:lvl>
                  <c:pt idx="0">
                    <c:v>18 Oct</c:v>
                  </c:pt>
                  <c:pt idx="1">
                    <c:v>19 Oct</c:v>
                  </c:pt>
                  <c:pt idx="2">
                    <c:v>20 Oct</c:v>
                  </c:pt>
                  <c:pt idx="3">
                    <c:v>21 Oct</c:v>
                  </c:pt>
                  <c:pt idx="4">
                    <c:v>22 Oct</c:v>
                  </c:pt>
                  <c:pt idx="5">
                    <c:v>23 Oct</c:v>
                  </c:pt>
                  <c:pt idx="6">
                    <c:v>24 Oct</c:v>
                  </c:pt>
                  <c:pt idx="7">
                    <c:v>25 Oct</c:v>
                  </c:pt>
                  <c:pt idx="8">
                    <c:v>26 Oct</c:v>
                  </c:pt>
                  <c:pt idx="9">
                    <c:v>27 Oct</c:v>
                  </c:pt>
                  <c:pt idx="10">
                    <c:v>28 Oct</c:v>
                  </c:pt>
                </c:lvl>
              </c:multiLvlStrCache>
            </c:multiLvlStrRef>
          </c:cat>
          <c:val>
            <c:numRef>
              <c:f>Sheet1!$D$2:$D$12</c:f>
              <c:numCache>
                <c:formatCode>General</c:formatCode>
                <c:ptCount val="11"/>
                <c:pt idx="0">
                  <c:v>0</c:v>
                </c:pt>
                <c:pt idx="1">
                  <c:v>0</c:v>
                </c:pt>
                <c:pt idx="2">
                  <c:v>3.4</c:v>
                </c:pt>
                <c:pt idx="3">
                  <c:v>3.4</c:v>
                </c:pt>
                <c:pt idx="4">
                  <c:v>6.9</c:v>
                </c:pt>
                <c:pt idx="5">
                  <c:v>6.9</c:v>
                </c:pt>
                <c:pt idx="6">
                  <c:v>6.9</c:v>
                </c:pt>
                <c:pt idx="7">
                  <c:v>6.9</c:v>
                </c:pt>
                <c:pt idx="8">
                  <c:v>6.9</c:v>
                </c:pt>
                <c:pt idx="9">
                  <c:v>6.9</c:v>
                </c:pt>
                <c:pt idx="10">
                  <c:v>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6B7280"/>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5E7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B7280"/>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100">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F2937"/>
                </a:solidFill>
                <a:latin typeface="+mn-lt"/>
              </a:defRPr>
            </a:pPr>
            <a:r>
              <a:rPr sz="1300" b="0" i="0" u="none" strike="noStrike">
                <a:solidFill>
                  <a:srgbClr val="1F2937"/>
                </a:solidFill>
                <a:latin typeface="+mn-lt"/>
              </a:rPr>
              <a:t>Same query on 600,000 rows, ms (log scale)</a:t>
            </a:r>
          </a:p>
        </c:rich>
      </c:tx>
      <c:layout/>
      <c:overlay val="0"/>
    </c:title>
    <c:autoTitleDeleted val="0"/>
    <c:plotArea>
      <c:layout/>
      <c:barChart>
        <c:barDir val="col"/>
        <c:grouping val="clustered"/>
        <c:varyColors val="0"/>
        <c:ser>
          <c:idx val="0"/>
          <c:order val="0"/>
          <c:tx>
            <c:strRef>
              <c:f>Sheet1!$B$1</c:f>
              <c:strCache>
                <c:ptCount val="1"/>
                <c:pt idx="0">
                  <c:v>Execution time (ms)</c:v>
                </c:pt>
              </c:strCache>
            </c:strRef>
          </c:tx>
          <c:spPr>
            <a:solidFill>
              <a:srgbClr val="DC2626"/>
            </a:solidFill>
            <a:effectLst/>
          </c:spPr>
          <c:invertIfNegative val="0"/>
          <c:dLbls>
            <c:numFmt formatCode="0.000" sourceLinked="0"/>
            <c:txPr>
              <a:bodyPr/>
              <a:lstStyle/>
              <a:p>
                <a:pPr>
                  <a:defRPr b="0" i="0" strike="noStrike" sz="1200" u="none">
                    <a:solidFill>
                      <a:srgbClr val="1F2937"/>
                    </a:solidFill>
                    <a:latin typeface="+mn-lt"/>
                  </a:defRPr>
                </a:pPr>
              </a:p>
            </c:txPr>
            <c:showLegendKey val="0"/>
            <c:showVal val="1"/>
            <c:showCatName val="0"/>
            <c:showSerName val="0"/>
            <c:showPercent val="0"/>
            <c:showBubbleSize val="0"/>
            <c:showLeaderLines val="0"/>
          </c:dLbls>
          <c:dPt>
            <c:idx val="0"/>
            <c:invertIfNegative val="0"/>
            <c:bubble3D val="0"/>
            <c:spPr>
              <a:solidFill>
                <a:srgbClr val="DC2626"/>
              </a:solidFill>
              <a:effectLst/>
            </c:spPr>
          </c:dPt>
          <c:dPt>
            <c:idx val="1"/>
            <c:invertIfNegative val="0"/>
            <c:bubble3D val="0"/>
            <c:spPr>
              <a:solidFill>
                <a:srgbClr val="4F46E5"/>
              </a:solidFill>
              <a:effectLst/>
            </c:spPr>
          </c:dPt>
          <c:dPt>
            <c:idx val="2"/>
            <c:invertIfNegative val="0"/>
            <c:bubble3D val="0"/>
            <c:spPr>
              <a:solidFill>
                <a:srgbClr val="0F766E"/>
              </a:solidFill>
              <a:effectLst/>
            </c:spPr>
          </c:dPt>
          <c:cat>
            <c:multiLvlStrRef>
              <c:f>Sheet1!$A$2:$A$4</c:f>
              <c:multiLvlStrCache>
                <c:ptCount val="3"/>
                <c:lvl>
                  <c:pt idx="0">
                    <c:v>No index (seq scan)</c:v>
                  </c:pt>
                  <c:pt idx="1">
                    <c:v>Composite (job_id, status)</c:v>
                  </c:pt>
                  <c:pt idx="2">
                    <c:v>Partial (open rows only)</c:v>
                  </c:pt>
                </c:lvl>
              </c:multiLvlStrCache>
            </c:multiLvlStrRef>
          </c:cat>
          <c:val>
            <c:numRef>
              <c:f>Sheet1!$B$2:$B$4</c:f>
              <c:numCache>
                <c:formatCode>General</c:formatCode>
                <c:ptCount val="3"/>
                <c:pt idx="0">
                  <c:v>62.609</c:v>
                </c:pt>
                <c:pt idx="1">
                  <c:v>0.041</c:v>
                </c:pt>
                <c:pt idx="2">
                  <c:v>0.017</c:v>
                </c:pt>
              </c:numCache>
            </c:numRef>
          </c:val>
        </c:ser>
        <c:dLbls>
          <c:numFmt formatCode="0.000" sourceLinked="0"/>
          <c:txPr>
            <a:bodyPr/>
            <a:lstStyle/>
            <a:p>
              <a:pPr>
                <a:defRPr b="0" i="0" strike="noStrike" sz="1200" u="none">
                  <a:solidFill>
                    <a:srgbClr val="1F2937"/>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6B7280"/>
                </a:solidFill>
                <a:latin typeface="+mn-lt"/>
              </a:defRPr>
            </a:pPr>
            <a:endParaRPr lang="en-US"/>
          </a:p>
        </c:txPr>
        <c:crossAx val="2094734552"/>
        <c:crossesAt val="0.01"/>
        <c:auto val="1"/>
        <c:lblAlgn val="ctr"/>
        <c:noMultiLvlLbl val="1"/>
      </c:catAx>
      <c:valAx>
        <c:axId val="2094734552"/>
        <c:scaling>
          <c:logBase val="10"/>
          <c:orientation val="minMax"/>
          <c:max val="100"/>
          <c:min val="0.01"/>
        </c:scaling>
        <c:delete val="0"/>
        <c:axPos val="l"/>
        <c:majorGridlines>
          <c:spPr>
            <a:ln w="9525" cap="flat">
              <a:solidFill>
                <a:srgbClr val="E5E7EB"/>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B7280"/>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Tests</c:v>
                </c:pt>
              </c:strCache>
            </c:strRef>
          </c:tx>
          <c:spPr>
            <a:solidFill>
              <a:srgbClr val="4F46E5"/>
            </a:solidFill>
            <a:effectLst/>
          </c:spPr>
          <c:invertIfNegative val="0"/>
          <c:dLbls>
            <c:numFmt formatCode="#,##0" sourceLinked="0"/>
            <c:txPr>
              <a:bodyPr/>
              <a:lstStyle/>
              <a:p>
                <a:pPr>
                  <a:defRPr b="0" i="0" strike="noStrike" sz="1100" u="none">
                    <a:solidFill>
                      <a:srgbClr val="1F2937"/>
                    </a:solidFill>
                    <a:latin typeface="+mn-lt"/>
                  </a:defRPr>
                </a:pPr>
              </a:p>
            </c:txPr>
            <c:showLegendKey val="0"/>
            <c:showVal val="1"/>
            <c:showCatName val="0"/>
            <c:showSerName val="0"/>
            <c:showPercent val="0"/>
            <c:showBubbleSize val="0"/>
            <c:showLeaderLines val="0"/>
          </c:dLbls>
          <c:cat>
            <c:multiLvlStrRef>
              <c:f>Sheet1!$A$2:$A$10</c:f>
              <c:multiLvlStrCache>
                <c:ptCount val="9"/>
                <c:lvl>
                  <c:pt idx="0">
                    <c:v>constraints</c:v>
                  </c:pt>
                  <c:pt idx="1">
                    <c:v>triggers</c:v>
                  </c:pt>
                  <c:pt idx="2">
                    <c:v>api</c:v>
                  </c:pt>
                  <c:pt idx="3">
                    <c:v>schema</c:v>
                  </c:pt>
                  <c:pt idx="4">
                    <c:v>queries</c:v>
                  </c:pt>
                  <c:pt idx="5">
                    <c:v>data</c:v>
                  </c:pt>
                  <c:pt idx="6">
                    <c:v>security</c:v>
                  </c:pt>
                  <c:pt idx="7">
                    <c:v>transactions</c:v>
                  </c:pt>
                  <c:pt idx="8">
                    <c:v>performance</c:v>
                  </c:pt>
                </c:lvl>
              </c:multiLvlStrCache>
            </c:multiLvlStrRef>
          </c:cat>
          <c:val>
            <c:numRef>
              <c:f>Sheet1!$B$2:$B$10</c:f>
              <c:numCache>
                <c:formatCode>General</c:formatCode>
                <c:ptCount val="9"/>
                <c:pt idx="0">
                  <c:v>20</c:v>
                </c:pt>
                <c:pt idx="1">
                  <c:v>16</c:v>
                </c:pt>
                <c:pt idx="2">
                  <c:v>11</c:v>
                </c:pt>
                <c:pt idx="3">
                  <c:v>10</c:v>
                </c:pt>
                <c:pt idx="4">
                  <c:v>9</c:v>
                </c:pt>
                <c:pt idx="5">
                  <c:v>9</c:v>
                </c:pt>
                <c:pt idx="6">
                  <c:v>9</c:v>
                </c:pt>
                <c:pt idx="7">
                  <c:v>4</c:v>
                </c:pt>
                <c:pt idx="8">
                  <c:v>3</c:v>
                </c:pt>
              </c:numCache>
            </c:numRef>
          </c:val>
        </c:ser>
        <c:dLbls>
          <c:numFmt formatCode="#,##0" sourceLinked="0"/>
          <c:txPr>
            <a:bodyPr/>
            <a:lstStyle/>
            <a:p>
              <a:pPr>
                <a:defRPr b="0" i="0" strike="noStrike" sz="1100" u="none">
                  <a:solidFill>
                    <a:srgbClr val="1F2937"/>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50" b="0" i="0" u="none" strike="noStrike">
                <a:solidFill>
                  <a:srgbClr val="374151"/>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[M1 · Ekta Sharma · 0:00–0:30]
Good morning. We are presenting PlaceIQ, a database for campus placements.
The one-line idea: today the placement committee runs recruitment from spreadsheets, and spreadsheets cannot stop anyone from breaking the rules. We moved those rules into the database itself, so that PostgreSQL refuses an ineligible application, a double-booked interview or a second accepted offer.
Each of the four of us will present one part of the pipeline: design, normalization, SQL, and finally rules, transactions and performance.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[M1 · Ekta Sharma · 0:30–0:50]
Here is how the 15 minutes are split. I will cover the problem and the conceptual model. [Member 2] turns it into a normalized relational schema. [Member 3] shows the DDL, the data and our five queries. [Member 4] shows the triggers live, then transactions, indexing, security and testing.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[M1 · Ekta Sharma · 0:50–1:50]
This is what the committee's sheet looks like: one row per student, per company, per interview round.
Look at the red header columns: Northbridge, Mumbai, the role and the pay repeat on every row. That causes the three classic anomalies.
Update: if the company changes its HQ we must edit every row. Insertion: we cannot even record a new job until someone applies, because roll number is part of the key. Deletion: delete the only applicant and the job vanishes with them.
Beyond anomalies, a file system cannot enforce rules. So we listed 15 business rules, on the right, and every one of them is enforced inside PostgreSQL: by constraints, triggers or views.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[M1 · Ekta Sharma · 1:50–2:40]
Our EER model is split in two views for readability. This one covers people.
PERSON is a superclass with an OVERLAPPING, PARTIAL specialization (the 'o' circle) into STUDENT, COMMITTEE_MEMBER, ALUMNUS and RECRUITER: overlapping because a student can also sit on the placement committee; partial because a guest speaker is just a person.
Note the attribute types: person_id is the key, name is composite, skills is multi-valued (double oval), and placement_status is derived (dashed oval) — we never store it.
On the right is the rarest EER construct: a CATEGORY or union type. SPONSOR is a subset of COMPANY UNION ALUMNUS: two superclasses of different types sharing one role. Double lines mark total participation, for example every student must be enrolled in a program.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[M1 · Ekta Sharma · 2:40–3:45]
The second view is the recruitment pipeline. STUDENT APPLIES_TO JOB_ROLE is many-to-many with attributes, status and applied_at.
The key modelling decision is AGGREGATION, the purple box. You do not interview a student in general; you interview an application, a student for a specific job. So the whole APPLIES_TO relationship is treated as an entity that participates in EVALUATED_IN with INTERVIEW_ROUND, and in RESULTS_IN with OFFER.
INTERVIEW_ROUND is a WEAK entity, 'round 2' means nothing without its job, so it is identified through the double-diamond HAS_ROUND, with round_no as its partial key.
JOB_ROLE has a DISJOINT, TOTAL specialization into internship and full-time: a stipend and a CTC are different attributes, and every job is exactly one of the two.
I now hand over to [Member 2], who will turn this model into tables.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[M2 · [Member 2] · 3:45–4:45]
Thank you. We mapped the EER model with the standard Elmasri–Navathe steps, shown on the left. Strong entities became tables; the weak entity's primary key is its owner's key plus its partial key; many-to-many relationships became bridge tables; the multi-valued skills attribute became its own table; each subclass got its own table sharing the superclass key; and the union type got a surrogate sponsor_id.
The result is 22 tables.
On the right, keys. A super key is any identifying set. Candidate keys are the minimal ones — placement_cycle actually has three. We pick one as primary and keep natural keys as UNIQUE alternate keys, so introducing surrogate ids loses no rule. And we have 30 foreign keys, including composite ones that enforce cross-table rules, which [Member 3] will show.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[M2 · [Member 2] · 4:45–6:15]
We started from the spreadsheet you saw, the UNF relation in red, and wrote down its functional dependencies. For example: roll_no determines name, email, program and CGPA; prog_code determines prog_name; company determines sector and city; a job, identified by company, cycle and title, determines its pay.
1NF: skills was a list, not atomic, so it moves to its own relation.
2NF: the key is roll_no, job and round. Many attributes depend on only part of it — student details on roll_no, company details on company — so we split those out.
3NF: two transitive dependencies remain. roll_no determines prog_code which determines prog_name, so PROGRAM separates. And min_cgpa really depends on the job and the program, not on the application, so ELIGIBILITY separates.
Every split is on a functional dependency whose left side becomes a key, so by Heath's theorem it is lossless, and every FD still lives inside one table, so it is dependency-preserving.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[M2 · [Member 2] · 6:15–7:30]
To prove BCNF we checked, for every relation, that every determinant is a super key. The interesting row is student: email determines roll_no and roll_no determines email. That looks suspicious, but both are candidate keys, so BCNF holds.
We also made deliberate decisions not to store redundant data, listed bottom-left. For example, the offer does not copy the CTC: offer determines job, job determines CTC, so copying it would create a transitive dependency.
On the right is the classic trap we discussed as a team. If each recruiter interviewed for only one job, a Panel relation would be in 3NF but not BCNF, and decomposing it would lose a dependency. We avoided it at the requirements level: the business does not need that rule.
Over to [Member 3] for the implementation.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[M3 · [Member 3] · 7:30–8:30]
Thank you. Our principle in the DDL was: if a rule can be declared, declare it. On the left are two examples.
First, the disjoint specialization. Each subtype table carries a role_type column fixed by a CHECK to its own type, and a composite foreign key to (job_id, role_type) in job_role. So a full-time job simply cannot get an internship row — the foreign key has nothing to match. No trigger, no application code.
Second, an EXCLUDE constraint with a GiST index: no two interview rows for the same student may have overlapping time ranges. A UNIQUE constraint cannot express 'overlapping', this can.
On the right are the totals straight from the system catalog: 45 CHECK constraints, 30 foreign keys, 17 unique alternate keys, and the ON DELETE action we chose for each relationship.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[M3 · [Member 3] · 8:30–9:15]
To test the design we needed realistic data: 180 students, 16 companies, 1,184 applications, 1,057 interview slots and 96 offers.
Two points matter. First, it is seeded, so every rebuild produces exactly the same data and our query outputs are reproducible — our test suite even checks this with a fingerprint.
Second, we did not bypass our own rules: the triggers are installed before the data, and a simulation drives the whole recruitment process through them in one transaction. So the dataset itself is evidence that the rules are consistent.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[M3 · [Member 3] · 9:15–10:00]
Each query answers a real question the committee asks. Q1 finds the most selective recruiters using HAVING compared against a scalar subquery — Meridian Insurance makes offers to only 8.6 percent of applicants. Q2 is relational division. Q3 and Q4 use window functions. Q5 uses a correlated subquery to find strong students who keep failing interviews, so the committee can coach them. Let me zoom into two of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[M3 · [Member 3] · 10:00–11:15]
Q2 is relational division, which SQL has no operator for. We express 'holds every required skill' as a double negation: there is no required skill that the student does not have. The algebra is shown below the code. To be sure it is right, our tests compare it with the other classic formulation, division by counting, for all 25 jobs, and they agree.
On the right is Q4. A window function — SUM OVER partitioned by program and ordered by day — gives a running total without collapsing the rows, and generate_series builds a calendar so that days with zero placements still appear. This is the committee's daily progress chart.
Now [Member 4] will show how the rules are enforced,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[M4 · [Member 4] · 11:15–12:00]
Thank you. Some rules span several tables, so a CHECK cannot express them. The most important is the one-offer policy.
A student accepts through the stored procedure sp_accept_offer. It first locks the student's row, then re-reads the offer to make sure it is still pending. The UPDATE fires two triggers. The BEFORE trigger is the guard: deadline not passed, no other accepted offer in this cycle. The AFTER trigger is the cascade, in green: it declines the student's other pending offers, withdraws their open applications, frees their interview slots and writes an audit log.
Crucially, all of this happens in one transaction: either every step commits, or none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[M4 · [Member 4] · 12:00–13:15 · LIVE DEMO, about 75 seconds]
(Switch to the browser, http://127.0.0.1:8000. Press 'Reset demo data' beforehand.)
1. Jobs → Monsoon Foods (job 21) → 'Make offer' for PGP62-084. Dev now holds two pending offers.
2. Students → PGP62-084 → Accept on the DataSutra row → confirm.
3. Point at the toast: one offer auto-declined, one application withdrawn. Point at the table: Declined, Withdrawn. The final-placement card now says Placed — that status comes from the view.
4. In 'Apply for a job', choose job 25 → Apply: refused, 'already accepted an offer in this placement cycle'.
If anything fails, play the backup video, which shows exactly these steps.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[M4 · [Member 4] · 13:15–13:50]
Each ACID property is demonstrated, and tested, in our project. The interesting one is isolation. If two sessions accept two different offers for the same student at the same moment, both could pass the 'no other accepted offer' check before either commits. Our procedure locks the student row first, so session B waits; when A commits, B re-reads its offer, finds it already declined by A's trigger, and rolls back. We found during testing that locking the offer row first could deadlock, so lock order matters. Our automated test runs exactly this with two real connections.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[M4 · [Member 4] · 13:50–14:15]
Our live tables are small, so we built a 600,000-row application archive to measure indexing honestly. Without an index, PostgreSQL scans the whole table: 62.6 milliseconds. A composite B-tree on job_id and status: 0.041 milliseconds, about 1,527 times faster. A partial index that only covers open applications is 26 times smaller and faster still.
One lesson surprised us: we expected PostgreSQL 18 to ignore the index for a filter on status alone. It actually used it, but by reading the entire index — 4,383 blocks versus 3. The leading-column rule is about seeking, not about whether the index appears in the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[M4 · [Member 4] · 14:15–14:35]
Security. On the left, the same search written two ways. Pasting the input into the SQL string leaks all 180 students for the classic OR '1'='1' payload; passing it as a bound parameter returns zero rows. Even our deliberately vulnerable path is sandboxed: it runs as a least-privilege role with SELECT on just two tables, inside a read-only transaction, so a DROP TABLE attempt is refused.
On the right, testing. We wrote 91 automated tests that run against the real database — constraints, triggers, queries, concurrency, performance, security and the API — and all 91 pass. Writing them also caught real issues, documented in our testing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 14:35–15:00, then Q&amp;A]
Each of us closes with one sentence (read your own card).
Then: "Thank you. We are happy to take questions." Each member answers questions on their own section: M1 modelling, M2 normalization and keys, M3 DDL and queries, M4 triggers, transactions, indexing, security and testing.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144000" cy="731520"/>
          </a:xfrm>
          <a:prstGeom prst="rect">
            <a:avLst/>
          </a:prstGeom>
          <a:noFill/>
          <a:ln/>
        </p:spPr>
        <p:txBody>
          <a:bodyPr wrap="square" rtlCol="0"/>
          <a:lstStyle>
            <a:lvl1pPr algn="l" indent="0" marL="0">
              <a:buNone/>
              <a:defRPr lang="en-US" sz="3000" b="1" dirty="0">
                <a:solidFill>
                  <a:srgbClr val="111827"/>
                </a:solidFill>
                <a:latin typeface="Cambria" pitchFamily="34" charset="0"/>
                <a:ea typeface="Cambria" pitchFamily="34" charset="-122"/>
                <a:cs typeface="Cambria" pitchFamily="34" charset="-120"/>
              </a:defRPr>
            </a:lvl1pPr>
          </a:lstStyle>
          <a:p>
            <a:pPr algn="l" indent="0" marL="0">
              <a:buNone/>
            </a:pPr>
            <a:endParaRPr lang="en-US" sz="3000" dirty="0"/>
          </a:p>
        </p:txBody>
      </p:sp>
      <p:sp>
        <p:nvSpPr>
          <p:cNvPr id="3" name="Text 0"/>
          <p:cNvSpPr/>
          <p:nvPr/>
        </p:nvSpPr>
        <p:spPr>
          <a:xfrm>
            <a:off x="548640" y="6419088"/>
            <a:ext cx="5486400" cy="274320"/>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PlaceIQ  ·  Fundamentals of Database Systems</a:t>
            </a:r>
            <a:endParaRPr lang="en-US" sz="10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11827"/>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640080" y="914400"/>
            <a:ext cx="5669280" cy="320040"/>
          </a:xfrm>
          <a:prstGeom prst="rect">
            <a:avLst/>
          </a:prstGeom>
          <a:noFill/>
          <a:ln/>
        </p:spPr>
        <p:txBody>
          <a:bodyPr wrap="square" lIns="0" tIns="0" rIns="0" bIns="0" rtlCol="0" anchor="ctr"/>
          <a:lstStyle/>
          <a:p>
            <a:pPr indent="0" marL="0">
              <a:buNone/>
            </a:pPr>
            <a:r>
              <a:rPr lang="en-US" sz="1200" b="1" spc="200" kern="0" dirty="0">
                <a:solidFill>
                  <a:srgbClr val="FDBA74"/>
                </a:solidFill>
              </a:rPr>
              <a:t>FDS COURSE PROJECT  ·  PGDBA BATCH 12  ·  IIM CALCUTTA</a:t>
            </a:r>
            <a:endParaRPr lang="en-US" sz="1200" dirty="0"/>
          </a:p>
        </p:txBody>
      </p:sp>
      <p:sp>
        <p:nvSpPr>
          <p:cNvPr id="3" name="Text 1"/>
          <p:cNvSpPr txBox="1"/>
          <p:nvPr/>
        </p:nvSpPr>
        <p:spPr>
          <a:xfrm>
            <a:off x="640080" y="1325880"/>
            <a:ext cx="5486400" cy="1097280"/>
          </a:xfrm>
          <a:prstGeom prst="rect">
            <a:avLst/>
          </a:prstGeom>
          <a:noFill/>
          <a:ln/>
        </p:spPr>
        <p:txBody>
          <a:bodyPr wrap="square" lIns="0" tIns="0" rIns="0" bIns="0" rtlCol="0" anchor="ctr"/>
          <a:lstStyle/>
          <a:p>
            <a:pPr indent="0" marL="0">
              <a:buNone/>
            </a:pPr>
            <a:r>
              <a:rPr lang="en-US" sz="6400" b="1" dirty="0">
                <a:solidFill>
                  <a:srgbClr val="FFFFFF"/>
                </a:solidFill>
                <a:latin typeface="Cambria" pitchFamily="34" charset="0"/>
                <a:ea typeface="Cambria" pitchFamily="34" charset="-122"/>
                <a:cs typeface="Cambria" pitchFamily="34" charset="-120"/>
              </a:rPr>
              <a:t>PlaceIQ</a:t>
            </a:r>
            <a:endParaRPr lang="en-US" sz="6400" dirty="0"/>
          </a:p>
        </p:txBody>
      </p:sp>
      <p:sp>
        <p:nvSpPr>
          <p:cNvPr id="4" name="Text 2"/>
          <p:cNvSpPr txBox="1"/>
          <p:nvPr/>
        </p:nvSpPr>
        <p:spPr>
          <a:xfrm>
            <a:off x="640080" y="2514600"/>
            <a:ext cx="5303520" cy="914400"/>
          </a:xfrm>
          <a:prstGeom prst="rect">
            <a:avLst/>
          </a:prstGeom>
          <a:noFill/>
          <a:ln/>
        </p:spPr>
        <p:txBody>
          <a:bodyPr wrap="square" lIns="0" tIns="0" rIns="0" bIns="0" rtlCol="0" anchor="t"/>
          <a:lstStyle/>
          <a:p>
            <a:pPr indent="0" marL="0">
              <a:buNone/>
            </a:pPr>
            <a:r>
              <a:rPr lang="en-US" sz="2200" dirty="0">
                <a:solidFill>
                  <a:srgbClr val="CBD5E1"/>
                </a:solidFill>
              </a:rPr>
              <a:t>A campus placement &amp; recruitment database that enforces its own rules</a:t>
            </a:r>
            <a:endParaRPr lang="en-US" sz="2200" dirty="0"/>
          </a:p>
        </p:txBody>
      </p:sp>
      <p:sp>
        <p:nvSpPr>
          <p:cNvPr id="5" name="Text 3"/>
          <p:cNvSpPr txBox="1"/>
          <p:nvPr/>
        </p:nvSpPr>
        <p:spPr>
          <a:xfrm>
            <a:off x="640080" y="3657600"/>
            <a:ext cx="5486400" cy="365760"/>
          </a:xfrm>
          <a:prstGeom prst="rect">
            <a:avLst/>
          </a:prstGeom>
          <a:noFill/>
          <a:ln/>
        </p:spPr>
        <p:txBody>
          <a:bodyPr wrap="square" lIns="0" tIns="0" rIns="0" bIns="0" rtlCol="0" anchor="ctr"/>
          <a:lstStyle/>
          <a:p>
            <a:pPr indent="0" marL="0">
              <a:buNone/>
            </a:pPr>
            <a:r>
              <a:rPr lang="en-US" sz="1400" dirty="0">
                <a:solidFill>
                  <a:srgbClr val="94A3B8"/>
                </a:solidFill>
              </a:rPr>
              <a:t>Fundamentals of Database Systems  ·  Prof. Debapriyay Mukhopadhyay</a:t>
            </a:r>
            <a:endParaRPr lang="en-US" sz="1400" dirty="0"/>
          </a:p>
        </p:txBody>
      </p:sp>
      <p:sp>
        <p:nvSpPr>
          <p:cNvPr id="6" name="Shape 4"/>
          <p:cNvSpPr/>
          <p:nvPr/>
        </p:nvSpPr>
        <p:spPr>
          <a:xfrm>
            <a:off x="640080" y="4297680"/>
            <a:ext cx="2560320" cy="457200"/>
          </a:xfrm>
          <a:prstGeom prst="roundRect">
            <a:avLst>
              <a:gd name="adj" fmla="val 50000"/>
            </a:avLst>
          </a:prstGeom>
          <a:solidFill>
            <a:srgbClr val="1F2937"/>
          </a:solidFill>
          <a:ln w="12700">
            <a:solidFill>
              <a:srgbClr val="374151"/>
            </a:solidFill>
            <a:prstDash val="solid"/>
          </a:ln>
        </p:spPr>
      </p:sp>
      <p:sp>
        <p:nvSpPr>
          <p:cNvPr id="7" name="Text 5"/>
          <p:cNvSpPr txBox="1"/>
          <p:nvPr/>
        </p:nvSpPr>
        <p:spPr>
          <a:xfrm>
            <a:off x="640080" y="4297680"/>
            <a:ext cx="2560320" cy="457200"/>
          </a:xfrm>
          <a:prstGeom prst="rect">
            <a:avLst/>
          </a:prstGeom>
          <a:noFill/>
          <a:ln/>
        </p:spPr>
        <p:txBody>
          <a:bodyPr wrap="square" lIns="0" tIns="0" rIns="0" bIns="0" rtlCol="0" anchor="ctr"/>
          <a:lstStyle/>
          <a:p>
            <a:pPr algn="ctr" indent="0" marL="0">
              <a:buNone/>
            </a:pPr>
            <a:r>
              <a:rPr lang="en-US" sz="1400" b="1" dirty="0">
                <a:solidFill>
                  <a:srgbClr val="A5B4FC"/>
                </a:solidFill>
              </a:rPr>
              <a:t>M1  </a:t>
            </a:r>
            <a:pPr algn="ctr" indent="0" marL="0">
              <a:buNone/>
            </a:pPr>
            <a:r>
              <a:rPr lang="en-US" sz="1400" dirty="0">
                <a:solidFill>
                  <a:srgbClr val="FFFFFF"/>
                </a:solidFill>
              </a:rPr>
              <a:t>Ekta Sharma</a:t>
            </a:r>
            <a:endParaRPr lang="en-US" sz="1400" dirty="0"/>
          </a:p>
        </p:txBody>
      </p:sp>
      <p:sp>
        <p:nvSpPr>
          <p:cNvPr id="8" name="Shape 6"/>
          <p:cNvSpPr/>
          <p:nvPr/>
        </p:nvSpPr>
        <p:spPr>
          <a:xfrm>
            <a:off x="3337560" y="4297680"/>
            <a:ext cx="2560320" cy="457200"/>
          </a:xfrm>
          <a:prstGeom prst="roundRect">
            <a:avLst>
              <a:gd name="adj" fmla="val 50000"/>
            </a:avLst>
          </a:prstGeom>
          <a:solidFill>
            <a:srgbClr val="1F2937"/>
          </a:solidFill>
          <a:ln w="12700">
            <a:solidFill>
              <a:srgbClr val="374151"/>
            </a:solidFill>
            <a:prstDash val="solid"/>
          </a:ln>
        </p:spPr>
      </p:sp>
      <p:sp>
        <p:nvSpPr>
          <p:cNvPr id="9" name="Text 7"/>
          <p:cNvSpPr txBox="1"/>
          <p:nvPr/>
        </p:nvSpPr>
        <p:spPr>
          <a:xfrm>
            <a:off x="3337560" y="4297680"/>
            <a:ext cx="2560320" cy="457200"/>
          </a:xfrm>
          <a:prstGeom prst="rect">
            <a:avLst/>
          </a:prstGeom>
          <a:noFill/>
          <a:ln/>
        </p:spPr>
        <p:txBody>
          <a:bodyPr wrap="square" lIns="0" tIns="0" rIns="0" bIns="0" rtlCol="0" anchor="ctr"/>
          <a:lstStyle/>
          <a:p>
            <a:pPr algn="ctr" indent="0" marL="0">
              <a:buNone/>
            </a:pPr>
            <a:r>
              <a:rPr lang="en-US" sz="1400" b="1" dirty="0">
                <a:solidFill>
                  <a:srgbClr val="A5B4FC"/>
                </a:solidFill>
              </a:rPr>
              <a:t>M2  </a:t>
            </a:r>
            <a:pPr algn="ctr" indent="0" marL="0">
              <a:buNone/>
            </a:pPr>
            <a:r>
              <a:rPr lang="en-US" sz="1400" dirty="0">
                <a:solidFill>
                  <a:srgbClr val="FFFFFF"/>
                </a:solidFill>
              </a:rPr>
              <a:t>[Member 2]</a:t>
            </a:r>
            <a:endParaRPr lang="en-US" sz="1400" dirty="0"/>
          </a:p>
        </p:txBody>
      </p:sp>
      <p:sp>
        <p:nvSpPr>
          <p:cNvPr id="10" name="Shape 8"/>
          <p:cNvSpPr/>
          <p:nvPr/>
        </p:nvSpPr>
        <p:spPr>
          <a:xfrm>
            <a:off x="640080" y="4864608"/>
            <a:ext cx="2560320" cy="457200"/>
          </a:xfrm>
          <a:prstGeom prst="roundRect">
            <a:avLst>
              <a:gd name="adj" fmla="val 50000"/>
            </a:avLst>
          </a:prstGeom>
          <a:solidFill>
            <a:srgbClr val="1F2937"/>
          </a:solidFill>
          <a:ln w="12700">
            <a:solidFill>
              <a:srgbClr val="374151"/>
            </a:solidFill>
            <a:prstDash val="solid"/>
          </a:ln>
        </p:spPr>
      </p:sp>
      <p:sp>
        <p:nvSpPr>
          <p:cNvPr id="11" name="Text 9"/>
          <p:cNvSpPr txBox="1"/>
          <p:nvPr/>
        </p:nvSpPr>
        <p:spPr>
          <a:xfrm>
            <a:off x="640080" y="4864608"/>
            <a:ext cx="2560320" cy="457200"/>
          </a:xfrm>
          <a:prstGeom prst="rect">
            <a:avLst/>
          </a:prstGeom>
          <a:noFill/>
          <a:ln/>
        </p:spPr>
        <p:txBody>
          <a:bodyPr wrap="square" lIns="0" tIns="0" rIns="0" bIns="0" rtlCol="0" anchor="ctr"/>
          <a:lstStyle/>
          <a:p>
            <a:pPr algn="ctr" indent="0" marL="0">
              <a:buNone/>
            </a:pPr>
            <a:r>
              <a:rPr lang="en-US" sz="1400" b="1" dirty="0">
                <a:solidFill>
                  <a:srgbClr val="A5B4FC"/>
                </a:solidFill>
              </a:rPr>
              <a:t>M3  </a:t>
            </a:r>
            <a:pPr algn="ctr" indent="0" marL="0">
              <a:buNone/>
            </a:pPr>
            <a:r>
              <a:rPr lang="en-US" sz="1400" dirty="0">
                <a:solidFill>
                  <a:srgbClr val="FFFFFF"/>
                </a:solidFill>
              </a:rPr>
              <a:t>[Member 3]</a:t>
            </a:r>
            <a:endParaRPr lang="en-US" sz="1400" dirty="0"/>
          </a:p>
        </p:txBody>
      </p:sp>
      <p:sp>
        <p:nvSpPr>
          <p:cNvPr id="12" name="Shape 10"/>
          <p:cNvSpPr/>
          <p:nvPr/>
        </p:nvSpPr>
        <p:spPr>
          <a:xfrm>
            <a:off x="3337560" y="4864608"/>
            <a:ext cx="2560320" cy="457200"/>
          </a:xfrm>
          <a:prstGeom prst="roundRect">
            <a:avLst>
              <a:gd name="adj" fmla="val 50000"/>
            </a:avLst>
          </a:prstGeom>
          <a:solidFill>
            <a:srgbClr val="1F2937"/>
          </a:solidFill>
          <a:ln w="12700">
            <a:solidFill>
              <a:srgbClr val="374151"/>
            </a:solidFill>
            <a:prstDash val="solid"/>
          </a:ln>
        </p:spPr>
      </p:sp>
      <p:sp>
        <p:nvSpPr>
          <p:cNvPr id="13" name="Text 11"/>
          <p:cNvSpPr txBox="1"/>
          <p:nvPr/>
        </p:nvSpPr>
        <p:spPr>
          <a:xfrm>
            <a:off x="3337560" y="4864608"/>
            <a:ext cx="2560320" cy="457200"/>
          </a:xfrm>
          <a:prstGeom prst="rect">
            <a:avLst/>
          </a:prstGeom>
          <a:noFill/>
          <a:ln/>
        </p:spPr>
        <p:txBody>
          <a:bodyPr wrap="square" lIns="0" tIns="0" rIns="0" bIns="0" rtlCol="0" anchor="ctr"/>
          <a:lstStyle/>
          <a:p>
            <a:pPr algn="ctr" indent="0" marL="0">
              <a:buNone/>
            </a:pPr>
            <a:r>
              <a:rPr lang="en-US" sz="1400" b="1" dirty="0">
                <a:solidFill>
                  <a:srgbClr val="A5B4FC"/>
                </a:solidFill>
              </a:rPr>
              <a:t>M4  </a:t>
            </a:r>
            <a:pPr algn="ctr" indent="0" marL="0">
              <a:buNone/>
            </a:pPr>
            <a:r>
              <a:rPr lang="en-US" sz="1400" dirty="0">
                <a:solidFill>
                  <a:srgbClr val="FFFFFF"/>
                </a:solidFill>
              </a:rPr>
              <a:t>[Member 4]</a:t>
            </a:r>
            <a:endParaRPr lang="en-US" sz="1400" dirty="0"/>
          </a:p>
        </p:txBody>
      </p:sp>
      <p:sp>
        <p:nvSpPr>
          <p:cNvPr id="14" name="Text 12"/>
          <p:cNvSpPr txBox="1"/>
          <p:nvPr/>
        </p:nvSpPr>
        <p:spPr>
          <a:xfrm>
            <a:off x="640080" y="6035040"/>
            <a:ext cx="2743200" cy="320040"/>
          </a:xfrm>
          <a:prstGeom prst="rect">
            <a:avLst/>
          </a:prstGeom>
          <a:noFill/>
          <a:ln/>
        </p:spPr>
        <p:txBody>
          <a:bodyPr wrap="square" lIns="0" tIns="0" rIns="0" bIns="0" rtlCol="0" anchor="ctr"/>
          <a:lstStyle/>
          <a:p>
            <a:pPr indent="0" marL="0">
              <a:buNone/>
            </a:pPr>
            <a:r>
              <a:rPr lang="en-US" sz="1200" dirty="0">
                <a:solidFill>
                  <a:srgbClr val="94A3B8"/>
                </a:solidFill>
              </a:rPr>
              <a:t>November 2026</a:t>
            </a:r>
            <a:endParaRPr lang="en-US" sz="1200" dirty="0"/>
          </a:p>
        </p:txBody>
      </p:sp>
      <p:pic>
        <p:nvPicPr>
          <p:cNvPr id="15" name="Image 0" descr="C:\Users\bhavy\Downloads\DBMS-20261028T151751Z-1-001\DBMS\Project\docs\screenshots\dashboard.png">    </p:cNvPr>
          <p:cNvPicPr>
            <a:picLocks noChangeAspect="1"/>
          </p:cNvPicPr>
          <p:nvPr/>
        </p:nvPicPr>
        <p:blipFill>
          <a:blip r:embed="rId1"/>
          <a:stretch>
            <a:fillRect/>
          </a:stretch>
        </p:blipFill>
        <p:spPr>
          <a:xfrm>
            <a:off x="6400800" y="914400"/>
            <a:ext cx="5257800" cy="4306824"/>
          </a:xfrm>
          <a:prstGeom prst="rect">
            <a:avLst/>
          </a:prstGeom>
          <a:effectLst>
            <a:outerShdw sx="100000" sy="100000" kx="0" ky="0" algn="bl" rotWithShape="0" blurRad="152400" dist="50800" dir="5400000">
              <a:srgbClr val="000000">
                <a:alpha val="45000"/>
              </a:srgbClr>
            </a:outerShdw>
          </a:effectLst>
        </p:spPr>
      </p:pic>
      <p:sp>
        <p:nvSpPr>
          <p:cNvPr id="16" name="Text 13"/>
          <p:cNvSpPr txBox="1"/>
          <p:nvPr/>
        </p:nvSpPr>
        <p:spPr>
          <a:xfrm>
            <a:off x="6400800" y="5349240"/>
            <a:ext cx="5257800" cy="365760"/>
          </a:xfrm>
          <a:prstGeom prst="rect">
            <a:avLst/>
          </a:prstGeom>
          <a:noFill/>
          <a:ln/>
        </p:spPr>
        <p:txBody>
          <a:bodyPr wrap="square" lIns="0" tIns="0" rIns="0" bIns="0" rtlCol="0" anchor="ctr"/>
          <a:lstStyle/>
          <a:p>
            <a:pPr indent="0" marL="0">
              <a:buNone/>
            </a:pPr>
            <a:r>
              <a:rPr lang="en-US" sz="1200" i="1" dirty="0">
                <a:solidFill>
                  <a:srgbClr val="94A3B8"/>
                </a:solidFill>
              </a:rPr>
              <a:t>Live web UI over PostgreSQL 18: every number on screen is computed by SQL</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144000" cy="731520"/>
          </a:xfrm>
          <a:prstGeom prst="rect">
            <a:avLst/>
          </a:prstGeom>
          <a:noFill/>
          <a:ln/>
        </p:spPr>
        <p:txBody>
          <a:bodyPr wrap="square" lIns="0" tIns="0" rIns="0" bIns="0" rtlCol="0" anchor="ctr"/>
          <a:lstStyle/>
          <a:p>
            <a:pPr algn="l" indent="0" marL="0">
              <a:buNone/>
            </a:pPr>
            <a:r>
              <a:rPr lang="en-US" sz="3000" b="1" dirty="0">
                <a:solidFill>
                  <a:srgbClr val="111827"/>
                </a:solidFill>
                <a:latin typeface="Cambria" pitchFamily="34" charset="0"/>
                <a:ea typeface="Cambria" pitchFamily="34" charset="-122"/>
                <a:cs typeface="Cambria" pitchFamily="34" charset="-120"/>
              </a:rPr>
              <a:t>Four parts, four presenters</a:t>
            </a:r>
            <a:endParaRPr lang="en-US" sz="3000" dirty="0"/>
          </a:p>
        </p:txBody>
      </p:sp>
      <p:sp>
        <p:nvSpPr>
          <p:cNvPr id="3" name="speaker-chip"/>
          <p:cNvSpPr/>
          <p:nvPr/>
        </p:nvSpPr>
        <p:spPr>
          <a:xfrm>
            <a:off x="9921240" y="457200"/>
            <a:ext cx="1737360" cy="402336"/>
          </a:xfrm>
          <a:prstGeom prst="roundRect">
            <a:avLst>
              <a:gd name="adj" fmla="val 50000"/>
            </a:avLst>
          </a:prstGeom>
          <a:solidFill>
            <a:srgbClr val="EEF0FF"/>
          </a:solidFill>
          <a:ln w="12700">
            <a:solidFill>
              <a:srgbClr val="EEF0FF"/>
            </a:solidFill>
            <a:prstDash val="solid"/>
          </a:ln>
        </p:spPr>
      </p:sp>
      <p:sp>
        <p:nvSpPr>
          <p:cNvPr id="4" name="Text 2"/>
          <p:cNvSpPr txBox="1"/>
          <p:nvPr/>
        </p:nvSpPr>
        <p:spPr>
          <a:xfrm>
            <a:off x="9921240" y="457200"/>
            <a:ext cx="1737360" cy="402336"/>
          </a:xfrm>
          <a:prstGeom prst="rect">
            <a:avLst/>
          </a:prstGeom>
          <a:noFill/>
          <a:ln/>
        </p:spPr>
        <p:txBody>
          <a:bodyPr wrap="square" lIns="0" tIns="0" rIns="0" bIns="0" rtlCol="0" anchor="ctr"/>
          <a:lstStyle/>
          <a:p>
            <a:pPr algn="ctr" indent="0" marL="0">
              <a:buNone/>
            </a:pPr>
            <a:r>
              <a:rPr lang="en-US" sz="1200" b="1" dirty="0">
                <a:solidFill>
                  <a:srgbClr val="4F46E5"/>
                </a:solidFill>
              </a:rPr>
              <a:t>M1  </a:t>
            </a:r>
            <a:pPr algn="ctr" indent="0" marL="0">
              <a:buNone/>
            </a:pPr>
            <a:r>
              <a:rPr lang="en-US" sz="1200" dirty="0">
                <a:solidFill>
                  <a:srgbClr val="312E81"/>
                </a:solidFill>
              </a:rPr>
              <a:t>Ekta Sharma</a:t>
            </a:r>
            <a:endParaRPr lang="en-US" sz="1200" dirty="0"/>
          </a:p>
        </p:txBody>
      </p:sp>
      <p:sp>
        <p:nvSpPr>
          <p:cNvPr id="5" name="Shape 3"/>
          <p:cNvSpPr/>
          <p:nvPr/>
        </p:nvSpPr>
        <p:spPr>
          <a:xfrm>
            <a:off x="548640" y="1417320"/>
            <a:ext cx="2633472" cy="3977640"/>
          </a:xfrm>
          <a:prstGeom prst="roundRect">
            <a:avLst>
              <a:gd name="adj" fmla="val 3472"/>
            </a:avLst>
          </a:prstGeom>
          <a:solidFill>
            <a:srgbClr val="F6F7FB"/>
          </a:solidFill>
          <a:ln w="12700">
            <a:solidFill>
              <a:srgbClr val="E5E7EB"/>
            </a:solidFill>
            <a:prstDash val="solid"/>
          </a:ln>
        </p:spPr>
      </p:sp>
      <p:sp>
        <p:nvSpPr>
          <p:cNvPr id="6" name="Shape 4"/>
          <p:cNvSpPr/>
          <p:nvPr/>
        </p:nvSpPr>
        <p:spPr>
          <a:xfrm>
            <a:off x="777240" y="1645920"/>
            <a:ext cx="566928" cy="566928"/>
          </a:xfrm>
          <a:prstGeom prst="ellipse">
            <a:avLst/>
          </a:prstGeom>
          <a:solidFill>
            <a:srgbClr val="4F46E5"/>
          </a:solidFill>
          <a:ln w="12700">
            <a:solidFill>
              <a:srgbClr val="4F46E5"/>
            </a:solidFill>
            <a:prstDash val="solid"/>
          </a:ln>
        </p:spPr>
      </p:sp>
      <p:sp>
        <p:nvSpPr>
          <p:cNvPr id="7" name="Text 5"/>
          <p:cNvSpPr txBox="1"/>
          <p:nvPr/>
        </p:nvSpPr>
        <p:spPr>
          <a:xfrm>
            <a:off x="777240" y="1645920"/>
            <a:ext cx="566928" cy="566928"/>
          </a:xfrm>
          <a:prstGeom prst="rect">
            <a:avLst/>
          </a:prstGeom>
          <a:noFill/>
          <a:ln/>
        </p:spPr>
        <p:txBody>
          <a:bodyPr wrap="square" lIns="0" tIns="0" rIns="0" bIns="0" rtlCol="0" anchor="ctr"/>
          <a:lstStyle/>
          <a:p>
            <a:pPr algn="ctr" indent="0" marL="0">
              <a:buNone/>
            </a:pPr>
            <a:r>
              <a:rPr lang="en-US" sz="1500" b="1" dirty="0">
                <a:solidFill>
                  <a:srgbClr val="FFFFFF"/>
                </a:solidFill>
              </a:rPr>
              <a:t>M1</a:t>
            </a:r>
            <a:endParaRPr lang="en-US" sz="1500" dirty="0"/>
          </a:p>
        </p:txBody>
      </p:sp>
      <p:sp>
        <p:nvSpPr>
          <p:cNvPr id="8" name="Text 6"/>
          <p:cNvSpPr txBox="1"/>
          <p:nvPr/>
        </p:nvSpPr>
        <p:spPr>
          <a:xfrm>
            <a:off x="777240" y="2331720"/>
            <a:ext cx="2194560" cy="365760"/>
          </a:xfrm>
          <a:prstGeom prst="rect">
            <a:avLst/>
          </a:prstGeom>
          <a:noFill/>
          <a:ln/>
        </p:spPr>
        <p:txBody>
          <a:bodyPr wrap="square" lIns="0" tIns="0" rIns="0" bIns="0" rtlCol="0" anchor="ctr"/>
          <a:lstStyle/>
          <a:p>
            <a:pPr indent="0" marL="0">
              <a:buNone/>
            </a:pPr>
            <a:r>
              <a:rPr lang="en-US" sz="1700" b="1" dirty="0">
                <a:solidFill>
                  <a:srgbClr val="1F2937"/>
                </a:solidFill>
              </a:rPr>
              <a:t>Ekta Sharma</a:t>
            </a:r>
            <a:endParaRPr lang="en-US" sz="1700" dirty="0"/>
          </a:p>
        </p:txBody>
      </p:sp>
      <p:sp>
        <p:nvSpPr>
          <p:cNvPr id="9" name="Text 7"/>
          <p:cNvSpPr txBox="1"/>
          <p:nvPr/>
        </p:nvSpPr>
        <p:spPr>
          <a:xfrm>
            <a:off x="777240" y="2697480"/>
            <a:ext cx="2240280" cy="548640"/>
          </a:xfrm>
          <a:prstGeom prst="rect">
            <a:avLst/>
          </a:prstGeom>
          <a:noFill/>
          <a:ln/>
        </p:spPr>
        <p:txBody>
          <a:bodyPr wrap="square" lIns="0" tIns="0" rIns="0" bIns="0" rtlCol="0" anchor="t"/>
          <a:lstStyle/>
          <a:p>
            <a:pPr indent="0" marL="0">
              <a:buNone/>
            </a:pPr>
            <a:r>
              <a:rPr lang="en-US" sz="1400" b="1" dirty="0">
                <a:solidFill>
                  <a:srgbClr val="4F46E5"/>
                </a:solidFill>
              </a:rPr>
              <a:t>Problem &amp; EER</a:t>
            </a:r>
            <a:endParaRPr lang="en-US" sz="1400" dirty="0"/>
          </a:p>
        </p:txBody>
      </p:sp>
      <p:sp>
        <p:nvSpPr>
          <p:cNvPr id="10" name="Text 8"/>
          <p:cNvSpPr txBox="1"/>
          <p:nvPr/>
        </p:nvSpPr>
        <p:spPr>
          <a:xfrm>
            <a:off x="777240" y="3246120"/>
            <a:ext cx="2194560" cy="320040"/>
          </a:xfrm>
          <a:prstGeom prst="rect">
            <a:avLst/>
          </a:prstGeom>
          <a:noFill/>
          <a:ln/>
        </p:spPr>
        <p:txBody>
          <a:bodyPr wrap="square" lIns="0" tIns="0" rIns="0" bIns="0" rtlCol="0" anchor="ctr"/>
          <a:lstStyle/>
          <a:p>
            <a:pPr indent="0" marL="0">
              <a:buNone/>
            </a:pPr>
            <a:r>
              <a:rPr lang="en-US" sz="1300" dirty="0">
                <a:solidFill>
                  <a:srgbClr val="6B7280"/>
                </a:solidFill>
              </a:rPr>
              <a:t>0:00 – 3:45</a:t>
            </a:r>
            <a:endParaRPr lang="en-US" sz="1300" dirty="0"/>
          </a:p>
        </p:txBody>
      </p:sp>
      <p:sp>
        <p:nvSpPr>
          <p:cNvPr id="11" name="Text 9"/>
          <p:cNvSpPr txBox="1"/>
          <p:nvPr/>
        </p:nvSpPr>
        <p:spPr>
          <a:xfrm>
            <a:off x="731520" y="3657600"/>
            <a:ext cx="2286000" cy="22860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rgbClr val="374151"/>
                </a:solidFill>
              </a:rPr>
              <a:t>Problem &amp; anomalies</a:t>
            </a:r>
            <a:endParaRPr lang="en-US" sz="1350" dirty="0"/>
          </a:p>
          <a:p>
            <a:pPr marL="342900" indent="-342900">
              <a:spcAft>
                <a:spcPts val="600"/>
              </a:spcAft>
              <a:buSzPct val="100000"/>
              <a:buChar char="•"/>
            </a:pPr>
            <a:r>
              <a:rPr lang="en-US" sz="1350" dirty="0">
                <a:solidFill>
                  <a:srgbClr val="374151"/>
                </a:solidFill>
              </a:rPr>
              <a:t>Business rules</a:t>
            </a:r>
            <a:endParaRPr lang="en-US" sz="1350" dirty="0"/>
          </a:p>
          <a:p>
            <a:pPr marL="342900" indent="-342900">
              <a:spcAft>
                <a:spcPts val="600"/>
              </a:spcAft>
              <a:buSzPct val="100000"/>
              <a:buChar char="•"/>
            </a:pPr>
            <a:r>
              <a:rPr lang="en-US" sz="1350" dirty="0">
                <a:solidFill>
                  <a:srgbClr val="374151"/>
                </a:solidFill>
              </a:rPr>
              <a:t>EER model: specialization, weak entity, aggregation, union type</a:t>
            </a:r>
            <a:endParaRPr lang="en-US" sz="1350" dirty="0"/>
          </a:p>
        </p:txBody>
      </p:sp>
      <p:sp>
        <p:nvSpPr>
          <p:cNvPr id="12" name="Shape 10"/>
          <p:cNvSpPr/>
          <p:nvPr/>
        </p:nvSpPr>
        <p:spPr>
          <a:xfrm>
            <a:off x="3364992" y="1417320"/>
            <a:ext cx="2633472" cy="3977640"/>
          </a:xfrm>
          <a:prstGeom prst="roundRect">
            <a:avLst>
              <a:gd name="adj" fmla="val 3472"/>
            </a:avLst>
          </a:prstGeom>
          <a:solidFill>
            <a:srgbClr val="FFFFFF"/>
          </a:solidFill>
          <a:ln w="12700">
            <a:solidFill>
              <a:srgbClr val="E5E7EB"/>
            </a:solidFill>
            <a:prstDash val="solid"/>
          </a:ln>
        </p:spPr>
      </p:sp>
      <p:sp>
        <p:nvSpPr>
          <p:cNvPr id="13" name="Shape 11"/>
          <p:cNvSpPr/>
          <p:nvPr/>
        </p:nvSpPr>
        <p:spPr>
          <a:xfrm>
            <a:off x="3593592" y="1645920"/>
            <a:ext cx="566928" cy="566928"/>
          </a:xfrm>
          <a:prstGeom prst="ellipse">
            <a:avLst/>
          </a:prstGeom>
          <a:solidFill>
            <a:srgbClr val="4F46E5"/>
          </a:solidFill>
          <a:ln w="12700">
            <a:solidFill>
              <a:srgbClr val="4F46E5"/>
            </a:solidFill>
            <a:prstDash val="solid"/>
          </a:ln>
        </p:spPr>
      </p:sp>
      <p:sp>
        <p:nvSpPr>
          <p:cNvPr id="14" name="Text 12"/>
          <p:cNvSpPr txBox="1"/>
          <p:nvPr/>
        </p:nvSpPr>
        <p:spPr>
          <a:xfrm>
            <a:off x="3593592" y="1645920"/>
            <a:ext cx="566928" cy="566928"/>
          </a:xfrm>
          <a:prstGeom prst="rect">
            <a:avLst/>
          </a:prstGeom>
          <a:noFill/>
          <a:ln/>
        </p:spPr>
        <p:txBody>
          <a:bodyPr wrap="square" lIns="0" tIns="0" rIns="0" bIns="0" rtlCol="0" anchor="ctr"/>
          <a:lstStyle/>
          <a:p>
            <a:pPr algn="ctr" indent="0" marL="0">
              <a:buNone/>
            </a:pPr>
            <a:r>
              <a:rPr lang="en-US" sz="1500" b="1" dirty="0">
                <a:solidFill>
                  <a:srgbClr val="FFFFFF"/>
                </a:solidFill>
              </a:rPr>
              <a:t>M2</a:t>
            </a:r>
            <a:endParaRPr lang="en-US" sz="1500" dirty="0"/>
          </a:p>
        </p:txBody>
      </p:sp>
      <p:sp>
        <p:nvSpPr>
          <p:cNvPr id="15" name="Text 13"/>
          <p:cNvSpPr txBox="1"/>
          <p:nvPr/>
        </p:nvSpPr>
        <p:spPr>
          <a:xfrm>
            <a:off x="3593592" y="2331720"/>
            <a:ext cx="2194560" cy="365760"/>
          </a:xfrm>
          <a:prstGeom prst="rect">
            <a:avLst/>
          </a:prstGeom>
          <a:noFill/>
          <a:ln/>
        </p:spPr>
        <p:txBody>
          <a:bodyPr wrap="square" lIns="0" tIns="0" rIns="0" bIns="0" rtlCol="0" anchor="ctr"/>
          <a:lstStyle/>
          <a:p>
            <a:pPr indent="0" marL="0">
              <a:buNone/>
            </a:pPr>
            <a:r>
              <a:rPr lang="en-US" sz="1700" b="1" dirty="0">
                <a:solidFill>
                  <a:srgbClr val="1F2937"/>
                </a:solidFill>
              </a:rPr>
              <a:t>[Member 2]</a:t>
            </a:r>
            <a:endParaRPr lang="en-US" sz="1700" dirty="0"/>
          </a:p>
        </p:txBody>
      </p:sp>
      <p:sp>
        <p:nvSpPr>
          <p:cNvPr id="16" name="Text 14"/>
          <p:cNvSpPr txBox="1"/>
          <p:nvPr/>
        </p:nvSpPr>
        <p:spPr>
          <a:xfrm>
            <a:off x="3593592" y="2697480"/>
            <a:ext cx="2240280" cy="548640"/>
          </a:xfrm>
          <a:prstGeom prst="rect">
            <a:avLst/>
          </a:prstGeom>
          <a:noFill/>
          <a:ln/>
        </p:spPr>
        <p:txBody>
          <a:bodyPr wrap="square" lIns="0" tIns="0" rIns="0" bIns="0" rtlCol="0" anchor="t"/>
          <a:lstStyle/>
          <a:p>
            <a:pPr indent="0" marL="0">
              <a:buNone/>
            </a:pPr>
            <a:r>
              <a:rPr lang="en-US" sz="1400" b="1" dirty="0">
                <a:solidFill>
                  <a:srgbClr val="4F46E5"/>
                </a:solidFill>
              </a:rPr>
              <a:t>Schema &amp; normalization</a:t>
            </a:r>
            <a:endParaRPr lang="en-US" sz="1400" dirty="0"/>
          </a:p>
        </p:txBody>
      </p:sp>
      <p:sp>
        <p:nvSpPr>
          <p:cNvPr id="17" name="Text 15"/>
          <p:cNvSpPr txBox="1"/>
          <p:nvPr/>
        </p:nvSpPr>
        <p:spPr>
          <a:xfrm>
            <a:off x="3593592" y="3246120"/>
            <a:ext cx="2194560" cy="320040"/>
          </a:xfrm>
          <a:prstGeom prst="rect">
            <a:avLst/>
          </a:prstGeom>
          <a:noFill/>
          <a:ln/>
        </p:spPr>
        <p:txBody>
          <a:bodyPr wrap="square" lIns="0" tIns="0" rIns="0" bIns="0" rtlCol="0" anchor="ctr"/>
          <a:lstStyle/>
          <a:p>
            <a:pPr indent="0" marL="0">
              <a:buNone/>
            </a:pPr>
            <a:r>
              <a:rPr lang="en-US" sz="1300" dirty="0">
                <a:solidFill>
                  <a:srgbClr val="6B7280"/>
                </a:solidFill>
              </a:rPr>
              <a:t>3:45 – 7:30</a:t>
            </a:r>
            <a:endParaRPr lang="en-US" sz="1300" dirty="0"/>
          </a:p>
        </p:txBody>
      </p:sp>
      <p:sp>
        <p:nvSpPr>
          <p:cNvPr id="18" name="Text 16"/>
          <p:cNvSpPr txBox="1"/>
          <p:nvPr/>
        </p:nvSpPr>
        <p:spPr>
          <a:xfrm>
            <a:off x="3547872" y="3657600"/>
            <a:ext cx="2286000" cy="22860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rgbClr val="374151"/>
                </a:solidFill>
              </a:rPr>
              <a:t>EER → relational mapping</a:t>
            </a:r>
            <a:endParaRPr lang="en-US" sz="1350" dirty="0"/>
          </a:p>
          <a:p>
            <a:pPr marL="342900" indent="-342900">
              <a:spcAft>
                <a:spcPts val="600"/>
              </a:spcAft>
              <a:buSzPct val="100000"/>
              <a:buChar char="•"/>
            </a:pPr>
            <a:r>
              <a:rPr lang="en-US" sz="1350" dirty="0">
                <a:solidFill>
                  <a:srgbClr val="374151"/>
                </a:solidFill>
              </a:rPr>
              <a:t>Keys: super, candidate, alternate, foreign</a:t>
            </a:r>
            <a:endParaRPr lang="en-US" sz="1350" dirty="0"/>
          </a:p>
          <a:p>
            <a:pPr marL="342900" indent="-342900">
              <a:spcAft>
                <a:spcPts val="600"/>
              </a:spcAft>
              <a:buSzPct val="100000"/>
              <a:buChar char="•"/>
            </a:pPr>
            <a:r>
              <a:rPr lang="en-US" sz="1350" dirty="0">
                <a:solidFill>
                  <a:srgbClr val="374151"/>
                </a:solidFill>
              </a:rPr>
              <a:t>FDs, 1NF → BCNF, lossless &amp; dependency-preserving</a:t>
            </a:r>
            <a:endParaRPr lang="en-US" sz="1350" dirty="0"/>
          </a:p>
        </p:txBody>
      </p:sp>
      <p:sp>
        <p:nvSpPr>
          <p:cNvPr id="19" name="Shape 17"/>
          <p:cNvSpPr/>
          <p:nvPr/>
        </p:nvSpPr>
        <p:spPr>
          <a:xfrm>
            <a:off x="6181344" y="1417320"/>
            <a:ext cx="2633472" cy="3977640"/>
          </a:xfrm>
          <a:prstGeom prst="roundRect">
            <a:avLst>
              <a:gd name="adj" fmla="val 3472"/>
            </a:avLst>
          </a:prstGeom>
          <a:solidFill>
            <a:srgbClr val="F6F7FB"/>
          </a:solidFill>
          <a:ln w="12700">
            <a:solidFill>
              <a:srgbClr val="E5E7EB"/>
            </a:solidFill>
            <a:prstDash val="solid"/>
          </a:ln>
        </p:spPr>
      </p:sp>
      <p:sp>
        <p:nvSpPr>
          <p:cNvPr id="20" name="Shape 18"/>
          <p:cNvSpPr/>
          <p:nvPr/>
        </p:nvSpPr>
        <p:spPr>
          <a:xfrm>
            <a:off x="6409944" y="1645920"/>
            <a:ext cx="566928" cy="566928"/>
          </a:xfrm>
          <a:prstGeom prst="ellipse">
            <a:avLst/>
          </a:prstGeom>
          <a:solidFill>
            <a:srgbClr val="4F46E5"/>
          </a:solidFill>
          <a:ln w="12700">
            <a:solidFill>
              <a:srgbClr val="4F46E5"/>
            </a:solidFill>
            <a:prstDash val="solid"/>
          </a:ln>
        </p:spPr>
      </p:sp>
      <p:sp>
        <p:nvSpPr>
          <p:cNvPr id="21" name="Text 19"/>
          <p:cNvSpPr txBox="1"/>
          <p:nvPr/>
        </p:nvSpPr>
        <p:spPr>
          <a:xfrm>
            <a:off x="6409944" y="1645920"/>
            <a:ext cx="566928" cy="566928"/>
          </a:xfrm>
          <a:prstGeom prst="rect">
            <a:avLst/>
          </a:prstGeom>
          <a:noFill/>
          <a:ln/>
        </p:spPr>
        <p:txBody>
          <a:bodyPr wrap="square" lIns="0" tIns="0" rIns="0" bIns="0" rtlCol="0" anchor="ctr"/>
          <a:lstStyle/>
          <a:p>
            <a:pPr algn="ctr" indent="0" marL="0">
              <a:buNone/>
            </a:pPr>
            <a:r>
              <a:rPr lang="en-US" sz="1500" b="1" dirty="0">
                <a:solidFill>
                  <a:srgbClr val="FFFFFF"/>
                </a:solidFill>
              </a:rPr>
              <a:t>M3</a:t>
            </a:r>
            <a:endParaRPr lang="en-US" sz="1500" dirty="0"/>
          </a:p>
        </p:txBody>
      </p:sp>
      <p:sp>
        <p:nvSpPr>
          <p:cNvPr id="22" name="Text 20"/>
          <p:cNvSpPr txBox="1"/>
          <p:nvPr/>
        </p:nvSpPr>
        <p:spPr>
          <a:xfrm>
            <a:off x="6409944" y="2331720"/>
            <a:ext cx="2194560" cy="365760"/>
          </a:xfrm>
          <a:prstGeom prst="rect">
            <a:avLst/>
          </a:prstGeom>
          <a:noFill/>
          <a:ln/>
        </p:spPr>
        <p:txBody>
          <a:bodyPr wrap="square" lIns="0" tIns="0" rIns="0" bIns="0" rtlCol="0" anchor="ctr"/>
          <a:lstStyle/>
          <a:p>
            <a:pPr indent="0" marL="0">
              <a:buNone/>
            </a:pPr>
            <a:r>
              <a:rPr lang="en-US" sz="1700" b="1" dirty="0">
                <a:solidFill>
                  <a:srgbClr val="1F2937"/>
                </a:solidFill>
              </a:rPr>
              <a:t>[Member 3]</a:t>
            </a:r>
            <a:endParaRPr lang="en-US" sz="1700" dirty="0"/>
          </a:p>
        </p:txBody>
      </p:sp>
      <p:sp>
        <p:nvSpPr>
          <p:cNvPr id="23" name="Text 21"/>
          <p:cNvSpPr txBox="1"/>
          <p:nvPr/>
        </p:nvSpPr>
        <p:spPr>
          <a:xfrm>
            <a:off x="6409944" y="2697480"/>
            <a:ext cx="2240280" cy="548640"/>
          </a:xfrm>
          <a:prstGeom prst="rect">
            <a:avLst/>
          </a:prstGeom>
          <a:noFill/>
          <a:ln/>
        </p:spPr>
        <p:txBody>
          <a:bodyPr wrap="square" lIns="0" tIns="0" rIns="0" bIns="0" rtlCol="0" anchor="t"/>
          <a:lstStyle/>
          <a:p>
            <a:pPr indent="0" marL="0">
              <a:buNone/>
            </a:pPr>
            <a:r>
              <a:rPr lang="en-US" sz="1400" b="1" dirty="0">
                <a:solidFill>
                  <a:srgbClr val="4F46E5"/>
                </a:solidFill>
              </a:rPr>
              <a:t>DDL, data &amp; queries</a:t>
            </a:r>
            <a:endParaRPr lang="en-US" sz="1400" dirty="0"/>
          </a:p>
        </p:txBody>
      </p:sp>
      <p:sp>
        <p:nvSpPr>
          <p:cNvPr id="24" name="Text 22"/>
          <p:cNvSpPr txBox="1"/>
          <p:nvPr/>
        </p:nvSpPr>
        <p:spPr>
          <a:xfrm>
            <a:off x="6409944" y="3246120"/>
            <a:ext cx="2194560" cy="320040"/>
          </a:xfrm>
          <a:prstGeom prst="rect">
            <a:avLst/>
          </a:prstGeom>
          <a:noFill/>
          <a:ln/>
        </p:spPr>
        <p:txBody>
          <a:bodyPr wrap="square" lIns="0" tIns="0" rIns="0" bIns="0" rtlCol="0" anchor="ctr"/>
          <a:lstStyle/>
          <a:p>
            <a:pPr indent="0" marL="0">
              <a:buNone/>
            </a:pPr>
            <a:r>
              <a:rPr lang="en-US" sz="1300" dirty="0">
                <a:solidFill>
                  <a:srgbClr val="6B7280"/>
                </a:solidFill>
              </a:rPr>
              <a:t>7:30 – 11:15</a:t>
            </a:r>
            <a:endParaRPr lang="en-US" sz="1300" dirty="0"/>
          </a:p>
        </p:txBody>
      </p:sp>
      <p:sp>
        <p:nvSpPr>
          <p:cNvPr id="25" name="Text 23"/>
          <p:cNvSpPr txBox="1"/>
          <p:nvPr/>
        </p:nvSpPr>
        <p:spPr>
          <a:xfrm>
            <a:off x="6364224" y="3657600"/>
            <a:ext cx="2286000" cy="22860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rgbClr val="374151"/>
                </a:solidFill>
              </a:rPr>
              <a:t>DDL: constraints as rules</a:t>
            </a:r>
            <a:endParaRPr lang="en-US" sz="1350" dirty="0"/>
          </a:p>
          <a:p>
            <a:pPr marL="342900" indent="-342900">
              <a:spcAft>
                <a:spcPts val="600"/>
              </a:spcAft>
              <a:buSzPct val="100000"/>
              <a:buChar char="•"/>
            </a:pPr>
            <a:r>
              <a:rPr lang="en-US" sz="1350" dirty="0">
                <a:solidFill>
                  <a:srgbClr val="374151"/>
                </a:solidFill>
              </a:rPr>
              <a:t>Seeded, reproducible data</a:t>
            </a:r>
            <a:endParaRPr lang="en-US" sz="1350" dirty="0"/>
          </a:p>
          <a:p>
            <a:pPr marL="342900" indent="-342900">
              <a:spcAft>
                <a:spcPts val="600"/>
              </a:spcAft>
              <a:buSzPct val="100000"/>
              <a:buChar char="•"/>
            </a:pPr>
            <a:r>
              <a:rPr lang="en-US" sz="1350" dirty="0">
                <a:solidFill>
                  <a:srgbClr val="374151"/>
                </a:solidFill>
              </a:rPr>
              <a:t>Five advanced queries: division, windows, HAVING</a:t>
            </a:r>
            <a:endParaRPr lang="en-US" sz="1350" dirty="0"/>
          </a:p>
        </p:txBody>
      </p:sp>
      <p:sp>
        <p:nvSpPr>
          <p:cNvPr id="26" name="Shape 24"/>
          <p:cNvSpPr/>
          <p:nvPr/>
        </p:nvSpPr>
        <p:spPr>
          <a:xfrm>
            <a:off x="8997696" y="1417320"/>
            <a:ext cx="2633472" cy="3977640"/>
          </a:xfrm>
          <a:prstGeom prst="roundRect">
            <a:avLst>
              <a:gd name="adj" fmla="val 3472"/>
            </a:avLst>
          </a:prstGeom>
          <a:solidFill>
            <a:srgbClr val="FFFFFF"/>
          </a:solidFill>
          <a:ln w="12700">
            <a:solidFill>
              <a:srgbClr val="E5E7EB"/>
            </a:solidFill>
            <a:prstDash val="solid"/>
          </a:ln>
        </p:spPr>
      </p:sp>
      <p:sp>
        <p:nvSpPr>
          <p:cNvPr id="27" name="Shape 25"/>
          <p:cNvSpPr/>
          <p:nvPr/>
        </p:nvSpPr>
        <p:spPr>
          <a:xfrm>
            <a:off x="9226296" y="1645920"/>
            <a:ext cx="566928" cy="566928"/>
          </a:xfrm>
          <a:prstGeom prst="ellipse">
            <a:avLst/>
          </a:prstGeom>
          <a:solidFill>
            <a:srgbClr val="4F46E5"/>
          </a:solidFill>
          <a:ln w="12700">
            <a:solidFill>
              <a:srgbClr val="4F46E5"/>
            </a:solidFill>
            <a:prstDash val="solid"/>
          </a:ln>
        </p:spPr>
      </p:sp>
      <p:sp>
        <p:nvSpPr>
          <p:cNvPr id="28" name="Text 26"/>
          <p:cNvSpPr txBox="1"/>
          <p:nvPr/>
        </p:nvSpPr>
        <p:spPr>
          <a:xfrm>
            <a:off x="9226296" y="1645920"/>
            <a:ext cx="566928" cy="566928"/>
          </a:xfrm>
          <a:prstGeom prst="rect">
            <a:avLst/>
          </a:prstGeom>
          <a:noFill/>
          <a:ln/>
        </p:spPr>
        <p:txBody>
          <a:bodyPr wrap="square" lIns="0" tIns="0" rIns="0" bIns="0" rtlCol="0" anchor="ctr"/>
          <a:lstStyle/>
          <a:p>
            <a:pPr algn="ctr" indent="0" marL="0">
              <a:buNone/>
            </a:pPr>
            <a:r>
              <a:rPr lang="en-US" sz="1500" b="1" dirty="0">
                <a:solidFill>
                  <a:srgbClr val="FFFFFF"/>
                </a:solidFill>
              </a:rPr>
              <a:t>M4</a:t>
            </a:r>
            <a:endParaRPr lang="en-US" sz="1500" dirty="0"/>
          </a:p>
        </p:txBody>
      </p:sp>
      <p:sp>
        <p:nvSpPr>
          <p:cNvPr id="29" name="Text 27"/>
          <p:cNvSpPr txBox="1"/>
          <p:nvPr/>
        </p:nvSpPr>
        <p:spPr>
          <a:xfrm>
            <a:off x="9226296" y="2331720"/>
            <a:ext cx="2194560" cy="365760"/>
          </a:xfrm>
          <a:prstGeom prst="rect">
            <a:avLst/>
          </a:prstGeom>
          <a:noFill/>
          <a:ln/>
        </p:spPr>
        <p:txBody>
          <a:bodyPr wrap="square" lIns="0" tIns="0" rIns="0" bIns="0" rtlCol="0" anchor="ctr"/>
          <a:lstStyle/>
          <a:p>
            <a:pPr indent="0" marL="0">
              <a:buNone/>
            </a:pPr>
            <a:r>
              <a:rPr lang="en-US" sz="1700" b="1" dirty="0">
                <a:solidFill>
                  <a:srgbClr val="1F2937"/>
                </a:solidFill>
              </a:rPr>
              <a:t>[Member 4]</a:t>
            </a:r>
            <a:endParaRPr lang="en-US" sz="1700" dirty="0"/>
          </a:p>
        </p:txBody>
      </p:sp>
      <p:sp>
        <p:nvSpPr>
          <p:cNvPr id="30" name="Text 28"/>
          <p:cNvSpPr txBox="1"/>
          <p:nvPr/>
        </p:nvSpPr>
        <p:spPr>
          <a:xfrm>
            <a:off x="9226296" y="2697480"/>
            <a:ext cx="2240280" cy="548640"/>
          </a:xfrm>
          <a:prstGeom prst="rect">
            <a:avLst/>
          </a:prstGeom>
          <a:noFill/>
          <a:ln/>
        </p:spPr>
        <p:txBody>
          <a:bodyPr wrap="square" lIns="0" tIns="0" rIns="0" bIns="0" rtlCol="0" anchor="t"/>
          <a:lstStyle/>
          <a:p>
            <a:pPr indent="0" marL="0">
              <a:buNone/>
            </a:pPr>
            <a:r>
              <a:rPr lang="en-US" sz="1400" b="1" dirty="0">
                <a:solidFill>
                  <a:srgbClr val="4F46E5"/>
                </a:solidFill>
              </a:rPr>
              <a:t>Rules, transactions &amp; performance</a:t>
            </a:r>
            <a:endParaRPr lang="en-US" sz="1400" dirty="0"/>
          </a:p>
        </p:txBody>
      </p:sp>
      <p:sp>
        <p:nvSpPr>
          <p:cNvPr id="31" name="Text 29"/>
          <p:cNvSpPr txBox="1"/>
          <p:nvPr/>
        </p:nvSpPr>
        <p:spPr>
          <a:xfrm>
            <a:off x="9226296" y="3246120"/>
            <a:ext cx="2194560" cy="320040"/>
          </a:xfrm>
          <a:prstGeom prst="rect">
            <a:avLst/>
          </a:prstGeom>
          <a:noFill/>
          <a:ln/>
        </p:spPr>
        <p:txBody>
          <a:bodyPr wrap="square" lIns="0" tIns="0" rIns="0" bIns="0" rtlCol="0" anchor="ctr"/>
          <a:lstStyle/>
          <a:p>
            <a:pPr indent="0" marL="0">
              <a:buNone/>
            </a:pPr>
            <a:r>
              <a:rPr lang="en-US" sz="1300" dirty="0">
                <a:solidFill>
                  <a:srgbClr val="6B7280"/>
                </a:solidFill>
              </a:rPr>
              <a:t>11:15 – 15:00</a:t>
            </a:r>
            <a:endParaRPr lang="en-US" sz="1300" dirty="0"/>
          </a:p>
        </p:txBody>
      </p:sp>
      <p:sp>
        <p:nvSpPr>
          <p:cNvPr id="32" name="Text 30"/>
          <p:cNvSpPr txBox="1"/>
          <p:nvPr/>
        </p:nvSpPr>
        <p:spPr>
          <a:xfrm>
            <a:off x="9180576" y="3657600"/>
            <a:ext cx="2286000" cy="22860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rgbClr val="374151"/>
                </a:solidFill>
              </a:rPr>
              <a:t>Triggers &amp; stored procedures</a:t>
            </a:r>
            <a:endParaRPr lang="en-US" sz="1350" dirty="0"/>
          </a:p>
          <a:p>
            <a:pPr marL="342900" indent="-342900">
              <a:spcAft>
                <a:spcPts val="600"/>
              </a:spcAft>
              <a:buSzPct val="100000"/>
              <a:buChar char="•"/>
            </a:pPr>
            <a:r>
              <a:rPr lang="en-US" sz="1350" dirty="0">
                <a:solidFill>
                  <a:srgbClr val="374151"/>
                </a:solidFill>
              </a:rPr>
              <a:t>Live demo, ACID &amp; concurrency</a:t>
            </a:r>
            <a:endParaRPr lang="en-US" sz="1350" dirty="0"/>
          </a:p>
          <a:p>
            <a:pPr marL="342900" indent="-342900">
              <a:spcAft>
                <a:spcPts val="600"/>
              </a:spcAft>
              <a:buSzPct val="100000"/>
              <a:buChar char="•"/>
            </a:pPr>
            <a:r>
              <a:rPr lang="en-US" sz="1350" dirty="0">
                <a:solidFill>
                  <a:srgbClr val="374151"/>
                </a:solidFill>
              </a:rPr>
              <a:t>Indexing, SQL injection, testing, learnings</a:t>
            </a:r>
            <a:endParaRPr lang="en-US" sz="135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144000" cy="731520"/>
          </a:xfrm>
          <a:prstGeom prst="rect">
            <a:avLst/>
          </a:prstGeom>
          <a:noFill/>
          <a:ln/>
        </p:spPr>
        <p:txBody>
          <a:bodyPr wrap="square" lIns="0" tIns="0" rIns="0" bIns="0" rtlCol="0" anchor="ctr"/>
          <a:lstStyle/>
          <a:p>
            <a:pPr algn="l" indent="0" marL="0">
              <a:buNone/>
            </a:pPr>
            <a:r>
              <a:rPr lang="en-US" sz="3000" b="1" dirty="0">
                <a:solidFill>
                  <a:srgbClr val="111827"/>
                </a:solidFill>
                <a:latin typeface="Cambria" pitchFamily="34" charset="0"/>
                <a:ea typeface="Cambria" pitchFamily="34" charset="-122"/>
                <a:cs typeface="Cambria" pitchFamily="34" charset="-120"/>
              </a:rPr>
              <a:t>One spreadsheet, three anomalies</a:t>
            </a:r>
            <a:endParaRPr lang="en-US" sz="3000" dirty="0"/>
          </a:p>
        </p:txBody>
      </p:sp>
      <p:sp>
        <p:nvSpPr>
          <p:cNvPr id="3" name="speaker-chip"/>
          <p:cNvSpPr/>
          <p:nvPr/>
        </p:nvSpPr>
        <p:spPr>
          <a:xfrm>
            <a:off x="9921240" y="457200"/>
            <a:ext cx="1737360" cy="402336"/>
          </a:xfrm>
          <a:prstGeom prst="roundRect">
            <a:avLst>
              <a:gd name="adj" fmla="val 50000"/>
            </a:avLst>
          </a:prstGeom>
          <a:solidFill>
            <a:srgbClr val="EEF0FF"/>
          </a:solidFill>
          <a:ln w="12700">
            <a:solidFill>
              <a:srgbClr val="EEF0FF"/>
            </a:solidFill>
            <a:prstDash val="solid"/>
          </a:ln>
        </p:spPr>
      </p:sp>
      <p:sp>
        <p:nvSpPr>
          <p:cNvPr id="4" name="Text 2"/>
          <p:cNvSpPr txBox="1"/>
          <p:nvPr/>
        </p:nvSpPr>
        <p:spPr>
          <a:xfrm>
            <a:off x="9921240" y="457200"/>
            <a:ext cx="1737360" cy="402336"/>
          </a:xfrm>
          <a:prstGeom prst="rect">
            <a:avLst/>
          </a:prstGeom>
          <a:noFill/>
          <a:ln/>
        </p:spPr>
        <p:txBody>
          <a:bodyPr wrap="square" lIns="0" tIns="0" rIns="0" bIns="0" rtlCol="0" anchor="ctr"/>
          <a:lstStyle/>
          <a:p>
            <a:pPr algn="ctr" indent="0" marL="0">
              <a:buNone/>
            </a:pPr>
            <a:r>
              <a:rPr lang="en-US" sz="1200" b="1" dirty="0">
                <a:solidFill>
                  <a:srgbClr val="4F46E5"/>
                </a:solidFill>
              </a:rPr>
              <a:t>M1  </a:t>
            </a:r>
            <a:pPr algn="ctr" indent="0" marL="0">
              <a:buNone/>
            </a:pPr>
            <a:r>
              <a:rPr lang="en-US" sz="1200" dirty="0">
                <a:solidFill>
                  <a:srgbClr val="312E81"/>
                </a:solidFill>
              </a:rPr>
              <a:t>Ekta Sharma</a:t>
            </a:r>
            <a:endParaRPr lang="en-US" sz="1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6583680" cy="914400"/>
        </p:xfrm>
        <a:graphic>
          <a:graphicData uri="http://schemas.openxmlformats.org/drawingml/2006/table">
            <a:tbl>
              <a:tblPr/>
              <a:tblGrid>
                <a:gridCol w="1005840"/>
                <a:gridCol w="1051560"/>
                <a:gridCol w="868680"/>
                <a:gridCol w="1325880"/>
                <a:gridCol w="685800"/>
                <a:gridCol w="777240"/>
                <a:gridCol w="868680"/>
              </a:tblGrid>
              <a:tr h="310896">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roll_no</a:t>
                      </a:r>
                      <a:endParaRPr lang="en-US" sz="1150" dirty="0">
                        <a:latin typeface="Calibri" charset="0"/>
                        <a:ea typeface="Calibri" charset="0"/>
                        <a:cs typeface="Calibri"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DC2626"/>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company</a:t>
                      </a:r>
                      <a:endParaRPr lang="en-US" sz="1150" dirty="0">
                        <a:latin typeface="Calibri" charset="0"/>
                        <a:ea typeface="Calibri" charset="0"/>
                        <a:cs typeface="Calibri"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DC2626"/>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hq_city</a:t>
                      </a:r>
                      <a:endParaRPr lang="en-US" sz="1150" dirty="0">
                        <a:latin typeface="Calibri" charset="0"/>
                        <a:ea typeface="Calibri" charset="0"/>
                        <a:cs typeface="Calibri"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DC2626"/>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role</a:t>
                      </a:r>
                      <a:endParaRPr lang="en-US" sz="1150" dirty="0">
                        <a:latin typeface="Calibri" charset="0"/>
                        <a:ea typeface="Calibri" charset="0"/>
                        <a:cs typeface="Calibri"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DC2626"/>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pay</a:t>
                      </a:r>
                      <a:endParaRPr lang="en-US" sz="1150" dirty="0">
                        <a:latin typeface="Calibri" charset="0"/>
                        <a:ea typeface="Calibri" charset="0"/>
                        <a:cs typeface="Calibri"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DC2626"/>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round</a:t>
                      </a:r>
                      <a:endParaRPr lang="en-US" sz="1150" dirty="0">
                        <a:latin typeface="Calibri" charset="0"/>
                        <a:ea typeface="Calibri" charset="0"/>
                        <a:cs typeface="Calibri"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DC2626"/>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result</a:t>
                      </a:r>
                      <a:endParaRPr lang="en-US" sz="1150" dirty="0">
                        <a:latin typeface="Calibri" charset="0"/>
                        <a:ea typeface="Calibri" charset="0"/>
                        <a:cs typeface="Calibri"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DC2626"/>
                    </a:solidFill>
                  </a:tcPr>
                </a:tc>
              </a:tr>
              <a:tr h="310896">
                <a:tc>
                  <a:txBody>
                    <a:bodyPr/>
                    <a:lstStyle/>
                    <a:p>
                      <a:pPr indent="0" marL="0">
                        <a:buNone/>
                      </a:pPr>
                      <a:r>
                        <a:rPr lang="en-US" sz="1150" dirty="0">
                          <a:solidFill>
                            <a:srgbClr val="374151"/>
                          </a:solidFill>
                          <a:latin typeface="Calibri" pitchFamily="34" charset="0"/>
                          <a:ea typeface="Calibri" pitchFamily="34" charset="-122"/>
                          <a:cs typeface="Calibri" pitchFamily="34" charset="-120"/>
                        </a:rPr>
                        <a:t>DBA12-007</a:t>
                      </a:r>
                      <a:endParaRPr lang="en-US" sz="1150" dirty="0">
                        <a:latin typeface="Calibri" charset="0"/>
                        <a:ea typeface="Calibri" charset="0"/>
                        <a:cs typeface="Calibri"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50" dirty="0">
                          <a:solidFill>
                            <a:srgbClr val="374151"/>
                          </a:solidFill>
                          <a:latin typeface="Calibri" pitchFamily="34" charset="0"/>
                          <a:ea typeface="Calibri" pitchFamily="34" charset="-122"/>
                          <a:cs typeface="Calibri" pitchFamily="34" charset="-120"/>
                        </a:rPr>
                        <a:t>Northbridge</a:t>
                      </a:r>
                      <a:endParaRPr lang="en-US" sz="1150" dirty="0">
                        <a:latin typeface="Calibri" charset="0"/>
                        <a:ea typeface="Calibri" charset="0"/>
                        <a:cs typeface="Calibri"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50" dirty="0">
                          <a:solidFill>
                            <a:srgbClr val="374151"/>
                          </a:solidFill>
                          <a:latin typeface="Calibri" pitchFamily="34" charset="0"/>
                          <a:ea typeface="Calibri" pitchFamily="34" charset="-122"/>
                          <a:cs typeface="Calibri" pitchFamily="34" charset="-120"/>
                        </a:rPr>
                        <a:t>Mumbai</a:t>
                      </a:r>
                      <a:endParaRPr lang="en-US" sz="1150" dirty="0">
                        <a:latin typeface="Calibri" charset="0"/>
                        <a:ea typeface="Calibri" charset="0"/>
                        <a:cs typeface="Calibri"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50" dirty="0">
                          <a:solidFill>
                            <a:srgbClr val="374151"/>
                          </a:solidFill>
                          <a:latin typeface="Calibri" pitchFamily="34" charset="0"/>
                          <a:ea typeface="Calibri" pitchFamily="34" charset="-122"/>
                          <a:cs typeface="Calibri" pitchFamily="34" charset="-120"/>
                        </a:rPr>
                        <a:t>Assoc. Consultant</a:t>
                      </a:r>
                      <a:endParaRPr lang="en-US" sz="1150" dirty="0">
                        <a:latin typeface="Calibri" charset="0"/>
                        <a:ea typeface="Calibri" charset="0"/>
                        <a:cs typeface="Calibri"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50" dirty="0">
                          <a:solidFill>
                            <a:srgbClr val="374151"/>
                          </a:solidFill>
                          <a:latin typeface="Calibri" pitchFamily="34" charset="0"/>
                          <a:ea typeface="Calibri" pitchFamily="34" charset="-122"/>
                          <a:cs typeface="Calibri" pitchFamily="34" charset="-120"/>
                        </a:rPr>
                        <a:t>34 LPA</a:t>
                      </a:r>
                      <a:endParaRPr lang="en-US" sz="1150" dirty="0">
                        <a:latin typeface="Calibri" charset="0"/>
                        <a:ea typeface="Calibri" charset="0"/>
                        <a:cs typeface="Calibri"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50" dirty="0">
                          <a:solidFill>
                            <a:srgbClr val="374151"/>
                          </a:solidFill>
                          <a:latin typeface="Calibri" pitchFamily="34" charset="0"/>
                          <a:ea typeface="Calibri" pitchFamily="34" charset="-122"/>
                          <a:cs typeface="Calibri" pitchFamily="34" charset="-120"/>
                        </a:rPr>
                        <a:t>1 CASE</a:t>
                      </a:r>
                      <a:endParaRPr lang="en-US" sz="1150" dirty="0">
                        <a:latin typeface="Calibri" charset="0"/>
                        <a:ea typeface="Calibri" charset="0"/>
                        <a:cs typeface="Calibri"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50" dirty="0">
                          <a:solidFill>
                            <a:srgbClr val="374151"/>
                          </a:solidFill>
                          <a:latin typeface="Calibri" pitchFamily="34" charset="0"/>
                          <a:ea typeface="Calibri" pitchFamily="34" charset="-122"/>
                          <a:cs typeface="Calibri" pitchFamily="34" charset="-120"/>
                        </a:rPr>
                        <a:t>CLEARED</a:t>
                      </a:r>
                      <a:endParaRPr lang="en-US" sz="1150" dirty="0">
                        <a:latin typeface="Calibri" charset="0"/>
                        <a:ea typeface="Calibri" charset="0"/>
                        <a:cs typeface="Calibri"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10896">
                <a:tc>
                  <a:txBody>
                    <a:bodyPr/>
                    <a:lstStyle/>
                    <a:p>
                      <a:pPr indent="0" marL="0">
                        <a:buNone/>
                      </a:pPr>
                      <a:r>
                        <a:rPr lang="en-US" sz="1150" dirty="0">
                          <a:solidFill>
                            <a:srgbClr val="374151"/>
                          </a:solidFill>
                          <a:latin typeface="Calibri" pitchFamily="34" charset="0"/>
                          <a:ea typeface="Calibri" pitchFamily="34" charset="-122"/>
                          <a:cs typeface="Calibri" pitchFamily="34" charset="-120"/>
                        </a:rPr>
                        <a:t>DBA12-007</a:t>
                      </a:r>
                      <a:endParaRPr lang="en-US" sz="1150" dirty="0">
                        <a:latin typeface="Calibri" charset="0"/>
                        <a:ea typeface="Calibri" charset="0"/>
                        <a:cs typeface="Calibri"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6F7FB"/>
                    </a:solidFill>
                  </a:tcPr>
                </a:tc>
                <a:tc>
                  <a:txBody>
                    <a:bodyPr/>
                    <a:lstStyle/>
                    <a:p>
                      <a:pPr indent="0" marL="0">
                        <a:buNone/>
                      </a:pPr>
                      <a:r>
                        <a:rPr lang="en-US" sz="1150" dirty="0">
                          <a:solidFill>
                            <a:srgbClr val="374151"/>
                          </a:solidFill>
                          <a:latin typeface="Calibri" pitchFamily="34" charset="0"/>
                          <a:ea typeface="Calibri" pitchFamily="34" charset="-122"/>
                          <a:cs typeface="Calibri" pitchFamily="34" charset="-120"/>
                        </a:rPr>
                        <a:t>Northbridge</a:t>
                      </a:r>
                      <a:endParaRPr lang="en-US" sz="1150" dirty="0">
                        <a:latin typeface="Calibri" charset="0"/>
                        <a:ea typeface="Calibri" charset="0"/>
                        <a:cs typeface="Calibri"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6F7FB"/>
                    </a:solidFill>
                  </a:tcPr>
                </a:tc>
                <a:tc>
                  <a:txBody>
                    <a:bodyPr/>
                    <a:lstStyle/>
                    <a:p>
                      <a:pPr indent="0" marL="0">
                        <a:buNone/>
                      </a:pPr>
                      <a:r>
                        <a:rPr lang="en-US" sz="1150" dirty="0">
                          <a:solidFill>
                            <a:srgbClr val="374151"/>
                          </a:solidFill>
                          <a:latin typeface="Calibri" pitchFamily="34" charset="0"/>
                          <a:ea typeface="Calibri" pitchFamily="34" charset="-122"/>
                          <a:cs typeface="Calibri" pitchFamily="34" charset="-120"/>
                        </a:rPr>
                        <a:t>Mumbai</a:t>
                      </a:r>
                      <a:endParaRPr lang="en-US" sz="1150" dirty="0">
                        <a:latin typeface="Calibri" charset="0"/>
                        <a:ea typeface="Calibri" charset="0"/>
                        <a:cs typeface="Calibri"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6F7FB"/>
                    </a:solidFill>
                  </a:tcPr>
                </a:tc>
                <a:tc>
                  <a:txBody>
                    <a:bodyPr/>
                    <a:lstStyle/>
                    <a:p>
                      <a:pPr indent="0" marL="0">
                        <a:buNone/>
                      </a:pPr>
                      <a:r>
                        <a:rPr lang="en-US" sz="1150" dirty="0">
                          <a:solidFill>
                            <a:srgbClr val="374151"/>
                          </a:solidFill>
                          <a:latin typeface="Calibri" pitchFamily="34" charset="0"/>
                          <a:ea typeface="Calibri" pitchFamily="34" charset="-122"/>
                          <a:cs typeface="Calibri" pitchFamily="34" charset="-120"/>
                        </a:rPr>
                        <a:t>Assoc. Consultant</a:t>
                      </a:r>
                      <a:endParaRPr lang="en-US" sz="1150" dirty="0">
                        <a:latin typeface="Calibri" charset="0"/>
                        <a:ea typeface="Calibri" charset="0"/>
                        <a:cs typeface="Calibri"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6F7FB"/>
                    </a:solidFill>
                  </a:tcPr>
                </a:tc>
                <a:tc>
                  <a:txBody>
                    <a:bodyPr/>
                    <a:lstStyle/>
                    <a:p>
                      <a:pPr indent="0" marL="0">
                        <a:buNone/>
                      </a:pPr>
                      <a:r>
                        <a:rPr lang="en-US" sz="1150" dirty="0">
                          <a:solidFill>
                            <a:srgbClr val="374151"/>
                          </a:solidFill>
                          <a:latin typeface="Calibri" pitchFamily="34" charset="0"/>
                          <a:ea typeface="Calibri" pitchFamily="34" charset="-122"/>
                          <a:cs typeface="Calibri" pitchFamily="34" charset="-120"/>
                        </a:rPr>
                        <a:t>34 LPA</a:t>
                      </a:r>
                      <a:endParaRPr lang="en-US" sz="1150" dirty="0">
                        <a:latin typeface="Calibri" charset="0"/>
                        <a:ea typeface="Calibri" charset="0"/>
                        <a:cs typeface="Calibri"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6F7FB"/>
                    </a:solidFill>
                  </a:tcPr>
                </a:tc>
                <a:tc>
                  <a:txBody>
                    <a:bodyPr/>
                    <a:lstStyle/>
                    <a:p>
                      <a:pPr indent="0" marL="0">
                        <a:buNone/>
                      </a:pPr>
                      <a:r>
                        <a:rPr lang="en-US" sz="1150" dirty="0">
                          <a:solidFill>
                            <a:srgbClr val="374151"/>
                          </a:solidFill>
                          <a:latin typeface="Calibri" pitchFamily="34" charset="0"/>
                          <a:ea typeface="Calibri" pitchFamily="34" charset="-122"/>
                          <a:cs typeface="Calibri" pitchFamily="34" charset="-120"/>
                        </a:rPr>
                        <a:t>2 CASE</a:t>
                      </a:r>
                      <a:endParaRPr lang="en-US" sz="1150" dirty="0">
                        <a:latin typeface="Calibri" charset="0"/>
                        <a:ea typeface="Calibri" charset="0"/>
                        <a:cs typeface="Calibri"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6F7FB"/>
                    </a:solidFill>
                  </a:tcPr>
                </a:tc>
                <a:tc>
                  <a:txBody>
                    <a:bodyPr/>
                    <a:lstStyle/>
                    <a:p>
                      <a:pPr indent="0" marL="0">
                        <a:buNone/>
                      </a:pPr>
                      <a:r>
                        <a:rPr lang="en-US" sz="1150" dirty="0">
                          <a:solidFill>
                            <a:srgbClr val="374151"/>
                          </a:solidFill>
                          <a:latin typeface="Calibri" pitchFamily="34" charset="0"/>
                          <a:ea typeface="Calibri" pitchFamily="34" charset="-122"/>
                          <a:cs typeface="Calibri" pitchFamily="34" charset="-120"/>
                        </a:rPr>
                        <a:t>SCHEDULED</a:t>
                      </a:r>
                      <a:endParaRPr lang="en-US" sz="1150" dirty="0">
                        <a:latin typeface="Calibri" charset="0"/>
                        <a:ea typeface="Calibri" charset="0"/>
                        <a:cs typeface="Calibri"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6F7FB"/>
                    </a:solidFill>
                  </a:tcPr>
                </a:tc>
              </a:tr>
              <a:tr h="310896">
                <a:tc>
                  <a:txBody>
                    <a:bodyPr/>
                    <a:lstStyle/>
                    <a:p>
                      <a:pPr indent="0" marL="0">
                        <a:buNone/>
                      </a:pPr>
                      <a:r>
                        <a:rPr lang="en-US" sz="1150" dirty="0">
                          <a:solidFill>
                            <a:srgbClr val="374151"/>
                          </a:solidFill>
                          <a:latin typeface="Calibri" pitchFamily="34" charset="0"/>
                          <a:ea typeface="Calibri" pitchFamily="34" charset="-122"/>
                          <a:cs typeface="Calibri" pitchFamily="34" charset="-120"/>
                        </a:rPr>
                        <a:t>DBA12-019</a:t>
                      </a:r>
                      <a:endParaRPr lang="en-US" sz="1150" dirty="0">
                        <a:latin typeface="Calibri" charset="0"/>
                        <a:ea typeface="Calibri" charset="0"/>
                        <a:cs typeface="Calibri"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50" dirty="0">
                          <a:solidFill>
                            <a:srgbClr val="374151"/>
                          </a:solidFill>
                          <a:latin typeface="Calibri" pitchFamily="34" charset="0"/>
                          <a:ea typeface="Calibri" pitchFamily="34" charset="-122"/>
                          <a:cs typeface="Calibri" pitchFamily="34" charset="-120"/>
                        </a:rPr>
                        <a:t>Northbridge</a:t>
                      </a:r>
                      <a:endParaRPr lang="en-US" sz="1150" dirty="0">
                        <a:latin typeface="Calibri" charset="0"/>
                        <a:ea typeface="Calibri" charset="0"/>
                        <a:cs typeface="Calibri"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50" dirty="0">
                          <a:solidFill>
                            <a:srgbClr val="374151"/>
                          </a:solidFill>
                          <a:latin typeface="Calibri" pitchFamily="34" charset="0"/>
                          <a:ea typeface="Calibri" pitchFamily="34" charset="-122"/>
                          <a:cs typeface="Calibri" pitchFamily="34" charset="-120"/>
                        </a:rPr>
                        <a:t>Mumbai</a:t>
                      </a:r>
                      <a:endParaRPr lang="en-US" sz="1150" dirty="0">
                        <a:latin typeface="Calibri" charset="0"/>
                        <a:ea typeface="Calibri" charset="0"/>
                        <a:cs typeface="Calibri"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50" dirty="0">
                          <a:solidFill>
                            <a:srgbClr val="374151"/>
                          </a:solidFill>
                          <a:latin typeface="Calibri" pitchFamily="34" charset="0"/>
                          <a:ea typeface="Calibri" pitchFamily="34" charset="-122"/>
                          <a:cs typeface="Calibri" pitchFamily="34" charset="-120"/>
                        </a:rPr>
                        <a:t>Assoc. Consultant</a:t>
                      </a:r>
                      <a:endParaRPr lang="en-US" sz="1150" dirty="0">
                        <a:latin typeface="Calibri" charset="0"/>
                        <a:ea typeface="Calibri" charset="0"/>
                        <a:cs typeface="Calibri"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50" dirty="0">
                          <a:solidFill>
                            <a:srgbClr val="374151"/>
                          </a:solidFill>
                          <a:latin typeface="Calibri" pitchFamily="34" charset="0"/>
                          <a:ea typeface="Calibri" pitchFamily="34" charset="-122"/>
                          <a:cs typeface="Calibri" pitchFamily="34" charset="-120"/>
                        </a:rPr>
                        <a:t>34 LPA</a:t>
                      </a:r>
                      <a:endParaRPr lang="en-US" sz="1150" dirty="0">
                        <a:latin typeface="Calibri" charset="0"/>
                        <a:ea typeface="Calibri" charset="0"/>
                        <a:cs typeface="Calibri"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50" dirty="0">
                          <a:solidFill>
                            <a:srgbClr val="374151"/>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50" dirty="0">
                          <a:solidFill>
                            <a:srgbClr val="374151"/>
                          </a:solidFill>
                          <a:latin typeface="Calibri" pitchFamily="34" charset="0"/>
                          <a:ea typeface="Calibri" pitchFamily="34" charset="-122"/>
                          <a:cs typeface="Calibri" pitchFamily="34" charset="-120"/>
                        </a:rPr>
                        <a:t>REJECTED</a:t>
                      </a:r>
                      <a:endParaRPr lang="en-US" sz="1150" dirty="0">
                        <a:latin typeface="Calibri" charset="0"/>
                        <a:ea typeface="Calibri" charset="0"/>
                        <a:cs typeface="Calibri"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10896">
                <a:tc>
                  <a:txBody>
                    <a:bodyPr/>
                    <a:lstStyle/>
                    <a:p>
                      <a:pPr indent="0" marL="0">
                        <a:buNone/>
                      </a:pPr>
                      <a:r>
                        <a:rPr lang="en-US" sz="1150" dirty="0">
                          <a:solidFill>
                            <a:srgbClr val="374151"/>
                          </a:solidFill>
                          <a:latin typeface="Calibri" pitchFamily="34" charset="0"/>
                          <a:ea typeface="Calibri" pitchFamily="34" charset="-122"/>
                          <a:cs typeface="Calibri" pitchFamily="34" charset="-120"/>
                        </a:rPr>
                        <a:t>PGP62-003</a:t>
                      </a:r>
                      <a:endParaRPr lang="en-US" sz="1150" dirty="0">
                        <a:latin typeface="Calibri" charset="0"/>
                        <a:ea typeface="Calibri" charset="0"/>
                        <a:cs typeface="Calibri"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6F7FB"/>
                    </a:solidFill>
                  </a:tcPr>
                </a:tc>
                <a:tc>
                  <a:txBody>
                    <a:bodyPr/>
                    <a:lstStyle/>
                    <a:p>
                      <a:pPr indent="0" marL="0">
                        <a:buNone/>
                      </a:pPr>
                      <a:r>
                        <a:rPr lang="en-US" sz="1150" dirty="0">
                          <a:solidFill>
                            <a:srgbClr val="374151"/>
                          </a:solidFill>
                          <a:latin typeface="Calibri" pitchFamily="34" charset="0"/>
                          <a:ea typeface="Calibri" pitchFamily="34" charset="-122"/>
                          <a:cs typeface="Calibri" pitchFamily="34" charset="-120"/>
                        </a:rPr>
                        <a:t>Northbridge</a:t>
                      </a:r>
                      <a:endParaRPr lang="en-US" sz="1150" dirty="0">
                        <a:latin typeface="Calibri" charset="0"/>
                        <a:ea typeface="Calibri" charset="0"/>
                        <a:cs typeface="Calibri"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6F7FB"/>
                    </a:solidFill>
                  </a:tcPr>
                </a:tc>
                <a:tc>
                  <a:txBody>
                    <a:bodyPr/>
                    <a:lstStyle/>
                    <a:p>
                      <a:pPr indent="0" marL="0">
                        <a:buNone/>
                      </a:pPr>
                      <a:r>
                        <a:rPr lang="en-US" sz="1150" dirty="0">
                          <a:solidFill>
                            <a:srgbClr val="374151"/>
                          </a:solidFill>
                          <a:latin typeface="Calibri" pitchFamily="34" charset="0"/>
                          <a:ea typeface="Calibri" pitchFamily="34" charset="-122"/>
                          <a:cs typeface="Calibri" pitchFamily="34" charset="-120"/>
                        </a:rPr>
                        <a:t>Mumbai</a:t>
                      </a:r>
                      <a:endParaRPr lang="en-US" sz="1150" dirty="0">
                        <a:latin typeface="Calibri" charset="0"/>
                        <a:ea typeface="Calibri" charset="0"/>
                        <a:cs typeface="Calibri"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6F7FB"/>
                    </a:solidFill>
                  </a:tcPr>
                </a:tc>
                <a:tc>
                  <a:txBody>
                    <a:bodyPr/>
                    <a:lstStyle/>
                    <a:p>
                      <a:pPr indent="0" marL="0">
                        <a:buNone/>
                      </a:pPr>
                      <a:r>
                        <a:rPr lang="en-US" sz="1150" dirty="0">
                          <a:solidFill>
                            <a:srgbClr val="374151"/>
                          </a:solidFill>
                          <a:latin typeface="Calibri" pitchFamily="34" charset="0"/>
                          <a:ea typeface="Calibri" pitchFamily="34" charset="-122"/>
                          <a:cs typeface="Calibri" pitchFamily="34" charset="-120"/>
                        </a:rPr>
                        <a:t>Assoc. Consultant</a:t>
                      </a:r>
                      <a:endParaRPr lang="en-US" sz="1150" dirty="0">
                        <a:latin typeface="Calibri" charset="0"/>
                        <a:ea typeface="Calibri" charset="0"/>
                        <a:cs typeface="Calibri"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6F7FB"/>
                    </a:solidFill>
                  </a:tcPr>
                </a:tc>
                <a:tc>
                  <a:txBody>
                    <a:bodyPr/>
                    <a:lstStyle/>
                    <a:p>
                      <a:pPr indent="0" marL="0">
                        <a:buNone/>
                      </a:pPr>
                      <a:r>
                        <a:rPr lang="en-US" sz="1150" dirty="0">
                          <a:solidFill>
                            <a:srgbClr val="374151"/>
                          </a:solidFill>
                          <a:latin typeface="Calibri" pitchFamily="34" charset="0"/>
                          <a:ea typeface="Calibri" pitchFamily="34" charset="-122"/>
                          <a:cs typeface="Calibri" pitchFamily="34" charset="-120"/>
                        </a:rPr>
                        <a:t>34 LPA</a:t>
                      </a:r>
                      <a:endParaRPr lang="en-US" sz="1150" dirty="0">
                        <a:latin typeface="Calibri" charset="0"/>
                        <a:ea typeface="Calibri" charset="0"/>
                        <a:cs typeface="Calibri"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6F7FB"/>
                    </a:solidFill>
                  </a:tcPr>
                </a:tc>
                <a:tc>
                  <a:txBody>
                    <a:bodyPr/>
                    <a:lstStyle/>
                    <a:p>
                      <a:pPr indent="0" marL="0">
                        <a:buNone/>
                      </a:pPr>
                      <a:r>
                        <a:rPr lang="en-US" sz="1150" dirty="0">
                          <a:solidFill>
                            <a:srgbClr val="374151"/>
                          </a:solidFill>
                          <a:latin typeface="Calibri" pitchFamily="34" charset="0"/>
                          <a:ea typeface="Calibri" pitchFamily="34" charset="-122"/>
                          <a:cs typeface="Calibri" pitchFamily="34" charset="-120"/>
                        </a:rPr>
                        <a:t>1 CASE</a:t>
                      </a:r>
                      <a:endParaRPr lang="en-US" sz="1150" dirty="0">
                        <a:latin typeface="Calibri" charset="0"/>
                        <a:ea typeface="Calibri" charset="0"/>
                        <a:cs typeface="Calibri"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6F7FB"/>
                    </a:solidFill>
                  </a:tcPr>
                </a:tc>
                <a:tc>
                  <a:txBody>
                    <a:bodyPr/>
                    <a:lstStyle/>
                    <a:p>
                      <a:pPr indent="0" marL="0">
                        <a:buNone/>
                      </a:pPr>
                      <a:r>
                        <a:rPr lang="en-US" sz="1150" dirty="0">
                          <a:solidFill>
                            <a:srgbClr val="374151"/>
                          </a:solidFill>
                          <a:latin typeface="Calibri" pitchFamily="34" charset="0"/>
                          <a:ea typeface="Calibri" pitchFamily="34" charset="-122"/>
                          <a:cs typeface="Calibri" pitchFamily="34" charset="-120"/>
                        </a:rPr>
                        <a:t>CLEARED</a:t>
                      </a:r>
                      <a:endParaRPr lang="en-US" sz="1150" dirty="0">
                        <a:latin typeface="Calibri" charset="0"/>
                        <a:ea typeface="Calibri" charset="0"/>
                        <a:cs typeface="Calibri"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6F7FB"/>
                    </a:solidFill>
                  </a:tcPr>
                </a:tc>
              </a:tr>
            </a:tbl>
          </a:graphicData>
        </a:graphic>
      </p:graphicFrame>
      <p:sp>
        <p:nvSpPr>
          <p:cNvPr id="6" name="Text 3"/>
          <p:cNvSpPr txBox="1"/>
          <p:nvPr/>
        </p:nvSpPr>
        <p:spPr>
          <a:xfrm>
            <a:off x="548640" y="3017520"/>
            <a:ext cx="6583680" cy="274320"/>
          </a:xfrm>
          <a:prstGeom prst="rect">
            <a:avLst/>
          </a:prstGeom>
          <a:noFill/>
          <a:ln/>
        </p:spPr>
        <p:txBody>
          <a:bodyPr wrap="square" lIns="0" tIns="0" rIns="0" bIns="0" rtlCol="0" anchor="ctr"/>
          <a:lstStyle/>
          <a:p>
            <a:pPr indent="0" marL="0">
              <a:buNone/>
            </a:pPr>
            <a:r>
              <a:rPr lang="en-US" sz="1200" i="1" dirty="0">
                <a:solidFill>
                  <a:srgbClr val="6B7280"/>
                </a:solidFill>
              </a:rPr>
              <a:t>Company, city, role and pay repeat on every applicant × round row</a:t>
            </a:r>
            <a:endParaRPr lang="en-US" sz="1200" dirty="0"/>
          </a:p>
        </p:txBody>
      </p:sp>
      <p:sp>
        <p:nvSpPr>
          <p:cNvPr id="7" name="Shape 4"/>
          <p:cNvSpPr/>
          <p:nvPr/>
        </p:nvSpPr>
        <p:spPr>
          <a:xfrm>
            <a:off x="548640" y="3474720"/>
            <a:ext cx="2103120" cy="2148840"/>
          </a:xfrm>
          <a:prstGeom prst="roundRect">
            <a:avLst>
              <a:gd name="adj" fmla="val 4348"/>
            </a:avLst>
          </a:prstGeom>
          <a:solidFill>
            <a:srgbClr val="FDECEA"/>
          </a:solidFill>
          <a:ln w="12700">
            <a:solidFill>
              <a:srgbClr val="F5C2BF"/>
            </a:solidFill>
            <a:prstDash val="solid"/>
          </a:ln>
        </p:spPr>
      </p:sp>
      <p:sp>
        <p:nvSpPr>
          <p:cNvPr id="8" name="Text 5"/>
          <p:cNvSpPr txBox="1"/>
          <p:nvPr/>
        </p:nvSpPr>
        <p:spPr>
          <a:xfrm>
            <a:off x="713232" y="3584448"/>
            <a:ext cx="1773936" cy="1929384"/>
          </a:xfrm>
          <a:prstGeom prst="rect">
            <a:avLst/>
          </a:prstGeom>
          <a:noFill/>
          <a:ln/>
        </p:spPr>
        <p:txBody>
          <a:bodyPr wrap="square" lIns="0" tIns="0" rIns="0" bIns="0" rtlCol="0" anchor="t"/>
          <a:lstStyle/>
          <a:p>
            <a:pPr indent="0" marL="0">
              <a:spcAft>
                <a:spcPts val="400"/>
              </a:spcAft>
              <a:buNone/>
            </a:pPr>
            <a:r>
              <a:rPr lang="en-US" sz="1500" b="1" dirty="0">
                <a:solidFill>
                  <a:srgbClr val="B91C1C"/>
                </a:solidFill>
                <a:latin typeface="Calibri" pitchFamily="34" charset="0"/>
                <a:ea typeface="Calibri" pitchFamily="34" charset="-122"/>
                <a:cs typeface="Calibri" pitchFamily="34" charset="-120"/>
              </a:rPr>
              <a:t>Update anomaly</a:t>
            </a:r>
            <a:endParaRPr lang="en-US" sz="1500" dirty="0"/>
          </a:p>
          <a:p>
            <a:pPr indent="0" marL="0">
              <a:spcAft>
                <a:spcPts val="300"/>
              </a:spcAft>
              <a:buNone/>
            </a:pPr>
            <a:r>
              <a:rPr lang="en-US" sz="1350" dirty="0">
                <a:solidFill>
                  <a:srgbClr val="374151"/>
                </a:solidFill>
                <a:latin typeface="Calibri" pitchFamily="34" charset="0"/>
                <a:ea typeface="Calibri" pitchFamily="34" charset="-122"/>
                <a:cs typeface="Calibri" pitchFamily="34" charset="-120"/>
              </a:rPr>
              <a:t>Northbridge moves HQ: edit every row, miss one and the data contradicts itself.</a:t>
            </a:r>
            <a:endParaRPr lang="en-US" sz="1500" dirty="0"/>
          </a:p>
        </p:txBody>
      </p:sp>
      <p:sp>
        <p:nvSpPr>
          <p:cNvPr id="9" name="Shape 6"/>
          <p:cNvSpPr/>
          <p:nvPr/>
        </p:nvSpPr>
        <p:spPr>
          <a:xfrm>
            <a:off x="2788920" y="3474720"/>
            <a:ext cx="2103120" cy="2148840"/>
          </a:xfrm>
          <a:prstGeom prst="roundRect">
            <a:avLst>
              <a:gd name="adj" fmla="val 4348"/>
            </a:avLst>
          </a:prstGeom>
          <a:solidFill>
            <a:srgbClr val="FDECEA"/>
          </a:solidFill>
          <a:ln w="12700">
            <a:solidFill>
              <a:srgbClr val="F5C2BF"/>
            </a:solidFill>
            <a:prstDash val="solid"/>
          </a:ln>
        </p:spPr>
      </p:sp>
      <p:sp>
        <p:nvSpPr>
          <p:cNvPr id="10" name="Text 7"/>
          <p:cNvSpPr txBox="1"/>
          <p:nvPr/>
        </p:nvSpPr>
        <p:spPr>
          <a:xfrm>
            <a:off x="2953512" y="3584448"/>
            <a:ext cx="1773936" cy="1929384"/>
          </a:xfrm>
          <a:prstGeom prst="rect">
            <a:avLst/>
          </a:prstGeom>
          <a:noFill/>
          <a:ln/>
        </p:spPr>
        <p:txBody>
          <a:bodyPr wrap="square" lIns="0" tIns="0" rIns="0" bIns="0" rtlCol="0" anchor="t"/>
          <a:lstStyle/>
          <a:p>
            <a:pPr indent="0" marL="0">
              <a:spcAft>
                <a:spcPts val="400"/>
              </a:spcAft>
              <a:buNone/>
            </a:pPr>
            <a:r>
              <a:rPr lang="en-US" sz="1500" b="1" dirty="0">
                <a:solidFill>
                  <a:srgbClr val="B91C1C"/>
                </a:solidFill>
                <a:latin typeface="Calibri" pitchFamily="34" charset="0"/>
                <a:ea typeface="Calibri" pitchFamily="34" charset="-122"/>
                <a:cs typeface="Calibri" pitchFamily="34" charset="-120"/>
              </a:rPr>
              <a:t>Insertion anomaly</a:t>
            </a:r>
            <a:endParaRPr lang="en-US" sz="1500" dirty="0"/>
          </a:p>
          <a:p>
            <a:pPr indent="0" marL="0">
              <a:spcAft>
                <a:spcPts val="300"/>
              </a:spcAft>
              <a:buNone/>
            </a:pPr>
            <a:r>
              <a:rPr lang="en-US" sz="1350" dirty="0">
                <a:solidFill>
                  <a:srgbClr val="374151"/>
                </a:solidFill>
                <a:latin typeface="Calibri" pitchFamily="34" charset="0"/>
                <a:ea typeface="Calibri" pitchFamily="34" charset="-122"/>
                <a:cs typeface="Calibri" pitchFamily="34" charset="-120"/>
              </a:rPr>
              <a:t>A new job cannot be recorded until a student applies (roll_no is part of the key).</a:t>
            </a:r>
            <a:endParaRPr lang="en-US" sz="1500" dirty="0"/>
          </a:p>
        </p:txBody>
      </p:sp>
      <p:sp>
        <p:nvSpPr>
          <p:cNvPr id="11" name="Shape 8"/>
          <p:cNvSpPr/>
          <p:nvPr/>
        </p:nvSpPr>
        <p:spPr>
          <a:xfrm>
            <a:off x="5029200" y="3474720"/>
            <a:ext cx="2103120" cy="2148840"/>
          </a:xfrm>
          <a:prstGeom prst="roundRect">
            <a:avLst>
              <a:gd name="adj" fmla="val 4348"/>
            </a:avLst>
          </a:prstGeom>
          <a:solidFill>
            <a:srgbClr val="FDECEA"/>
          </a:solidFill>
          <a:ln w="12700">
            <a:solidFill>
              <a:srgbClr val="F5C2BF"/>
            </a:solidFill>
            <a:prstDash val="solid"/>
          </a:ln>
        </p:spPr>
      </p:sp>
      <p:sp>
        <p:nvSpPr>
          <p:cNvPr id="12" name="Text 9"/>
          <p:cNvSpPr txBox="1"/>
          <p:nvPr/>
        </p:nvSpPr>
        <p:spPr>
          <a:xfrm>
            <a:off x="5193792" y="3584448"/>
            <a:ext cx="1773936" cy="1929384"/>
          </a:xfrm>
          <a:prstGeom prst="rect">
            <a:avLst/>
          </a:prstGeom>
          <a:noFill/>
          <a:ln/>
        </p:spPr>
        <p:txBody>
          <a:bodyPr wrap="square" lIns="0" tIns="0" rIns="0" bIns="0" rtlCol="0" anchor="t"/>
          <a:lstStyle/>
          <a:p>
            <a:pPr indent="0" marL="0">
              <a:spcAft>
                <a:spcPts val="400"/>
              </a:spcAft>
              <a:buNone/>
            </a:pPr>
            <a:r>
              <a:rPr lang="en-US" sz="1500" b="1" dirty="0">
                <a:solidFill>
                  <a:srgbClr val="B91C1C"/>
                </a:solidFill>
                <a:latin typeface="Calibri" pitchFamily="34" charset="0"/>
                <a:ea typeface="Calibri" pitchFamily="34" charset="-122"/>
                <a:cs typeface="Calibri" pitchFamily="34" charset="-120"/>
              </a:rPr>
              <a:t>Deletion anomaly</a:t>
            </a:r>
            <a:endParaRPr lang="en-US" sz="1500" dirty="0"/>
          </a:p>
          <a:p>
            <a:pPr indent="0" marL="0">
              <a:spcAft>
                <a:spcPts val="300"/>
              </a:spcAft>
              <a:buNone/>
            </a:pPr>
            <a:r>
              <a:rPr lang="en-US" sz="1350" dirty="0">
                <a:solidFill>
                  <a:srgbClr val="374151"/>
                </a:solidFill>
                <a:latin typeface="Calibri" pitchFamily="34" charset="0"/>
                <a:ea typeface="Calibri" pitchFamily="34" charset="-122"/>
                <a:cs typeface="Calibri" pitchFamily="34" charset="-120"/>
              </a:rPr>
              <a:t>Delete the only applicant and the job's pay, cut-off and rounds disappear too.</a:t>
            </a:r>
            <a:endParaRPr lang="en-US" sz="1500" dirty="0"/>
          </a:p>
        </p:txBody>
      </p:sp>
      <p:sp>
        <p:nvSpPr>
          <p:cNvPr id="13" name="Shape 10"/>
          <p:cNvSpPr/>
          <p:nvPr/>
        </p:nvSpPr>
        <p:spPr>
          <a:xfrm>
            <a:off x="7498080" y="1371600"/>
            <a:ext cx="4160520" cy="4617720"/>
          </a:xfrm>
          <a:prstGeom prst="roundRect">
            <a:avLst>
              <a:gd name="adj" fmla="val 2198"/>
            </a:avLst>
          </a:prstGeom>
          <a:solidFill>
            <a:srgbClr val="EEF0FF"/>
          </a:solidFill>
          <a:ln w="12700">
            <a:solidFill>
              <a:srgbClr val="EEF0FF"/>
            </a:solidFill>
            <a:prstDash val="solid"/>
          </a:ln>
        </p:spPr>
      </p:sp>
      <p:sp>
        <p:nvSpPr>
          <p:cNvPr id="14" name="Text 11"/>
          <p:cNvSpPr txBox="1"/>
          <p:nvPr/>
        </p:nvSpPr>
        <p:spPr>
          <a:xfrm>
            <a:off x="7772400" y="1554480"/>
            <a:ext cx="1828800" cy="914400"/>
          </a:xfrm>
          <a:prstGeom prst="rect">
            <a:avLst/>
          </a:prstGeom>
          <a:noFill/>
          <a:ln/>
        </p:spPr>
        <p:txBody>
          <a:bodyPr wrap="square" lIns="0" tIns="0" rIns="0" bIns="0" rtlCol="0" anchor="ctr"/>
          <a:lstStyle/>
          <a:p>
            <a:pPr indent="0" marL="0">
              <a:buNone/>
            </a:pPr>
            <a:r>
              <a:rPr lang="en-US" sz="6000" b="1" dirty="0">
                <a:solidFill>
                  <a:srgbClr val="4F46E5"/>
                </a:solidFill>
                <a:latin typeface="Cambria" pitchFamily="34" charset="0"/>
                <a:ea typeface="Cambria" pitchFamily="34" charset="-122"/>
                <a:cs typeface="Cambria" pitchFamily="34" charset="-120"/>
              </a:rPr>
              <a:t>15</a:t>
            </a:r>
            <a:endParaRPr lang="en-US" sz="6000" dirty="0"/>
          </a:p>
        </p:txBody>
      </p:sp>
      <p:sp>
        <p:nvSpPr>
          <p:cNvPr id="15" name="Text 12"/>
          <p:cNvSpPr txBox="1"/>
          <p:nvPr/>
        </p:nvSpPr>
        <p:spPr>
          <a:xfrm>
            <a:off x="7772400" y="2514600"/>
            <a:ext cx="3657600" cy="640080"/>
          </a:xfrm>
          <a:prstGeom prst="rect">
            <a:avLst/>
          </a:prstGeom>
          <a:noFill/>
          <a:ln/>
        </p:spPr>
        <p:txBody>
          <a:bodyPr wrap="square" lIns="0" tIns="0" rIns="0" bIns="0" rtlCol="0" anchor="t"/>
          <a:lstStyle/>
          <a:p>
            <a:pPr indent="0" marL="0">
              <a:buNone/>
            </a:pPr>
            <a:r>
              <a:rPr lang="en-US" sz="1500" b="1" dirty="0">
                <a:solidFill>
                  <a:srgbClr val="312E81"/>
                </a:solidFill>
              </a:rPr>
              <a:t>business rules, each enforced by the database, not by people</a:t>
            </a:r>
            <a:endParaRPr lang="en-US" sz="1500" dirty="0"/>
          </a:p>
        </p:txBody>
      </p:sp>
      <p:sp>
        <p:nvSpPr>
          <p:cNvPr id="16" name="Text 13"/>
          <p:cNvSpPr txBox="1"/>
          <p:nvPr/>
        </p:nvSpPr>
        <p:spPr>
          <a:xfrm>
            <a:off x="7772400" y="3291840"/>
            <a:ext cx="3703320" cy="25603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374151"/>
                </a:solidFill>
              </a:rPr>
              <a:t>Eligibility: program, CGPA cut-off, backlogs, deadline</a:t>
            </a:r>
            <a:endParaRPr lang="en-US" sz="1400" dirty="0"/>
          </a:p>
          <a:p>
            <a:pPr marL="342900" indent="-342900">
              <a:spcAft>
                <a:spcPts val="600"/>
              </a:spcAft>
              <a:buSzPct val="100000"/>
              <a:buChar char="•"/>
            </a:pPr>
            <a:r>
              <a:rPr lang="en-US" sz="1400" dirty="0">
                <a:solidFill>
                  <a:srgbClr val="374151"/>
                </a:solidFill>
              </a:rPr>
              <a:t>No overlapping interview slots</a:t>
            </a:r>
            <a:endParaRPr lang="en-US" sz="1400" dirty="0"/>
          </a:p>
          <a:p>
            <a:pPr marL="342900" indent="-342900">
              <a:spcAft>
                <a:spcPts val="600"/>
              </a:spcAft>
              <a:buSzPct val="100000"/>
              <a:buChar char="•"/>
            </a:pPr>
            <a:r>
              <a:rPr lang="en-US" sz="1400" dirty="0">
                <a:solidFill>
                  <a:srgbClr val="374151"/>
                </a:solidFill>
              </a:rPr>
              <a:t>One accepted offer per cycle, with automatic withdrawal elsewhere</a:t>
            </a:r>
            <a:endParaRPr lang="en-US" sz="1400" dirty="0"/>
          </a:p>
          <a:p>
            <a:pPr marL="342900" indent="-342900">
              <a:spcAft>
                <a:spcPts val="600"/>
              </a:spcAft>
              <a:buSzPct val="100000"/>
              <a:buChar char="•"/>
            </a:pPr>
            <a:r>
              <a:rPr lang="en-US" sz="1400" dirty="0">
                <a:solidFill>
                  <a:srgbClr val="374151"/>
                </a:solidFill>
              </a:rPr>
              <a:t>Placed status derived, never typed in</a:t>
            </a:r>
            <a:endParaRPr lang="en-US" sz="1400" dirty="0"/>
          </a:p>
          <a:p>
            <a:pPr marL="342900" indent="-342900">
              <a:spcAft>
                <a:spcPts val="600"/>
              </a:spcAft>
              <a:buSzPct val="100000"/>
              <a:buChar char="•"/>
            </a:pPr>
            <a:r>
              <a:rPr lang="en-US" sz="1400" dirty="0">
                <a:solidFill>
                  <a:srgbClr val="374151"/>
                </a:solidFill>
              </a:rPr>
              <a:t>A student holding an offer cannot be deleted</a:t>
            </a:r>
            <a:endParaRPr lang="en-US" sz="14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144000" cy="731520"/>
          </a:xfrm>
          <a:prstGeom prst="rect">
            <a:avLst/>
          </a:prstGeom>
          <a:noFill/>
          <a:ln/>
        </p:spPr>
        <p:txBody>
          <a:bodyPr wrap="square" lIns="0" tIns="0" rIns="0" bIns="0" rtlCol="0" anchor="ctr"/>
          <a:lstStyle/>
          <a:p>
            <a:pPr algn="l" indent="0" marL="0">
              <a:buNone/>
            </a:pPr>
            <a:r>
              <a:rPr lang="en-US" sz="3000" b="1" dirty="0">
                <a:solidFill>
                  <a:srgbClr val="111827"/>
                </a:solidFill>
                <a:latin typeface="Cambria" pitchFamily="34" charset="0"/>
                <a:ea typeface="Cambria" pitchFamily="34" charset="-122"/>
                <a:cs typeface="Cambria" pitchFamily="34" charset="-120"/>
              </a:rPr>
              <a:t>EER model (1/2): people, programs and sponsors</a:t>
            </a:r>
            <a:endParaRPr lang="en-US" sz="3000" dirty="0"/>
          </a:p>
        </p:txBody>
      </p:sp>
      <p:sp>
        <p:nvSpPr>
          <p:cNvPr id="3" name="speaker-chip"/>
          <p:cNvSpPr/>
          <p:nvPr/>
        </p:nvSpPr>
        <p:spPr>
          <a:xfrm>
            <a:off x="9921240" y="457200"/>
            <a:ext cx="1737360" cy="402336"/>
          </a:xfrm>
          <a:prstGeom prst="roundRect">
            <a:avLst>
              <a:gd name="adj" fmla="val 50000"/>
            </a:avLst>
          </a:prstGeom>
          <a:solidFill>
            <a:srgbClr val="EEF0FF"/>
          </a:solidFill>
          <a:ln w="12700">
            <a:solidFill>
              <a:srgbClr val="EEF0FF"/>
            </a:solidFill>
            <a:prstDash val="solid"/>
          </a:ln>
        </p:spPr>
      </p:sp>
      <p:sp>
        <p:nvSpPr>
          <p:cNvPr id="4" name="Text 2"/>
          <p:cNvSpPr txBox="1"/>
          <p:nvPr/>
        </p:nvSpPr>
        <p:spPr>
          <a:xfrm>
            <a:off x="9921240" y="457200"/>
            <a:ext cx="1737360" cy="402336"/>
          </a:xfrm>
          <a:prstGeom prst="rect">
            <a:avLst/>
          </a:prstGeom>
          <a:noFill/>
          <a:ln/>
        </p:spPr>
        <p:txBody>
          <a:bodyPr wrap="square" lIns="0" tIns="0" rIns="0" bIns="0" rtlCol="0" anchor="ctr"/>
          <a:lstStyle/>
          <a:p>
            <a:pPr algn="ctr" indent="0" marL="0">
              <a:buNone/>
            </a:pPr>
            <a:r>
              <a:rPr lang="en-US" sz="1200" b="1" dirty="0">
                <a:solidFill>
                  <a:srgbClr val="4F46E5"/>
                </a:solidFill>
              </a:rPr>
              <a:t>M1  </a:t>
            </a:r>
            <a:pPr algn="ctr" indent="0" marL="0">
              <a:buNone/>
            </a:pPr>
            <a:r>
              <a:rPr lang="en-US" sz="1200" dirty="0">
                <a:solidFill>
                  <a:srgbClr val="312E81"/>
                </a:solidFill>
              </a:rPr>
              <a:t>Ekta Sharma</a:t>
            </a:r>
            <a:endParaRPr lang="en-US" sz="1200" dirty="0"/>
          </a:p>
        </p:txBody>
      </p:sp>
      <p:sp>
        <p:nvSpPr>
          <p:cNvPr id="5" name="Shape 3"/>
          <p:cNvSpPr/>
          <p:nvPr/>
        </p:nvSpPr>
        <p:spPr>
          <a:xfrm>
            <a:off x="1243584" y="1197864"/>
            <a:ext cx="9720072" cy="5129784"/>
          </a:xfrm>
          <a:prstGeom prst="roundRect">
            <a:avLst>
              <a:gd name="adj" fmla="val 891"/>
            </a:avLst>
          </a:prstGeom>
          <a:solidFill>
            <a:srgbClr val="FFFFFF"/>
          </a:solidFill>
          <a:ln w="12700">
            <a:solidFill>
              <a:srgbClr val="E5E7EB"/>
            </a:solidFill>
            <a:prstDash val="solid"/>
          </a:ln>
        </p:spPr>
      </p:sp>
      <p:pic>
        <p:nvPicPr>
          <p:cNvPr id="6" name="Image 0" descr="C:\Users\bhavy\Downloads\DBMS-20261028T151751Z-1-001\DBMS\Project\deliverables\diagrams\eer_people.png">    </p:cNvPr>
          <p:cNvPicPr>
            <a:picLocks noChangeAspect="1"/>
          </p:cNvPicPr>
          <p:nvPr/>
        </p:nvPicPr>
        <p:blipFill>
          <a:blip r:embed="rId1"/>
          <a:stretch>
            <a:fillRect/>
          </a:stretch>
        </p:blipFill>
        <p:spPr>
          <a:xfrm>
            <a:off x="1280160" y="1234440"/>
            <a:ext cx="9646920" cy="5056632"/>
          </a:xfrm>
          <a:prstGeom prst="rect">
            <a:avLst/>
          </a:prstGeom>
        </p:spPr>
      </p:pic>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144000" cy="731520"/>
          </a:xfrm>
          <a:prstGeom prst="rect">
            <a:avLst/>
          </a:prstGeom>
          <a:noFill/>
          <a:ln/>
        </p:spPr>
        <p:txBody>
          <a:bodyPr wrap="square" lIns="0" tIns="0" rIns="0" bIns="0" rtlCol="0" anchor="ctr"/>
          <a:lstStyle/>
          <a:p>
            <a:pPr algn="l" indent="0" marL="0">
              <a:buNone/>
            </a:pPr>
            <a:r>
              <a:rPr lang="en-US" sz="3000" b="1" dirty="0">
                <a:solidFill>
                  <a:srgbClr val="111827"/>
                </a:solidFill>
                <a:latin typeface="Cambria" pitchFamily="34" charset="0"/>
                <a:ea typeface="Cambria" pitchFamily="34" charset="-122"/>
                <a:cs typeface="Cambria" pitchFamily="34" charset="-120"/>
              </a:rPr>
              <a:t>EER model (2/2): the recruitment pipeline</a:t>
            </a:r>
            <a:endParaRPr lang="en-US" sz="3000" dirty="0"/>
          </a:p>
        </p:txBody>
      </p:sp>
      <p:sp>
        <p:nvSpPr>
          <p:cNvPr id="3" name="speaker-chip"/>
          <p:cNvSpPr/>
          <p:nvPr/>
        </p:nvSpPr>
        <p:spPr>
          <a:xfrm>
            <a:off x="9921240" y="457200"/>
            <a:ext cx="1737360" cy="402336"/>
          </a:xfrm>
          <a:prstGeom prst="roundRect">
            <a:avLst>
              <a:gd name="adj" fmla="val 50000"/>
            </a:avLst>
          </a:prstGeom>
          <a:solidFill>
            <a:srgbClr val="EEF0FF"/>
          </a:solidFill>
          <a:ln w="12700">
            <a:solidFill>
              <a:srgbClr val="EEF0FF"/>
            </a:solidFill>
            <a:prstDash val="solid"/>
          </a:ln>
        </p:spPr>
      </p:sp>
      <p:sp>
        <p:nvSpPr>
          <p:cNvPr id="4" name="Text 2"/>
          <p:cNvSpPr txBox="1"/>
          <p:nvPr/>
        </p:nvSpPr>
        <p:spPr>
          <a:xfrm>
            <a:off x="9921240" y="457200"/>
            <a:ext cx="1737360" cy="402336"/>
          </a:xfrm>
          <a:prstGeom prst="rect">
            <a:avLst/>
          </a:prstGeom>
          <a:noFill/>
          <a:ln/>
        </p:spPr>
        <p:txBody>
          <a:bodyPr wrap="square" lIns="0" tIns="0" rIns="0" bIns="0" rtlCol="0" anchor="ctr"/>
          <a:lstStyle/>
          <a:p>
            <a:pPr algn="ctr" indent="0" marL="0">
              <a:buNone/>
            </a:pPr>
            <a:r>
              <a:rPr lang="en-US" sz="1200" b="1" dirty="0">
                <a:solidFill>
                  <a:srgbClr val="4F46E5"/>
                </a:solidFill>
              </a:rPr>
              <a:t>M1  </a:t>
            </a:r>
            <a:pPr algn="ctr" indent="0" marL="0">
              <a:buNone/>
            </a:pPr>
            <a:r>
              <a:rPr lang="en-US" sz="1200" dirty="0">
                <a:solidFill>
                  <a:srgbClr val="312E81"/>
                </a:solidFill>
              </a:rPr>
              <a:t>Ekta Sharma</a:t>
            </a:r>
            <a:endParaRPr lang="en-US" sz="1200" dirty="0"/>
          </a:p>
        </p:txBody>
      </p:sp>
      <p:sp>
        <p:nvSpPr>
          <p:cNvPr id="5" name="Shape 3"/>
          <p:cNvSpPr/>
          <p:nvPr/>
        </p:nvSpPr>
        <p:spPr>
          <a:xfrm>
            <a:off x="512064" y="1197864"/>
            <a:ext cx="8531352" cy="4718304"/>
          </a:xfrm>
          <a:prstGeom prst="roundRect">
            <a:avLst>
              <a:gd name="adj" fmla="val 969"/>
            </a:avLst>
          </a:prstGeom>
          <a:solidFill>
            <a:srgbClr val="FFFFFF"/>
          </a:solidFill>
          <a:ln w="12700">
            <a:solidFill>
              <a:srgbClr val="E5E7EB"/>
            </a:solidFill>
            <a:prstDash val="solid"/>
          </a:ln>
        </p:spPr>
      </p:sp>
      <p:pic>
        <p:nvPicPr>
          <p:cNvPr id="6" name="Image 0" descr="C:\Users\bhavy\Downloads\DBMS-20261028T151751Z-1-001\DBMS\Project\deliverables\diagrams\eer_pipeline.png">    </p:cNvPr>
          <p:cNvPicPr>
            <a:picLocks noChangeAspect="1"/>
          </p:cNvPicPr>
          <p:nvPr/>
        </p:nvPicPr>
        <p:blipFill>
          <a:blip r:embed="rId1"/>
          <a:stretch>
            <a:fillRect/>
          </a:stretch>
        </p:blipFill>
        <p:spPr>
          <a:xfrm>
            <a:off x="548640" y="1234440"/>
            <a:ext cx="8458200" cy="4645152"/>
          </a:xfrm>
          <a:prstGeom prst="rect">
            <a:avLst/>
          </a:prstGeom>
        </p:spPr>
      </p:pic>
      <p:sp>
        <p:nvSpPr>
          <p:cNvPr id="7" name="Shape 4"/>
          <p:cNvSpPr/>
          <p:nvPr/>
        </p:nvSpPr>
        <p:spPr>
          <a:xfrm>
            <a:off x="9235440" y="1234440"/>
            <a:ext cx="2423160" cy="1463040"/>
          </a:xfrm>
          <a:prstGeom prst="roundRect">
            <a:avLst>
              <a:gd name="adj" fmla="val 6250"/>
            </a:avLst>
          </a:prstGeom>
          <a:solidFill>
            <a:srgbClr val="F5F3FF"/>
          </a:solidFill>
          <a:ln w="12700">
            <a:solidFill>
              <a:srgbClr val="DDD6FE"/>
            </a:solidFill>
            <a:prstDash val="solid"/>
          </a:ln>
        </p:spPr>
      </p:sp>
      <p:sp>
        <p:nvSpPr>
          <p:cNvPr id="8" name="Text 5"/>
          <p:cNvSpPr txBox="1"/>
          <p:nvPr/>
        </p:nvSpPr>
        <p:spPr>
          <a:xfrm>
            <a:off x="9400032" y="1344168"/>
            <a:ext cx="2093976" cy="1243584"/>
          </a:xfrm>
          <a:prstGeom prst="rect">
            <a:avLst/>
          </a:prstGeom>
          <a:noFill/>
          <a:ln/>
        </p:spPr>
        <p:txBody>
          <a:bodyPr wrap="square" lIns="0" tIns="0" rIns="0" bIns="0" rtlCol="0" anchor="t"/>
          <a:lstStyle/>
          <a:p>
            <a:pPr indent="0" marL="0">
              <a:spcAft>
                <a:spcPts val="400"/>
              </a:spcAft>
              <a:buNone/>
            </a:pPr>
            <a:r>
              <a:rPr lang="en-US" sz="1400" b="1" dirty="0">
                <a:solidFill>
                  <a:srgbClr val="6D28D9"/>
                </a:solidFill>
                <a:latin typeface="Calibri" pitchFamily="34" charset="0"/>
                <a:ea typeface="Calibri" pitchFamily="34" charset="-122"/>
                <a:cs typeface="Calibri" pitchFamily="34" charset="-120"/>
              </a:rPr>
              <a:t>Aggregation</a:t>
            </a:r>
            <a:endParaRPr lang="en-US" sz="1400" dirty="0"/>
          </a:p>
          <a:p>
            <a:pPr indent="0" marL="0">
              <a:spcAft>
                <a:spcPts val="300"/>
              </a:spcAft>
              <a:buNone/>
            </a:pPr>
            <a:r>
              <a:rPr lang="en-US" sz="1250" dirty="0">
                <a:solidFill>
                  <a:srgbClr val="374151"/>
                </a:solidFill>
                <a:latin typeface="Calibri" pitchFamily="34" charset="0"/>
                <a:ea typeface="Calibri" pitchFamily="34" charset="-122"/>
                <a:cs typeface="Calibri" pitchFamily="34" charset="-120"/>
              </a:rPr>
              <a:t>APPLIES_TO is treated as an entity: interviews and offers attach to an application, not to a student.</a:t>
            </a:r>
            <a:endParaRPr lang="en-US" sz="1400" dirty="0"/>
          </a:p>
        </p:txBody>
      </p:sp>
      <p:sp>
        <p:nvSpPr>
          <p:cNvPr id="9" name="Shape 6"/>
          <p:cNvSpPr/>
          <p:nvPr/>
        </p:nvSpPr>
        <p:spPr>
          <a:xfrm>
            <a:off x="9235440" y="2825496"/>
            <a:ext cx="2423160" cy="1463040"/>
          </a:xfrm>
          <a:prstGeom prst="roundRect">
            <a:avLst>
              <a:gd name="adj" fmla="val 6250"/>
            </a:avLst>
          </a:prstGeom>
          <a:solidFill>
            <a:srgbClr val="F6F7FB"/>
          </a:solidFill>
          <a:ln w="12700">
            <a:solidFill>
              <a:srgbClr val="E5E7EB"/>
            </a:solidFill>
            <a:prstDash val="solid"/>
          </a:ln>
        </p:spPr>
      </p:sp>
      <p:sp>
        <p:nvSpPr>
          <p:cNvPr id="10" name="Text 7"/>
          <p:cNvSpPr txBox="1"/>
          <p:nvPr/>
        </p:nvSpPr>
        <p:spPr>
          <a:xfrm>
            <a:off x="9400032" y="2935224"/>
            <a:ext cx="2093976" cy="1243584"/>
          </a:xfrm>
          <a:prstGeom prst="rect">
            <a:avLst/>
          </a:prstGeom>
          <a:noFill/>
          <a:ln/>
        </p:spPr>
        <p:txBody>
          <a:bodyPr wrap="square" lIns="0" tIns="0" rIns="0" bIns="0" rtlCol="0" anchor="t"/>
          <a:lstStyle/>
          <a:p>
            <a:pPr indent="0" marL="0">
              <a:spcAft>
                <a:spcPts val="400"/>
              </a:spcAft>
              <a:buNone/>
            </a:pPr>
            <a:r>
              <a:rPr lang="en-US" sz="1400" b="1" dirty="0">
                <a:solidFill>
                  <a:srgbClr val="1F2937"/>
                </a:solidFill>
                <a:latin typeface="Calibri" pitchFamily="34" charset="0"/>
                <a:ea typeface="Calibri" pitchFamily="34" charset="-122"/>
                <a:cs typeface="Calibri" pitchFamily="34" charset="-120"/>
              </a:rPr>
              <a:t>Weak entity</a:t>
            </a:r>
            <a:endParaRPr lang="en-US" sz="1400" dirty="0"/>
          </a:p>
          <a:p>
            <a:pPr indent="0" marL="0">
              <a:spcAft>
                <a:spcPts val="300"/>
              </a:spcAft>
              <a:buNone/>
            </a:pPr>
            <a:r>
              <a:rPr lang="en-US" sz="1250" dirty="0">
                <a:solidFill>
                  <a:srgbClr val="374151"/>
                </a:solidFill>
                <a:latin typeface="Calibri" pitchFamily="34" charset="0"/>
                <a:ea typeface="Calibri" pitchFamily="34" charset="-122"/>
                <a:cs typeface="Calibri" pitchFamily="34" charset="-120"/>
              </a:rPr>
              <a:t>INTERVIEW_ROUND is identified by (job_id, round_no) through HAS_ROUND.</a:t>
            </a:r>
            <a:endParaRPr lang="en-US" sz="1400" dirty="0"/>
          </a:p>
        </p:txBody>
      </p:sp>
      <p:sp>
        <p:nvSpPr>
          <p:cNvPr id="11" name="Shape 8"/>
          <p:cNvSpPr/>
          <p:nvPr/>
        </p:nvSpPr>
        <p:spPr>
          <a:xfrm>
            <a:off x="9235440" y="4416552"/>
            <a:ext cx="2423160" cy="1463040"/>
          </a:xfrm>
          <a:prstGeom prst="roundRect">
            <a:avLst>
              <a:gd name="adj" fmla="val 6250"/>
            </a:avLst>
          </a:prstGeom>
          <a:solidFill>
            <a:srgbClr val="F6F7FB"/>
          </a:solidFill>
          <a:ln w="12700">
            <a:solidFill>
              <a:srgbClr val="E5E7EB"/>
            </a:solidFill>
            <a:prstDash val="solid"/>
          </a:ln>
        </p:spPr>
      </p:sp>
      <p:sp>
        <p:nvSpPr>
          <p:cNvPr id="12" name="Text 9"/>
          <p:cNvSpPr txBox="1"/>
          <p:nvPr/>
        </p:nvSpPr>
        <p:spPr>
          <a:xfrm>
            <a:off x="9400032" y="4526280"/>
            <a:ext cx="2093976" cy="1243584"/>
          </a:xfrm>
          <a:prstGeom prst="rect">
            <a:avLst/>
          </a:prstGeom>
          <a:noFill/>
          <a:ln/>
        </p:spPr>
        <p:txBody>
          <a:bodyPr wrap="square" lIns="0" tIns="0" rIns="0" bIns="0" rtlCol="0" anchor="t"/>
          <a:lstStyle/>
          <a:p>
            <a:pPr indent="0" marL="0">
              <a:spcAft>
                <a:spcPts val="400"/>
              </a:spcAft>
              <a:buNone/>
            </a:pPr>
            <a:r>
              <a:rPr lang="en-US" sz="1400" b="1" dirty="0">
                <a:solidFill>
                  <a:srgbClr val="1F2937"/>
                </a:solidFill>
                <a:latin typeface="Calibri" pitchFamily="34" charset="0"/>
                <a:ea typeface="Calibri" pitchFamily="34" charset="-122"/>
                <a:cs typeface="Calibri" pitchFamily="34" charset="-120"/>
              </a:rPr>
              <a:t>Disjoint &amp; total</a:t>
            </a:r>
            <a:endParaRPr lang="en-US" sz="1400" dirty="0"/>
          </a:p>
          <a:p>
            <a:pPr indent="0" marL="0">
              <a:spcAft>
                <a:spcPts val="300"/>
              </a:spcAft>
              <a:buNone/>
            </a:pPr>
            <a:r>
              <a:rPr lang="en-US" sz="1250" dirty="0">
                <a:solidFill>
                  <a:srgbClr val="374151"/>
                </a:solidFill>
                <a:latin typeface="Calibri" pitchFamily="34" charset="0"/>
                <a:ea typeface="Calibri" pitchFamily="34" charset="-122"/>
                <a:cs typeface="Calibri" pitchFamily="34" charset="-120"/>
              </a:rPr>
              <a:t>Every job is exactly one of internship or full-time ('d', double line).</a:t>
            </a:r>
            <a:endParaRPr lang="en-US" sz="14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144000" cy="731520"/>
          </a:xfrm>
          <a:prstGeom prst="rect">
            <a:avLst/>
          </a:prstGeom>
          <a:noFill/>
          <a:ln/>
        </p:spPr>
        <p:txBody>
          <a:bodyPr wrap="square" lIns="0" tIns="0" rIns="0" bIns="0" rtlCol="0" anchor="ctr"/>
          <a:lstStyle/>
          <a:p>
            <a:pPr algn="l" indent="0" marL="0">
              <a:buNone/>
            </a:pPr>
            <a:r>
              <a:rPr lang="en-US" sz="3000" b="1" dirty="0">
                <a:solidFill>
                  <a:srgbClr val="111827"/>
                </a:solidFill>
                <a:latin typeface="Cambria" pitchFamily="34" charset="0"/>
                <a:ea typeface="Cambria" pitchFamily="34" charset="-122"/>
                <a:cs typeface="Cambria" pitchFamily="34" charset="-120"/>
              </a:rPr>
              <a:t>From EER to 22 relations, and their keys</a:t>
            </a:r>
            <a:endParaRPr lang="en-US" sz="3000" dirty="0"/>
          </a:p>
        </p:txBody>
      </p:sp>
      <p:sp>
        <p:nvSpPr>
          <p:cNvPr id="3" name="speaker-chip"/>
          <p:cNvSpPr/>
          <p:nvPr/>
        </p:nvSpPr>
        <p:spPr>
          <a:xfrm>
            <a:off x="9921240" y="457200"/>
            <a:ext cx="1737360" cy="402336"/>
          </a:xfrm>
          <a:prstGeom prst="roundRect">
            <a:avLst>
              <a:gd name="adj" fmla="val 50000"/>
            </a:avLst>
          </a:prstGeom>
          <a:solidFill>
            <a:srgbClr val="EEF0FF"/>
          </a:solidFill>
          <a:ln w="12700">
            <a:solidFill>
              <a:srgbClr val="EEF0FF"/>
            </a:solidFill>
            <a:prstDash val="solid"/>
          </a:ln>
        </p:spPr>
      </p:sp>
      <p:sp>
        <p:nvSpPr>
          <p:cNvPr id="4" name="Text 2"/>
          <p:cNvSpPr txBox="1"/>
          <p:nvPr/>
        </p:nvSpPr>
        <p:spPr>
          <a:xfrm>
            <a:off x="9921240" y="457200"/>
            <a:ext cx="1737360" cy="402336"/>
          </a:xfrm>
          <a:prstGeom prst="rect">
            <a:avLst/>
          </a:prstGeom>
          <a:noFill/>
          <a:ln/>
        </p:spPr>
        <p:txBody>
          <a:bodyPr wrap="square" lIns="0" tIns="0" rIns="0" bIns="0" rtlCol="0" anchor="ctr"/>
          <a:lstStyle/>
          <a:p>
            <a:pPr algn="ctr" indent="0" marL="0">
              <a:buNone/>
            </a:pPr>
            <a:r>
              <a:rPr lang="en-US" sz="1200" b="1" dirty="0">
                <a:solidFill>
                  <a:srgbClr val="4F46E5"/>
                </a:solidFill>
              </a:rPr>
              <a:t>M2  </a:t>
            </a:r>
            <a:pPr algn="ctr" indent="0" marL="0">
              <a:buNone/>
            </a:pPr>
            <a:r>
              <a:rPr lang="en-US" sz="1200" dirty="0">
                <a:solidFill>
                  <a:srgbClr val="312E81"/>
                </a:solidFill>
              </a:rPr>
              <a:t>[Member 2]</a:t>
            </a:r>
            <a:endParaRPr lang="en-US" sz="1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6675120" cy="914400"/>
        </p:xfrm>
        <a:graphic>
          <a:graphicData uri="http://schemas.openxmlformats.org/drawingml/2006/table">
            <a:tbl>
              <a:tblPr/>
              <a:tblGrid>
                <a:gridCol w="548640"/>
                <a:gridCol w="2926080"/>
                <a:gridCol w="3200400"/>
              </a:tblGrid>
              <a:tr h="384048">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Step</a:t>
                      </a:r>
                      <a:endParaRPr lang="en-US" sz="1250" dirty="0">
                        <a:latin typeface="Calibri" charset="0"/>
                        <a:ea typeface="Calibri" charset="0"/>
                        <a:cs typeface="Calibri"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4F46E5"/>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Mapping rule</a:t>
                      </a:r>
                      <a:endParaRPr lang="en-US" sz="1250" dirty="0">
                        <a:latin typeface="Calibri" charset="0"/>
                        <a:ea typeface="Calibri" charset="0"/>
                        <a:cs typeface="Calibri"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4F46E5"/>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Applied to</a:t>
                      </a:r>
                      <a:endParaRPr lang="en-US" sz="1250" dirty="0">
                        <a:latin typeface="Calibri" charset="0"/>
                        <a:ea typeface="Calibri" charset="0"/>
                        <a:cs typeface="Calibri"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4F46E5"/>
                    </a:solidFill>
                  </a:tcPr>
                </a:tc>
              </a:tr>
              <a:tr h="384048">
                <a:tc>
                  <a:txBody>
                    <a:bodyPr/>
                    <a:lstStyle/>
                    <a:p>
                      <a:pPr indent="0" marL="0">
                        <a:buNone/>
                      </a:pPr>
                      <a:r>
                        <a:rPr lang="en-US" sz="1250" dirty="0">
                          <a:solidFill>
                            <a:srgbClr val="374151"/>
                          </a:solidFill>
                          <a:latin typeface="Calibri" pitchFamily="34" charset="0"/>
                          <a:ea typeface="Calibri" pitchFamily="34" charset="-122"/>
                          <a:cs typeface="Calibri" pitchFamily="34" charset="-120"/>
                        </a:rPr>
                        <a:t>1</a:t>
                      </a:r>
                      <a:endParaRPr lang="en-US" sz="1250" dirty="0">
                        <a:latin typeface="Calibri" charset="0"/>
                        <a:ea typeface="Calibri" charset="0"/>
                        <a:cs typeface="Calibri"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250" dirty="0">
                          <a:solidFill>
                            <a:srgbClr val="374151"/>
                          </a:solidFill>
                          <a:latin typeface="Calibri" pitchFamily="34" charset="0"/>
                          <a:ea typeface="Calibri" pitchFamily="34" charset="-122"/>
                          <a:cs typeface="Calibri" pitchFamily="34" charset="-120"/>
                        </a:rPr>
                        <a:t>Strong entity → table</a:t>
                      </a:r>
                      <a:endParaRPr lang="en-US" sz="1250" dirty="0">
                        <a:latin typeface="Calibri" charset="0"/>
                        <a:ea typeface="Calibri" charset="0"/>
                        <a:cs typeface="Calibri"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250" dirty="0">
                          <a:solidFill>
                            <a:srgbClr val="374151"/>
                          </a:solidFill>
                          <a:latin typeface="Calibri" pitchFamily="34" charset="0"/>
                          <a:ea typeface="Calibri" pitchFamily="34" charset="-122"/>
                          <a:cs typeface="Calibri" pitchFamily="34" charset="-120"/>
                        </a:rPr>
                        <a:t>program, person, company, job_role …</a:t>
                      </a:r>
                      <a:endParaRPr lang="en-US" sz="1250" dirty="0">
                        <a:latin typeface="Calibri" charset="0"/>
                        <a:ea typeface="Calibri" charset="0"/>
                        <a:cs typeface="Calibri"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84048">
                <a:tc>
                  <a:txBody>
                    <a:bodyPr/>
                    <a:lstStyle/>
                    <a:p>
                      <a:pPr indent="0" marL="0">
                        <a:buNone/>
                      </a:pPr>
                      <a:r>
                        <a:rPr lang="en-US" sz="1250" dirty="0">
                          <a:solidFill>
                            <a:srgbClr val="374151"/>
                          </a:solidFill>
                          <a:latin typeface="Calibri" pitchFamily="34" charset="0"/>
                          <a:ea typeface="Calibri" pitchFamily="34" charset="-122"/>
                          <a:cs typeface="Calibri" pitchFamily="34" charset="-120"/>
                        </a:rPr>
                        <a:t>2</a:t>
                      </a:r>
                      <a:endParaRPr lang="en-US" sz="1250" dirty="0">
                        <a:latin typeface="Calibri" charset="0"/>
                        <a:ea typeface="Calibri" charset="0"/>
                        <a:cs typeface="Calibri"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6F7FB"/>
                    </a:solidFill>
                  </a:tcPr>
                </a:tc>
                <a:tc>
                  <a:txBody>
                    <a:bodyPr/>
                    <a:lstStyle/>
                    <a:p>
                      <a:pPr indent="0" marL="0">
                        <a:buNone/>
                      </a:pPr>
                      <a:r>
                        <a:rPr lang="en-US" sz="1250" dirty="0">
                          <a:solidFill>
                            <a:srgbClr val="374151"/>
                          </a:solidFill>
                          <a:latin typeface="Calibri" pitchFamily="34" charset="0"/>
                          <a:ea typeface="Calibri" pitchFamily="34" charset="-122"/>
                          <a:cs typeface="Calibri" pitchFamily="34" charset="-120"/>
                        </a:rPr>
                        <a:t>Weak entity → PK = owner PK + partial key</a:t>
                      </a:r>
                      <a:endParaRPr lang="en-US" sz="1250" dirty="0">
                        <a:latin typeface="Calibri" charset="0"/>
                        <a:ea typeface="Calibri" charset="0"/>
                        <a:cs typeface="Calibri"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6F7FB"/>
                    </a:solidFill>
                  </a:tcPr>
                </a:tc>
                <a:tc>
                  <a:txBody>
                    <a:bodyPr/>
                    <a:lstStyle/>
                    <a:p>
                      <a:pPr indent="0" marL="0">
                        <a:buNone/>
                      </a:pPr>
                      <a:r>
                        <a:rPr lang="en-US" sz="1250" dirty="0">
                          <a:solidFill>
                            <a:srgbClr val="374151"/>
                          </a:solidFill>
                          <a:latin typeface="Calibri" pitchFamily="34" charset="0"/>
                          <a:ea typeface="Calibri" pitchFamily="34" charset="-122"/>
                          <a:cs typeface="Calibri" pitchFamily="34" charset="-120"/>
                        </a:rPr>
                        <a:t>interview_round (job_id, round_no)</a:t>
                      </a:r>
                      <a:endParaRPr lang="en-US" sz="1250" dirty="0">
                        <a:latin typeface="Calibri" charset="0"/>
                        <a:ea typeface="Calibri" charset="0"/>
                        <a:cs typeface="Calibri"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6F7FB"/>
                    </a:solidFill>
                  </a:tcPr>
                </a:tc>
              </a:tr>
              <a:tr h="384048">
                <a:tc>
                  <a:txBody>
                    <a:bodyPr/>
                    <a:lstStyle/>
                    <a:p>
                      <a:pPr indent="0" marL="0">
                        <a:buNone/>
                      </a:pPr>
                      <a:r>
                        <a:rPr lang="en-US" sz="1250" dirty="0">
                          <a:solidFill>
                            <a:srgbClr val="374151"/>
                          </a:solidFill>
                          <a:latin typeface="Calibri" pitchFamily="34" charset="0"/>
                          <a:ea typeface="Calibri" pitchFamily="34" charset="-122"/>
                          <a:cs typeface="Calibri" pitchFamily="34" charset="-120"/>
                        </a:rPr>
                        <a:t>3–4</a:t>
                      </a:r>
                      <a:endParaRPr lang="en-US" sz="1250" dirty="0">
                        <a:latin typeface="Calibri" charset="0"/>
                        <a:ea typeface="Calibri" charset="0"/>
                        <a:cs typeface="Calibri"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250" dirty="0">
                          <a:solidFill>
                            <a:srgbClr val="374151"/>
                          </a:solidFill>
                          <a:latin typeface="Calibri" pitchFamily="34" charset="0"/>
                          <a:ea typeface="Calibri" pitchFamily="34" charset="-122"/>
                          <a:cs typeface="Calibri" pitchFamily="34" charset="-120"/>
                        </a:rPr>
                        <a:t>1:1 / 1:N → foreign key on the N side</a:t>
                      </a:r>
                      <a:endParaRPr lang="en-US" sz="1250" dirty="0">
                        <a:latin typeface="Calibri" charset="0"/>
                        <a:ea typeface="Calibri" charset="0"/>
                        <a:cs typeface="Calibri"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250" dirty="0">
                          <a:solidFill>
                            <a:srgbClr val="374151"/>
                          </a:solidFill>
                          <a:latin typeface="Calibri" pitchFamily="34" charset="0"/>
                          <a:ea typeface="Calibri" pitchFamily="34" charset="-122"/>
                          <a:cs typeface="Calibri" pitchFamily="34" charset="-120"/>
                        </a:rPr>
                        <a:t>student.program_id, offer → application</a:t>
                      </a:r>
                      <a:endParaRPr lang="en-US" sz="1250" dirty="0">
                        <a:latin typeface="Calibri" charset="0"/>
                        <a:ea typeface="Calibri" charset="0"/>
                        <a:cs typeface="Calibri"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84048">
                <a:tc>
                  <a:txBody>
                    <a:bodyPr/>
                    <a:lstStyle/>
                    <a:p>
                      <a:pPr indent="0" marL="0">
                        <a:buNone/>
                      </a:pPr>
                      <a:r>
                        <a:rPr lang="en-US" sz="1250" dirty="0">
                          <a:solidFill>
                            <a:srgbClr val="374151"/>
                          </a:solidFill>
                          <a:latin typeface="Calibri" pitchFamily="34" charset="0"/>
                          <a:ea typeface="Calibri" pitchFamily="34" charset="-122"/>
                          <a:cs typeface="Calibri" pitchFamily="34" charset="-120"/>
                        </a:rPr>
                        <a:t>5</a:t>
                      </a:r>
                      <a:endParaRPr lang="en-US" sz="1250" dirty="0">
                        <a:latin typeface="Calibri" charset="0"/>
                        <a:ea typeface="Calibri" charset="0"/>
                        <a:cs typeface="Calibri"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6F7FB"/>
                    </a:solidFill>
                  </a:tcPr>
                </a:tc>
                <a:tc>
                  <a:txBody>
                    <a:bodyPr/>
                    <a:lstStyle/>
                    <a:p>
                      <a:pPr indent="0" marL="0">
                        <a:buNone/>
                      </a:pPr>
                      <a:r>
                        <a:rPr lang="en-US" sz="1250" dirty="0">
                          <a:solidFill>
                            <a:srgbClr val="374151"/>
                          </a:solidFill>
                          <a:latin typeface="Calibri" pitchFamily="34" charset="0"/>
                          <a:ea typeface="Calibri" pitchFamily="34" charset="-122"/>
                          <a:cs typeface="Calibri" pitchFamily="34" charset="-120"/>
                        </a:rPr>
                        <a:t>M:N → bridge table</a:t>
                      </a:r>
                      <a:endParaRPr lang="en-US" sz="1250" dirty="0">
                        <a:latin typeface="Calibri" charset="0"/>
                        <a:ea typeface="Calibri" charset="0"/>
                        <a:cs typeface="Calibri"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6F7FB"/>
                    </a:solidFill>
                  </a:tcPr>
                </a:tc>
                <a:tc>
                  <a:txBody>
                    <a:bodyPr/>
                    <a:lstStyle/>
                    <a:p>
                      <a:pPr indent="0" marL="0">
                        <a:buNone/>
                      </a:pPr>
                      <a:r>
                        <a:rPr lang="en-US" sz="1250" dirty="0">
                          <a:solidFill>
                            <a:srgbClr val="374151"/>
                          </a:solidFill>
                          <a:latin typeface="Calibri" pitchFamily="34" charset="0"/>
                          <a:ea typeface="Calibri" pitchFamily="34" charset="-122"/>
                          <a:cs typeface="Calibri" pitchFamily="34" charset="-120"/>
                        </a:rPr>
                        <a:t>application, eligibility, interview</a:t>
                      </a:r>
                      <a:endParaRPr lang="en-US" sz="1250" dirty="0">
                        <a:latin typeface="Calibri" charset="0"/>
                        <a:ea typeface="Calibri" charset="0"/>
                        <a:cs typeface="Calibri"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6F7FB"/>
                    </a:solidFill>
                  </a:tcPr>
                </a:tc>
              </a:tr>
              <a:tr h="384048">
                <a:tc>
                  <a:txBody>
                    <a:bodyPr/>
                    <a:lstStyle/>
                    <a:p>
                      <a:pPr indent="0" marL="0">
                        <a:buNone/>
                      </a:pPr>
                      <a:r>
                        <a:rPr lang="en-US" sz="1250" dirty="0">
                          <a:solidFill>
                            <a:srgbClr val="374151"/>
                          </a:solidFill>
                          <a:latin typeface="Calibri" pitchFamily="34" charset="0"/>
                          <a:ea typeface="Calibri" pitchFamily="34" charset="-122"/>
                          <a:cs typeface="Calibri" pitchFamily="34" charset="-120"/>
                        </a:rPr>
                        <a:t>6</a:t>
                      </a:r>
                      <a:endParaRPr lang="en-US" sz="1250" dirty="0">
                        <a:latin typeface="Calibri" charset="0"/>
                        <a:ea typeface="Calibri" charset="0"/>
                        <a:cs typeface="Calibri"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250" dirty="0">
                          <a:solidFill>
                            <a:srgbClr val="374151"/>
                          </a:solidFill>
                          <a:latin typeface="Calibri" pitchFamily="34" charset="0"/>
                          <a:ea typeface="Calibri" pitchFamily="34" charset="-122"/>
                          <a:cs typeface="Calibri" pitchFamily="34" charset="-120"/>
                        </a:rPr>
                        <a:t>Multi-valued attribute → own table</a:t>
                      </a:r>
                      <a:endParaRPr lang="en-US" sz="1250" dirty="0">
                        <a:latin typeface="Calibri" charset="0"/>
                        <a:ea typeface="Calibri" charset="0"/>
                        <a:cs typeface="Calibri"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250" dirty="0">
                          <a:solidFill>
                            <a:srgbClr val="374151"/>
                          </a:solidFill>
                          <a:latin typeface="Calibri" pitchFamily="34" charset="0"/>
                          <a:ea typeface="Calibri" pitchFamily="34" charset="-122"/>
                          <a:cs typeface="Calibri" pitchFamily="34" charset="-120"/>
                        </a:rPr>
                        <a:t>student_skill</a:t>
                      </a:r>
                      <a:endParaRPr lang="en-US" sz="1250" dirty="0">
                        <a:latin typeface="Calibri" charset="0"/>
                        <a:ea typeface="Calibri" charset="0"/>
                        <a:cs typeface="Calibri"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84048">
                <a:tc>
                  <a:txBody>
                    <a:bodyPr/>
                    <a:lstStyle/>
                    <a:p>
                      <a:pPr indent="0" marL="0">
                        <a:buNone/>
                      </a:pPr>
                      <a:r>
                        <a:rPr lang="en-US" sz="1250" dirty="0">
                          <a:solidFill>
                            <a:srgbClr val="374151"/>
                          </a:solidFill>
                          <a:latin typeface="Calibri" pitchFamily="34" charset="0"/>
                          <a:ea typeface="Calibri" pitchFamily="34" charset="-122"/>
                          <a:cs typeface="Calibri" pitchFamily="34" charset="-120"/>
                        </a:rPr>
                        <a:t>8A</a:t>
                      </a:r>
                      <a:endParaRPr lang="en-US" sz="1250" dirty="0">
                        <a:latin typeface="Calibri" charset="0"/>
                        <a:ea typeface="Calibri" charset="0"/>
                        <a:cs typeface="Calibri"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6F7FB"/>
                    </a:solidFill>
                  </a:tcPr>
                </a:tc>
                <a:tc>
                  <a:txBody>
                    <a:bodyPr/>
                    <a:lstStyle/>
                    <a:p>
                      <a:pPr indent="0" marL="0">
                        <a:buNone/>
                      </a:pPr>
                      <a:r>
                        <a:rPr lang="en-US" sz="1250" dirty="0">
                          <a:solidFill>
                            <a:srgbClr val="374151"/>
                          </a:solidFill>
                          <a:latin typeface="Calibri" pitchFamily="34" charset="0"/>
                          <a:ea typeface="Calibri" pitchFamily="34" charset="-122"/>
                          <a:cs typeface="Calibri" pitchFamily="34" charset="-120"/>
                        </a:rPr>
                        <a:t>Specialization → table per subclass</a:t>
                      </a:r>
                      <a:endParaRPr lang="en-US" sz="1250" dirty="0">
                        <a:latin typeface="Calibri" charset="0"/>
                        <a:ea typeface="Calibri" charset="0"/>
                        <a:cs typeface="Calibri"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6F7FB"/>
                    </a:solidFill>
                  </a:tcPr>
                </a:tc>
                <a:tc>
                  <a:txBody>
                    <a:bodyPr/>
                    <a:lstStyle/>
                    <a:p>
                      <a:pPr indent="0" marL="0">
                        <a:buNone/>
                      </a:pPr>
                      <a:r>
                        <a:rPr lang="en-US" sz="1250" dirty="0">
                          <a:solidFill>
                            <a:srgbClr val="374151"/>
                          </a:solidFill>
                          <a:latin typeface="Calibri" pitchFamily="34" charset="0"/>
                          <a:ea typeface="Calibri" pitchFamily="34" charset="-122"/>
                          <a:cs typeface="Calibri" pitchFamily="34" charset="-120"/>
                        </a:rPr>
                        <a:t>student, recruiter; internship_role …</a:t>
                      </a:r>
                      <a:endParaRPr lang="en-US" sz="1250" dirty="0">
                        <a:latin typeface="Calibri" charset="0"/>
                        <a:ea typeface="Calibri" charset="0"/>
                        <a:cs typeface="Calibri"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6F7FB"/>
                    </a:solidFill>
                  </a:tcPr>
                </a:tc>
              </a:tr>
              <a:tr h="384048">
                <a:tc>
                  <a:txBody>
                    <a:bodyPr/>
                    <a:lstStyle/>
                    <a:p>
                      <a:pPr indent="0" marL="0">
                        <a:buNone/>
                      </a:pPr>
                      <a:r>
                        <a:rPr lang="en-US" sz="1250" dirty="0">
                          <a:solidFill>
                            <a:srgbClr val="374151"/>
                          </a:solidFill>
                          <a:latin typeface="Calibri" pitchFamily="34" charset="0"/>
                          <a:ea typeface="Calibri" pitchFamily="34" charset="-122"/>
                          <a:cs typeface="Calibri" pitchFamily="34" charset="-120"/>
                        </a:rPr>
                        <a:t>9</a:t>
                      </a:r>
                      <a:endParaRPr lang="en-US" sz="1250" dirty="0">
                        <a:latin typeface="Calibri" charset="0"/>
                        <a:ea typeface="Calibri" charset="0"/>
                        <a:cs typeface="Calibri"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250" dirty="0">
                          <a:solidFill>
                            <a:srgbClr val="374151"/>
                          </a:solidFill>
                          <a:latin typeface="Calibri" pitchFamily="34" charset="0"/>
                          <a:ea typeface="Calibri" pitchFamily="34" charset="-122"/>
                          <a:cs typeface="Calibri" pitchFamily="34" charset="-120"/>
                        </a:rPr>
                        <a:t>Category → surrogate key + FK in members</a:t>
                      </a:r>
                      <a:endParaRPr lang="en-US" sz="1250" dirty="0">
                        <a:latin typeface="Calibri" charset="0"/>
                        <a:ea typeface="Calibri" charset="0"/>
                        <a:cs typeface="Calibri"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250" dirty="0">
                          <a:solidFill>
                            <a:srgbClr val="374151"/>
                          </a:solidFill>
                          <a:latin typeface="Calibri" pitchFamily="34" charset="0"/>
                          <a:ea typeface="Calibri" pitchFamily="34" charset="-122"/>
                          <a:cs typeface="Calibri" pitchFamily="34" charset="-120"/>
                        </a:rPr>
                        <a:t>sponsor ← company, alumnus</a:t>
                      </a:r>
                      <a:endParaRPr lang="en-US" sz="1250" dirty="0">
                        <a:latin typeface="Calibri" charset="0"/>
                        <a:ea typeface="Calibri" charset="0"/>
                        <a:cs typeface="Calibri"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bl>
          </a:graphicData>
        </a:graphic>
      </p:graphicFrame>
      <p:sp>
        <p:nvSpPr>
          <p:cNvPr id="6" name="Shape 3"/>
          <p:cNvSpPr/>
          <p:nvPr/>
        </p:nvSpPr>
        <p:spPr>
          <a:xfrm>
            <a:off x="7543800" y="1371600"/>
            <a:ext cx="4114800" cy="1078992"/>
          </a:xfrm>
          <a:prstGeom prst="roundRect">
            <a:avLst>
              <a:gd name="adj" fmla="val 8475"/>
            </a:avLst>
          </a:prstGeom>
          <a:solidFill>
            <a:srgbClr val="F6F7FB"/>
          </a:solidFill>
          <a:ln w="12700">
            <a:solidFill>
              <a:srgbClr val="E5E7EB"/>
            </a:solidFill>
            <a:prstDash val="solid"/>
          </a:ln>
        </p:spPr>
      </p:sp>
      <p:sp>
        <p:nvSpPr>
          <p:cNvPr id="7" name="Text 4"/>
          <p:cNvSpPr txBox="1"/>
          <p:nvPr/>
        </p:nvSpPr>
        <p:spPr>
          <a:xfrm>
            <a:off x="7708392" y="1481328"/>
            <a:ext cx="3785616" cy="859536"/>
          </a:xfrm>
          <a:prstGeom prst="rect">
            <a:avLst/>
          </a:prstGeom>
          <a:noFill/>
          <a:ln/>
        </p:spPr>
        <p:txBody>
          <a:bodyPr wrap="square" lIns="0" tIns="0" rIns="0" bIns="0" rtlCol="0" anchor="t"/>
          <a:lstStyle/>
          <a:p>
            <a:pPr indent="0" marL="0">
              <a:spcAft>
                <a:spcPts val="400"/>
              </a:spcAft>
              <a:buNone/>
            </a:pPr>
            <a:r>
              <a:rPr lang="en-US" sz="1400" b="1" dirty="0">
                <a:solidFill>
                  <a:srgbClr val="4F46E5"/>
                </a:solidFill>
                <a:latin typeface="Calibri" pitchFamily="34" charset="0"/>
                <a:ea typeface="Calibri" pitchFamily="34" charset="-122"/>
                <a:cs typeface="Calibri" pitchFamily="34" charset="-120"/>
              </a:rPr>
              <a:t>Super key</a:t>
            </a:r>
            <a:endParaRPr lang="en-US" sz="1400" dirty="0"/>
          </a:p>
          <a:p>
            <a:pPr indent="0" marL="0">
              <a:spcAft>
                <a:spcPts val="300"/>
              </a:spcAft>
              <a:buNone/>
            </a:pPr>
            <a:r>
              <a:rPr lang="en-US" sz="1250" dirty="0">
                <a:solidFill>
                  <a:srgbClr val="374151"/>
                </a:solidFill>
                <a:latin typeface="Calibri" pitchFamily="34" charset="0"/>
                <a:ea typeface="Calibri" pitchFamily="34" charset="-122"/>
                <a:cs typeface="Calibri" pitchFamily="34" charset="-120"/>
              </a:rPr>
              <a:t>Any attribute set that identifies a row: (person_id, email)</a:t>
            </a:r>
            <a:endParaRPr lang="en-US" sz="1400" dirty="0"/>
          </a:p>
        </p:txBody>
      </p:sp>
      <p:sp>
        <p:nvSpPr>
          <p:cNvPr id="8" name="Shape 5"/>
          <p:cNvSpPr/>
          <p:nvPr/>
        </p:nvSpPr>
        <p:spPr>
          <a:xfrm>
            <a:off x="7543800" y="2560320"/>
            <a:ext cx="4114800" cy="1078992"/>
          </a:xfrm>
          <a:prstGeom prst="roundRect">
            <a:avLst>
              <a:gd name="adj" fmla="val 8475"/>
            </a:avLst>
          </a:prstGeom>
          <a:solidFill>
            <a:srgbClr val="F6F7FB"/>
          </a:solidFill>
          <a:ln w="12700">
            <a:solidFill>
              <a:srgbClr val="E5E7EB"/>
            </a:solidFill>
            <a:prstDash val="solid"/>
          </a:ln>
        </p:spPr>
      </p:sp>
      <p:sp>
        <p:nvSpPr>
          <p:cNvPr id="9" name="Text 6"/>
          <p:cNvSpPr txBox="1"/>
          <p:nvPr/>
        </p:nvSpPr>
        <p:spPr>
          <a:xfrm>
            <a:off x="7708392" y="2670048"/>
            <a:ext cx="3785616" cy="859536"/>
          </a:xfrm>
          <a:prstGeom prst="rect">
            <a:avLst/>
          </a:prstGeom>
          <a:noFill/>
          <a:ln/>
        </p:spPr>
        <p:txBody>
          <a:bodyPr wrap="square" lIns="0" tIns="0" rIns="0" bIns="0" rtlCol="0" anchor="t"/>
          <a:lstStyle/>
          <a:p>
            <a:pPr indent="0" marL="0">
              <a:spcAft>
                <a:spcPts val="400"/>
              </a:spcAft>
              <a:buNone/>
            </a:pPr>
            <a:r>
              <a:rPr lang="en-US" sz="1400" b="1" dirty="0">
                <a:solidFill>
                  <a:srgbClr val="4F46E5"/>
                </a:solidFill>
                <a:latin typeface="Calibri" pitchFamily="34" charset="0"/>
                <a:ea typeface="Calibri" pitchFamily="34" charset="-122"/>
                <a:cs typeface="Calibri" pitchFamily="34" charset="-120"/>
              </a:rPr>
              <a:t>Candidate keys</a:t>
            </a:r>
            <a:endParaRPr lang="en-US" sz="1400" dirty="0"/>
          </a:p>
          <a:p>
            <a:pPr indent="0" marL="0">
              <a:spcAft>
                <a:spcPts val="300"/>
              </a:spcAft>
              <a:buNone/>
            </a:pPr>
            <a:r>
              <a:rPr lang="en-US" sz="1250" dirty="0">
                <a:solidFill>
                  <a:srgbClr val="374151"/>
                </a:solidFill>
                <a:latin typeface="Calibri" pitchFamily="34" charset="0"/>
                <a:ea typeface="Calibri" pitchFamily="34" charset="-122"/>
                <a:cs typeface="Calibri" pitchFamily="34" charset="-120"/>
              </a:rPr>
              <a:t>Minimal super keys. placement_cycle has three: cycle_id, cycle_name, (cycle_type, academic_year)</a:t>
            </a:r>
            <a:endParaRPr lang="en-US" sz="1400" dirty="0"/>
          </a:p>
        </p:txBody>
      </p:sp>
      <p:sp>
        <p:nvSpPr>
          <p:cNvPr id="10" name="Shape 7"/>
          <p:cNvSpPr/>
          <p:nvPr/>
        </p:nvSpPr>
        <p:spPr>
          <a:xfrm>
            <a:off x="7543800" y="3749040"/>
            <a:ext cx="4114800" cy="1078992"/>
          </a:xfrm>
          <a:prstGeom prst="roundRect">
            <a:avLst>
              <a:gd name="adj" fmla="val 8475"/>
            </a:avLst>
          </a:prstGeom>
          <a:solidFill>
            <a:srgbClr val="F6F7FB"/>
          </a:solidFill>
          <a:ln w="12700">
            <a:solidFill>
              <a:srgbClr val="E5E7EB"/>
            </a:solidFill>
            <a:prstDash val="solid"/>
          </a:ln>
        </p:spPr>
      </p:sp>
      <p:sp>
        <p:nvSpPr>
          <p:cNvPr id="11" name="Text 8"/>
          <p:cNvSpPr txBox="1"/>
          <p:nvPr/>
        </p:nvSpPr>
        <p:spPr>
          <a:xfrm>
            <a:off x="7708392" y="3858768"/>
            <a:ext cx="3785616" cy="859536"/>
          </a:xfrm>
          <a:prstGeom prst="rect">
            <a:avLst/>
          </a:prstGeom>
          <a:noFill/>
          <a:ln/>
        </p:spPr>
        <p:txBody>
          <a:bodyPr wrap="square" lIns="0" tIns="0" rIns="0" bIns="0" rtlCol="0" anchor="t"/>
          <a:lstStyle/>
          <a:p>
            <a:pPr indent="0" marL="0">
              <a:spcAft>
                <a:spcPts val="400"/>
              </a:spcAft>
              <a:buNone/>
            </a:pPr>
            <a:r>
              <a:rPr lang="en-US" sz="1400" b="1" dirty="0">
                <a:solidFill>
                  <a:srgbClr val="4F46E5"/>
                </a:solidFill>
                <a:latin typeface="Calibri" pitchFamily="34" charset="0"/>
                <a:ea typeface="Calibri" pitchFamily="34" charset="-122"/>
                <a:cs typeface="Calibri" pitchFamily="34" charset="-120"/>
              </a:rPr>
              <a:t>Primary &amp; alternate</a:t>
            </a:r>
            <a:endParaRPr lang="en-US" sz="1400" dirty="0"/>
          </a:p>
          <a:p>
            <a:pPr indent="0" marL="0">
              <a:spcAft>
                <a:spcPts val="300"/>
              </a:spcAft>
              <a:buNone/>
            </a:pPr>
            <a:r>
              <a:rPr lang="en-US" sz="1250" dirty="0">
                <a:solidFill>
                  <a:srgbClr val="374151"/>
                </a:solidFill>
                <a:latin typeface="Calibri" pitchFamily="34" charset="0"/>
                <a:ea typeface="Calibri" pitchFamily="34" charset="-122"/>
                <a:cs typeface="Calibri" pitchFamily="34" charset="-120"/>
              </a:rPr>
              <a:t>job_id is primary; (company_id, cycle_id, title) stays UNIQUE as the alternate key</a:t>
            </a:r>
            <a:endParaRPr lang="en-US" sz="1400" dirty="0"/>
          </a:p>
        </p:txBody>
      </p:sp>
      <p:sp>
        <p:nvSpPr>
          <p:cNvPr id="12" name="Shape 9"/>
          <p:cNvSpPr/>
          <p:nvPr/>
        </p:nvSpPr>
        <p:spPr>
          <a:xfrm>
            <a:off x="7543800" y="4937760"/>
            <a:ext cx="4114800" cy="1078992"/>
          </a:xfrm>
          <a:prstGeom prst="roundRect">
            <a:avLst>
              <a:gd name="adj" fmla="val 8475"/>
            </a:avLst>
          </a:prstGeom>
          <a:solidFill>
            <a:srgbClr val="F6F7FB"/>
          </a:solidFill>
          <a:ln w="12700">
            <a:solidFill>
              <a:srgbClr val="E5E7EB"/>
            </a:solidFill>
            <a:prstDash val="solid"/>
          </a:ln>
        </p:spPr>
      </p:sp>
      <p:sp>
        <p:nvSpPr>
          <p:cNvPr id="13" name="Text 10"/>
          <p:cNvSpPr txBox="1"/>
          <p:nvPr/>
        </p:nvSpPr>
        <p:spPr>
          <a:xfrm>
            <a:off x="7708392" y="5047488"/>
            <a:ext cx="3785616" cy="859536"/>
          </a:xfrm>
          <a:prstGeom prst="rect">
            <a:avLst/>
          </a:prstGeom>
          <a:noFill/>
          <a:ln/>
        </p:spPr>
        <p:txBody>
          <a:bodyPr wrap="square" lIns="0" tIns="0" rIns="0" bIns="0" rtlCol="0" anchor="t"/>
          <a:lstStyle/>
          <a:p>
            <a:pPr indent="0" marL="0">
              <a:spcAft>
                <a:spcPts val="400"/>
              </a:spcAft>
              <a:buNone/>
            </a:pPr>
            <a:r>
              <a:rPr lang="en-US" sz="1400" b="1" dirty="0">
                <a:solidFill>
                  <a:srgbClr val="4F46E5"/>
                </a:solidFill>
                <a:latin typeface="Calibri" pitchFamily="34" charset="0"/>
                <a:ea typeface="Calibri" pitchFamily="34" charset="-122"/>
                <a:cs typeface="Calibri" pitchFamily="34" charset="-120"/>
              </a:rPr>
              <a:t>Foreign keys</a:t>
            </a:r>
            <a:endParaRPr lang="en-US" sz="1400" dirty="0"/>
          </a:p>
          <a:p>
            <a:pPr indent="0" marL="0">
              <a:spcAft>
                <a:spcPts val="300"/>
              </a:spcAft>
              <a:buNone/>
            </a:pPr>
            <a:r>
              <a:rPr lang="en-US" sz="1250" dirty="0">
                <a:solidFill>
                  <a:srgbClr val="374151"/>
                </a:solidFill>
                <a:latin typeface="Calibri" pitchFamily="34" charset="0"/>
                <a:ea typeface="Calibri" pitchFamily="34" charset="-122"/>
                <a:cs typeface="Calibri" pitchFamily="34" charset="-120"/>
              </a:rPr>
              <a:t>30 FKs, some composite: (posted_by, company_id) → recruiter</a:t>
            </a:r>
            <a:endParaRPr lang="en-US" sz="14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144000" cy="731520"/>
          </a:xfrm>
          <a:prstGeom prst="rect">
            <a:avLst/>
          </a:prstGeom>
          <a:noFill/>
          <a:ln/>
        </p:spPr>
        <p:txBody>
          <a:bodyPr wrap="square" lIns="0" tIns="0" rIns="0" bIns="0" rtlCol="0" anchor="ctr"/>
          <a:lstStyle/>
          <a:p>
            <a:pPr algn="l" indent="0" marL="0">
              <a:buNone/>
            </a:pPr>
            <a:r>
              <a:rPr lang="en-US" sz="3000" b="1" dirty="0">
                <a:solidFill>
                  <a:srgbClr val="111827"/>
                </a:solidFill>
                <a:latin typeface="Cambria" pitchFamily="34" charset="0"/>
                <a:ea typeface="Cambria" pitchFamily="34" charset="-122"/>
                <a:cs typeface="Cambria" pitchFamily="34" charset="-120"/>
              </a:rPr>
              <a:t>Normalization: spreadsheet → BCNF</a:t>
            </a:r>
            <a:endParaRPr lang="en-US" sz="3000" dirty="0"/>
          </a:p>
        </p:txBody>
      </p:sp>
      <p:sp>
        <p:nvSpPr>
          <p:cNvPr id="3" name="speaker-chip"/>
          <p:cNvSpPr/>
          <p:nvPr/>
        </p:nvSpPr>
        <p:spPr>
          <a:xfrm>
            <a:off x="9921240" y="457200"/>
            <a:ext cx="1737360" cy="402336"/>
          </a:xfrm>
          <a:prstGeom prst="roundRect">
            <a:avLst>
              <a:gd name="adj" fmla="val 50000"/>
            </a:avLst>
          </a:prstGeom>
          <a:solidFill>
            <a:srgbClr val="EEF0FF"/>
          </a:solidFill>
          <a:ln w="12700">
            <a:solidFill>
              <a:srgbClr val="EEF0FF"/>
            </a:solidFill>
            <a:prstDash val="solid"/>
          </a:ln>
        </p:spPr>
      </p:sp>
      <p:sp>
        <p:nvSpPr>
          <p:cNvPr id="4" name="Text 2"/>
          <p:cNvSpPr txBox="1"/>
          <p:nvPr/>
        </p:nvSpPr>
        <p:spPr>
          <a:xfrm>
            <a:off x="9921240" y="457200"/>
            <a:ext cx="1737360" cy="402336"/>
          </a:xfrm>
          <a:prstGeom prst="rect">
            <a:avLst/>
          </a:prstGeom>
          <a:noFill/>
          <a:ln/>
        </p:spPr>
        <p:txBody>
          <a:bodyPr wrap="square" lIns="0" tIns="0" rIns="0" bIns="0" rtlCol="0" anchor="ctr"/>
          <a:lstStyle/>
          <a:p>
            <a:pPr algn="ctr" indent="0" marL="0">
              <a:buNone/>
            </a:pPr>
            <a:r>
              <a:rPr lang="en-US" sz="1200" b="1" dirty="0">
                <a:solidFill>
                  <a:srgbClr val="4F46E5"/>
                </a:solidFill>
              </a:rPr>
              <a:t>M2  </a:t>
            </a:r>
            <a:pPr algn="ctr" indent="0" marL="0">
              <a:buNone/>
            </a:pPr>
            <a:r>
              <a:rPr lang="en-US" sz="1200" dirty="0">
                <a:solidFill>
                  <a:srgbClr val="312E81"/>
                </a:solidFill>
              </a:rPr>
              <a:t>[Member 2]</a:t>
            </a:r>
            <a:endParaRPr lang="en-US" sz="1200" dirty="0"/>
          </a:p>
        </p:txBody>
      </p:sp>
      <p:sp>
        <p:nvSpPr>
          <p:cNvPr id="5" name="Shape 3"/>
          <p:cNvSpPr/>
          <p:nvPr/>
        </p:nvSpPr>
        <p:spPr>
          <a:xfrm>
            <a:off x="1197864" y="1197864"/>
            <a:ext cx="9765792" cy="4992624"/>
          </a:xfrm>
          <a:prstGeom prst="roundRect">
            <a:avLst>
              <a:gd name="adj" fmla="val 916"/>
            </a:avLst>
          </a:prstGeom>
          <a:solidFill>
            <a:srgbClr val="FFFFFF"/>
          </a:solidFill>
          <a:ln w="12700">
            <a:solidFill>
              <a:srgbClr val="E5E7EB"/>
            </a:solidFill>
            <a:prstDash val="solid"/>
          </a:ln>
        </p:spPr>
      </p:sp>
      <p:pic>
        <p:nvPicPr>
          <p:cNvPr id="6" name="Image 0" descr="C:\Users\bhavy\Downloads\DBMS-20261028T151751Z-1-001\DBMS\Project\deliverables\diagrams\normalization.png">    </p:cNvPr>
          <p:cNvPicPr>
            <a:picLocks noChangeAspect="1"/>
          </p:cNvPicPr>
          <p:nvPr/>
        </p:nvPicPr>
        <p:blipFill>
          <a:blip r:embed="rId1"/>
          <a:stretch>
            <a:fillRect/>
          </a:stretch>
        </p:blipFill>
        <p:spPr>
          <a:xfrm>
            <a:off x="1234440" y="1234440"/>
            <a:ext cx="9692640" cy="4919472"/>
          </a:xfrm>
          <a:prstGeom prst="rect">
            <a:avLst/>
          </a:prstGeom>
        </p:spPr>
      </p:pic>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144000" cy="731520"/>
          </a:xfrm>
          <a:prstGeom prst="rect">
            <a:avLst/>
          </a:prstGeom>
          <a:noFill/>
          <a:ln/>
        </p:spPr>
        <p:txBody>
          <a:bodyPr wrap="square" lIns="0" tIns="0" rIns="0" bIns="0" rtlCol="0" anchor="ctr"/>
          <a:lstStyle/>
          <a:p>
            <a:pPr algn="l" indent="0" marL="0">
              <a:buNone/>
            </a:pPr>
            <a:r>
              <a:rPr lang="en-US" sz="3000" b="1" dirty="0">
                <a:solidFill>
                  <a:srgbClr val="111827"/>
                </a:solidFill>
                <a:latin typeface="Cambria" pitchFamily="34" charset="0"/>
                <a:ea typeface="Cambria" pitchFamily="34" charset="-122"/>
                <a:cs typeface="Cambria" pitchFamily="34" charset="-120"/>
              </a:rPr>
              <a:t>Proving BCNF, and the trap we avoided</a:t>
            </a:r>
            <a:endParaRPr lang="en-US" sz="3000" dirty="0"/>
          </a:p>
        </p:txBody>
      </p:sp>
      <p:sp>
        <p:nvSpPr>
          <p:cNvPr id="3" name="speaker-chip"/>
          <p:cNvSpPr/>
          <p:nvPr/>
        </p:nvSpPr>
        <p:spPr>
          <a:xfrm>
            <a:off x="9921240" y="457200"/>
            <a:ext cx="1737360" cy="402336"/>
          </a:xfrm>
          <a:prstGeom prst="roundRect">
            <a:avLst>
              <a:gd name="adj" fmla="val 50000"/>
            </a:avLst>
          </a:prstGeom>
          <a:solidFill>
            <a:srgbClr val="EEF0FF"/>
          </a:solidFill>
          <a:ln w="12700">
            <a:solidFill>
              <a:srgbClr val="EEF0FF"/>
            </a:solidFill>
            <a:prstDash val="solid"/>
          </a:ln>
        </p:spPr>
      </p:sp>
      <p:sp>
        <p:nvSpPr>
          <p:cNvPr id="4" name="Text 2"/>
          <p:cNvSpPr txBox="1"/>
          <p:nvPr/>
        </p:nvSpPr>
        <p:spPr>
          <a:xfrm>
            <a:off x="9921240" y="457200"/>
            <a:ext cx="1737360" cy="402336"/>
          </a:xfrm>
          <a:prstGeom prst="rect">
            <a:avLst/>
          </a:prstGeom>
          <a:noFill/>
          <a:ln/>
        </p:spPr>
        <p:txBody>
          <a:bodyPr wrap="square" lIns="0" tIns="0" rIns="0" bIns="0" rtlCol="0" anchor="ctr"/>
          <a:lstStyle/>
          <a:p>
            <a:pPr algn="ctr" indent="0" marL="0">
              <a:buNone/>
            </a:pPr>
            <a:r>
              <a:rPr lang="en-US" sz="1200" b="1" dirty="0">
                <a:solidFill>
                  <a:srgbClr val="4F46E5"/>
                </a:solidFill>
              </a:rPr>
              <a:t>M2  </a:t>
            </a:r>
            <a:pPr algn="ctr" indent="0" marL="0">
              <a:buNone/>
            </a:pPr>
            <a:r>
              <a:rPr lang="en-US" sz="1200" dirty="0">
                <a:solidFill>
                  <a:srgbClr val="312E81"/>
                </a:solidFill>
              </a:rPr>
              <a:t>[Member 2]</a:t>
            </a:r>
            <a:endParaRPr lang="en-US" sz="1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6400800" cy="914400"/>
        </p:xfrm>
        <a:graphic>
          <a:graphicData uri="http://schemas.openxmlformats.org/drawingml/2006/table">
            <a:tbl>
              <a:tblPr/>
              <a:tblGrid>
                <a:gridCol w="1600200"/>
                <a:gridCol w="2880360"/>
                <a:gridCol w="1920240"/>
              </a:tblGrid>
              <a:tr h="411480">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Relation</a:t>
                      </a:r>
                      <a:endParaRPr lang="en-US" sz="1250" dirty="0">
                        <a:latin typeface="Calibri" charset="0"/>
                        <a:ea typeface="Calibri" charset="0"/>
                        <a:cs typeface="Calibri"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4F46E5"/>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Non-trivial FDs</a:t>
                      </a:r>
                      <a:endParaRPr lang="en-US" sz="1250" dirty="0">
                        <a:latin typeface="Calibri" charset="0"/>
                        <a:ea typeface="Calibri" charset="0"/>
                        <a:cs typeface="Calibri"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4F46E5"/>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Determinants are keys?</a:t>
                      </a:r>
                      <a:endParaRPr lang="en-US" sz="1250" dirty="0">
                        <a:latin typeface="Calibri" charset="0"/>
                        <a:ea typeface="Calibri" charset="0"/>
                        <a:cs typeface="Calibri"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4F46E5"/>
                    </a:solidFill>
                  </a:tcPr>
                </a:tc>
              </a:tr>
              <a:tr h="411480">
                <a:tc>
                  <a:txBody>
                    <a:bodyPr/>
                    <a:lstStyle/>
                    <a:p>
                      <a:pPr indent="0" marL="0">
                        <a:buNone/>
                      </a:pPr>
                      <a:r>
                        <a:rPr lang="en-US" sz="1250" dirty="0">
                          <a:solidFill>
                            <a:srgbClr val="374151"/>
                          </a:solidFill>
                          <a:latin typeface="Calibri" pitchFamily="34" charset="0"/>
                          <a:ea typeface="Calibri" pitchFamily="34" charset="-122"/>
                          <a:cs typeface="Calibri" pitchFamily="34" charset="-120"/>
                        </a:rPr>
                        <a:t>student</a:t>
                      </a:r>
                      <a:endParaRPr lang="en-US" sz="1250" dirty="0">
                        <a:latin typeface="Calibri" charset="0"/>
                        <a:ea typeface="Calibri" charset="0"/>
                        <a:cs typeface="Calibri"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250" dirty="0">
                          <a:solidFill>
                            <a:srgbClr val="374151"/>
                          </a:solidFill>
                          <a:latin typeface="Calibri" pitchFamily="34" charset="0"/>
                          <a:ea typeface="Calibri" pitchFamily="34" charset="-122"/>
                          <a:cs typeface="Calibri" pitchFamily="34" charset="-120"/>
                        </a:rPr>
                        <a:t>roll_no → all;  email → roll_no</a:t>
                      </a:r>
                      <a:endParaRPr lang="en-US" sz="1250" dirty="0">
                        <a:latin typeface="Calibri" charset="0"/>
                        <a:ea typeface="Calibri" charset="0"/>
                        <a:cs typeface="Calibri"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250" dirty="0">
                          <a:solidFill>
                            <a:srgbClr val="374151"/>
                          </a:solidFill>
                          <a:latin typeface="Calibri" pitchFamily="34" charset="0"/>
                          <a:ea typeface="Calibri" pitchFamily="34" charset="-122"/>
                          <a:cs typeface="Calibri" pitchFamily="34" charset="-120"/>
                        </a:rPr>
                        <a:t>Yes: both are candidate keys</a:t>
                      </a:r>
                      <a:endParaRPr lang="en-US" sz="1250" dirty="0">
                        <a:latin typeface="Calibri" charset="0"/>
                        <a:ea typeface="Calibri" charset="0"/>
                        <a:cs typeface="Calibri"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411480">
                <a:tc>
                  <a:txBody>
                    <a:bodyPr/>
                    <a:lstStyle/>
                    <a:p>
                      <a:pPr indent="0" marL="0">
                        <a:buNone/>
                      </a:pPr>
                      <a:r>
                        <a:rPr lang="en-US" sz="1250" dirty="0">
                          <a:solidFill>
                            <a:srgbClr val="374151"/>
                          </a:solidFill>
                          <a:latin typeface="Calibri" pitchFamily="34" charset="0"/>
                          <a:ea typeface="Calibri" pitchFamily="34" charset="-122"/>
                          <a:cs typeface="Calibri" pitchFamily="34" charset="-120"/>
                        </a:rPr>
                        <a:t>program</a:t>
                      </a:r>
                      <a:endParaRPr lang="en-US" sz="1250" dirty="0">
                        <a:latin typeface="Calibri" charset="0"/>
                        <a:ea typeface="Calibri" charset="0"/>
                        <a:cs typeface="Calibri"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6F7FB"/>
                    </a:solidFill>
                  </a:tcPr>
                </a:tc>
                <a:tc>
                  <a:txBody>
                    <a:bodyPr/>
                    <a:lstStyle/>
                    <a:p>
                      <a:pPr indent="0" marL="0">
                        <a:buNone/>
                      </a:pPr>
                      <a:r>
                        <a:rPr lang="en-US" sz="1250" dirty="0">
                          <a:solidFill>
                            <a:srgbClr val="374151"/>
                          </a:solidFill>
                          <a:latin typeface="Calibri" pitchFamily="34" charset="0"/>
                          <a:ea typeface="Calibri" pitchFamily="34" charset="-122"/>
                          <a:cs typeface="Calibri" pitchFamily="34" charset="-120"/>
                        </a:rPr>
                        <a:t>prog_code → prog_name</a:t>
                      </a:r>
                      <a:endParaRPr lang="en-US" sz="1250" dirty="0">
                        <a:latin typeface="Calibri" charset="0"/>
                        <a:ea typeface="Calibri" charset="0"/>
                        <a:cs typeface="Calibri"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6F7FB"/>
                    </a:solidFill>
                  </a:tcPr>
                </a:tc>
                <a:tc>
                  <a:txBody>
                    <a:bodyPr/>
                    <a:lstStyle/>
                    <a:p>
                      <a:pPr indent="0" marL="0">
                        <a:buNone/>
                      </a:pPr>
                      <a:r>
                        <a:rPr lang="en-US" sz="1250" dirty="0">
                          <a:solidFill>
                            <a:srgbClr val="374151"/>
                          </a:solidFill>
                          <a:latin typeface="Calibri" pitchFamily="34" charset="0"/>
                          <a:ea typeface="Calibri" pitchFamily="34" charset="-122"/>
                          <a:cs typeface="Calibri" pitchFamily="34" charset="-120"/>
                        </a:rPr>
                        <a:t>Yes</a:t>
                      </a:r>
                      <a:endParaRPr lang="en-US" sz="1250" dirty="0">
                        <a:latin typeface="Calibri" charset="0"/>
                        <a:ea typeface="Calibri" charset="0"/>
                        <a:cs typeface="Calibri"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6F7FB"/>
                    </a:solidFill>
                  </a:tcPr>
                </a:tc>
              </a:tr>
              <a:tr h="411480">
                <a:tc>
                  <a:txBody>
                    <a:bodyPr/>
                    <a:lstStyle/>
                    <a:p>
                      <a:pPr indent="0" marL="0">
                        <a:buNone/>
                      </a:pPr>
                      <a:r>
                        <a:rPr lang="en-US" sz="1250" dirty="0">
                          <a:solidFill>
                            <a:srgbClr val="374151"/>
                          </a:solidFill>
                          <a:latin typeface="Calibri" pitchFamily="34" charset="0"/>
                          <a:ea typeface="Calibri" pitchFamily="34" charset="-122"/>
                          <a:cs typeface="Calibri" pitchFamily="34" charset="-120"/>
                        </a:rPr>
                        <a:t>eligibility</a:t>
                      </a:r>
                      <a:endParaRPr lang="en-US" sz="1250" dirty="0">
                        <a:latin typeface="Calibri" charset="0"/>
                        <a:ea typeface="Calibri" charset="0"/>
                        <a:cs typeface="Calibri"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250" dirty="0">
                          <a:solidFill>
                            <a:srgbClr val="374151"/>
                          </a:solidFill>
                          <a:latin typeface="Calibri" pitchFamily="34" charset="0"/>
                          <a:ea typeface="Calibri" pitchFamily="34" charset="-122"/>
                          <a:cs typeface="Calibri" pitchFamily="34" charset="-120"/>
                        </a:rPr>
                        <a:t>(job, program) → min_cgpa</a:t>
                      </a:r>
                      <a:endParaRPr lang="en-US" sz="1250" dirty="0">
                        <a:latin typeface="Calibri" charset="0"/>
                        <a:ea typeface="Calibri" charset="0"/>
                        <a:cs typeface="Calibri"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250" dirty="0">
                          <a:solidFill>
                            <a:srgbClr val="374151"/>
                          </a:solidFill>
                          <a:latin typeface="Calibri" pitchFamily="34" charset="0"/>
                          <a:ea typeface="Calibri" pitchFamily="34" charset="-122"/>
                          <a:cs typeface="Calibri" pitchFamily="34" charset="-120"/>
                        </a:rPr>
                        <a:t>Yes</a:t>
                      </a:r>
                      <a:endParaRPr lang="en-US" sz="1250" dirty="0">
                        <a:latin typeface="Calibri" charset="0"/>
                        <a:ea typeface="Calibri" charset="0"/>
                        <a:cs typeface="Calibri"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411480">
                <a:tc>
                  <a:txBody>
                    <a:bodyPr/>
                    <a:lstStyle/>
                    <a:p>
                      <a:pPr indent="0" marL="0">
                        <a:buNone/>
                      </a:pPr>
                      <a:r>
                        <a:rPr lang="en-US" sz="1250" dirty="0">
                          <a:solidFill>
                            <a:srgbClr val="374151"/>
                          </a:solidFill>
                          <a:latin typeface="Calibri" pitchFamily="34" charset="0"/>
                          <a:ea typeface="Calibri" pitchFamily="34" charset="-122"/>
                          <a:cs typeface="Calibri" pitchFamily="34" charset="-120"/>
                        </a:rPr>
                        <a:t>interview_round</a:t>
                      </a:r>
                      <a:endParaRPr lang="en-US" sz="1250" dirty="0">
                        <a:latin typeface="Calibri" charset="0"/>
                        <a:ea typeface="Calibri" charset="0"/>
                        <a:cs typeface="Calibri"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6F7FB"/>
                    </a:solidFill>
                  </a:tcPr>
                </a:tc>
                <a:tc>
                  <a:txBody>
                    <a:bodyPr/>
                    <a:lstStyle/>
                    <a:p>
                      <a:pPr indent="0" marL="0">
                        <a:buNone/>
                      </a:pPr>
                      <a:r>
                        <a:rPr lang="en-US" sz="1250" dirty="0">
                          <a:solidFill>
                            <a:srgbClr val="374151"/>
                          </a:solidFill>
                          <a:latin typeface="Calibri" pitchFamily="34" charset="0"/>
                          <a:ea typeface="Calibri" pitchFamily="34" charset="-122"/>
                          <a:cs typeface="Calibri" pitchFamily="34" charset="-120"/>
                        </a:rPr>
                        <a:t>(job, round_no) → round_type</a:t>
                      </a:r>
                      <a:endParaRPr lang="en-US" sz="1250" dirty="0">
                        <a:latin typeface="Calibri" charset="0"/>
                        <a:ea typeface="Calibri" charset="0"/>
                        <a:cs typeface="Calibri"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6F7FB"/>
                    </a:solidFill>
                  </a:tcPr>
                </a:tc>
                <a:tc>
                  <a:txBody>
                    <a:bodyPr/>
                    <a:lstStyle/>
                    <a:p>
                      <a:pPr indent="0" marL="0">
                        <a:buNone/>
                      </a:pPr>
                      <a:r>
                        <a:rPr lang="en-US" sz="1250" dirty="0">
                          <a:solidFill>
                            <a:srgbClr val="374151"/>
                          </a:solidFill>
                          <a:latin typeface="Calibri" pitchFamily="34" charset="0"/>
                          <a:ea typeface="Calibri" pitchFamily="34" charset="-122"/>
                          <a:cs typeface="Calibri" pitchFamily="34" charset="-120"/>
                        </a:rPr>
                        <a:t>Yes</a:t>
                      </a:r>
                      <a:endParaRPr lang="en-US" sz="1250" dirty="0">
                        <a:latin typeface="Calibri" charset="0"/>
                        <a:ea typeface="Calibri" charset="0"/>
                        <a:cs typeface="Calibri"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6F7FB"/>
                    </a:solidFill>
                  </a:tcPr>
                </a:tc>
              </a:tr>
              <a:tr h="411480">
                <a:tc>
                  <a:txBody>
                    <a:bodyPr/>
                    <a:lstStyle/>
                    <a:p>
                      <a:pPr indent="0" marL="0">
                        <a:buNone/>
                      </a:pPr>
                      <a:r>
                        <a:rPr lang="en-US" sz="1250" dirty="0">
                          <a:solidFill>
                            <a:srgbClr val="374151"/>
                          </a:solidFill>
                          <a:latin typeface="Calibri" pitchFamily="34" charset="0"/>
                          <a:ea typeface="Calibri" pitchFamily="34" charset="-122"/>
                          <a:cs typeface="Calibri" pitchFamily="34" charset="-120"/>
                        </a:rPr>
                        <a:t>interview</a:t>
                      </a:r>
                      <a:endParaRPr lang="en-US" sz="1250" dirty="0">
                        <a:latin typeface="Calibri" charset="0"/>
                        <a:ea typeface="Calibri" charset="0"/>
                        <a:cs typeface="Calibri"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250" dirty="0">
                          <a:solidFill>
                            <a:srgbClr val="374151"/>
                          </a:solidFill>
                          <a:latin typeface="Calibri" pitchFamily="34" charset="0"/>
                          <a:ea typeface="Calibri" pitchFamily="34" charset="-122"/>
                          <a:cs typeface="Calibri" pitchFamily="34" charset="-120"/>
                        </a:rPr>
                        <a:t>(student, job, round) → slot, result</a:t>
                      </a:r>
                      <a:endParaRPr lang="en-US" sz="1250" dirty="0">
                        <a:latin typeface="Calibri" charset="0"/>
                        <a:ea typeface="Calibri" charset="0"/>
                        <a:cs typeface="Calibri"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250" dirty="0">
                          <a:solidFill>
                            <a:srgbClr val="374151"/>
                          </a:solidFill>
                          <a:latin typeface="Calibri" pitchFamily="34" charset="0"/>
                          <a:ea typeface="Calibri" pitchFamily="34" charset="-122"/>
                          <a:cs typeface="Calibri" pitchFamily="34" charset="-120"/>
                        </a:rPr>
                        <a:t>Yes</a:t>
                      </a:r>
                      <a:endParaRPr lang="en-US" sz="1250" dirty="0">
                        <a:latin typeface="Calibri" charset="0"/>
                        <a:ea typeface="Calibri" charset="0"/>
                        <a:cs typeface="Calibri"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411480">
                <a:tc>
                  <a:txBody>
                    <a:bodyPr/>
                    <a:lstStyle/>
                    <a:p>
                      <a:pPr indent="0" marL="0">
                        <a:buNone/>
                      </a:pPr>
                      <a:r>
                        <a:rPr lang="en-US" sz="1250" dirty="0">
                          <a:solidFill>
                            <a:srgbClr val="374151"/>
                          </a:solidFill>
                          <a:latin typeface="Calibri" pitchFamily="34" charset="0"/>
                          <a:ea typeface="Calibri" pitchFamily="34" charset="-122"/>
                          <a:cs typeface="Calibri" pitchFamily="34" charset="-120"/>
                        </a:rPr>
                        <a:t>placement_cycle</a:t>
                      </a:r>
                      <a:endParaRPr lang="en-US" sz="1250" dirty="0">
                        <a:latin typeface="Calibri" charset="0"/>
                        <a:ea typeface="Calibri" charset="0"/>
                        <a:cs typeface="Calibri"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6F7FB"/>
                    </a:solidFill>
                  </a:tcPr>
                </a:tc>
                <a:tc>
                  <a:txBody>
                    <a:bodyPr/>
                    <a:lstStyle/>
                    <a:p>
                      <a:pPr indent="0" marL="0">
                        <a:buNone/>
                      </a:pPr>
                      <a:r>
                        <a:rPr lang="en-US" sz="1250" dirty="0">
                          <a:solidFill>
                            <a:srgbClr val="374151"/>
                          </a:solidFill>
                          <a:latin typeface="Calibri" pitchFamily="34" charset="0"/>
                          <a:ea typeface="Calibri" pitchFamily="34" charset="-122"/>
                          <a:cs typeface="Calibri" pitchFamily="34" charset="-120"/>
                        </a:rPr>
                        <a:t>3 candidate keys, each → all</a:t>
                      </a:r>
                      <a:endParaRPr lang="en-US" sz="1250" dirty="0">
                        <a:latin typeface="Calibri" charset="0"/>
                        <a:ea typeface="Calibri" charset="0"/>
                        <a:cs typeface="Calibri"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6F7FB"/>
                    </a:solidFill>
                  </a:tcPr>
                </a:tc>
                <a:tc>
                  <a:txBody>
                    <a:bodyPr/>
                    <a:lstStyle/>
                    <a:p>
                      <a:pPr indent="0" marL="0">
                        <a:buNone/>
                      </a:pPr>
                      <a:r>
                        <a:rPr lang="en-US" sz="1250" dirty="0">
                          <a:solidFill>
                            <a:srgbClr val="374151"/>
                          </a:solidFill>
                          <a:latin typeface="Calibri" pitchFamily="34" charset="0"/>
                          <a:ea typeface="Calibri" pitchFamily="34" charset="-122"/>
                          <a:cs typeface="Calibri" pitchFamily="34" charset="-120"/>
                        </a:rPr>
                        <a:t>Yes</a:t>
                      </a:r>
                      <a:endParaRPr lang="en-US" sz="1250" dirty="0">
                        <a:latin typeface="Calibri" charset="0"/>
                        <a:ea typeface="Calibri" charset="0"/>
                        <a:cs typeface="Calibri"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6F7FB"/>
                    </a:solidFill>
                  </a:tcPr>
                </a:tc>
              </a:tr>
            </a:tbl>
          </a:graphicData>
        </a:graphic>
      </p:graphicFrame>
      <p:sp>
        <p:nvSpPr>
          <p:cNvPr id="6" name="Text 3"/>
          <p:cNvSpPr txBox="1"/>
          <p:nvPr/>
        </p:nvSpPr>
        <p:spPr>
          <a:xfrm>
            <a:off x="548640" y="4434840"/>
            <a:ext cx="6400800" cy="365760"/>
          </a:xfrm>
          <a:prstGeom prst="rect">
            <a:avLst/>
          </a:prstGeom>
          <a:noFill/>
          <a:ln/>
        </p:spPr>
        <p:txBody>
          <a:bodyPr wrap="square" lIns="0" tIns="0" rIns="0" bIns="0" rtlCol="0" anchor="ctr"/>
          <a:lstStyle/>
          <a:p>
            <a:pPr indent="0" marL="0">
              <a:buNone/>
            </a:pPr>
            <a:r>
              <a:rPr lang="en-US" sz="1500" b="1" dirty="0">
                <a:solidFill>
                  <a:srgbClr val="0F766E"/>
                </a:solidFill>
              </a:rPr>
              <a:t>All 22 relations: every determinant is a super key → BCNF</a:t>
            </a:r>
            <a:endParaRPr lang="en-US" sz="1500" dirty="0"/>
          </a:p>
        </p:txBody>
      </p:sp>
      <p:sp>
        <p:nvSpPr>
          <p:cNvPr id="7" name="Text 4"/>
          <p:cNvSpPr txBox="1"/>
          <p:nvPr/>
        </p:nvSpPr>
        <p:spPr>
          <a:xfrm>
            <a:off x="548640" y="4892040"/>
            <a:ext cx="6400800" cy="1097280"/>
          </a:xfrm>
          <a:prstGeom prst="rect">
            <a:avLst/>
          </a:prstGeom>
          <a:noFill/>
          <a:ln/>
        </p:spPr>
        <p:txBody>
          <a:bodyPr wrap="square" lIns="0" tIns="0" rIns="0" bIns="0" rtlCol="0" anchor="t"/>
          <a:lstStyle/>
          <a:p>
            <a:pPr indent="0" marL="0">
              <a:buNone/>
            </a:pPr>
            <a:r>
              <a:rPr lang="en-US" sz="1350" b="1" dirty="0">
                <a:solidFill>
                  <a:srgbClr val="1F2937"/>
                </a:solidFill>
              </a:rPr>
              <a:t>Deliberately not stored: </a:t>
            </a:r>
            <a:pPr indent="0" marL="0">
              <a:buNone/>
            </a:pPr>
            <a:r>
              <a:rPr lang="en-US" sz="1350" dirty="0">
                <a:solidFill>
                  <a:srgbClr val="374151"/>
                </a:solidFill>
              </a:rPr>
              <a:t>CTC on the offer (offer → job → ctc would be transitive), placement status (derived by a view), cycle on the application (job → cycle).</a:t>
            </a:r>
            <a:endParaRPr lang="en-US" sz="1350" dirty="0"/>
          </a:p>
        </p:txBody>
      </p:sp>
      <p:sp>
        <p:nvSpPr>
          <p:cNvPr id="8" name="Shape 5"/>
          <p:cNvSpPr/>
          <p:nvPr/>
        </p:nvSpPr>
        <p:spPr>
          <a:xfrm>
            <a:off x="7315200" y="1371600"/>
            <a:ext cx="4343400" cy="4617720"/>
          </a:xfrm>
          <a:prstGeom prst="roundRect">
            <a:avLst>
              <a:gd name="adj" fmla="val 2105"/>
            </a:avLst>
          </a:prstGeom>
          <a:solidFill>
            <a:srgbClr val="FFF4E6"/>
          </a:solidFill>
          <a:ln w="12700">
            <a:solidFill>
              <a:srgbClr val="FED7AA"/>
            </a:solidFill>
            <a:prstDash val="solid"/>
          </a:ln>
        </p:spPr>
      </p:sp>
      <p:sp>
        <p:nvSpPr>
          <p:cNvPr id="9" name="Text 6"/>
          <p:cNvSpPr txBox="1"/>
          <p:nvPr/>
        </p:nvSpPr>
        <p:spPr>
          <a:xfrm>
            <a:off x="7479792" y="1481328"/>
            <a:ext cx="4014216" cy="4398264"/>
          </a:xfrm>
          <a:prstGeom prst="rect">
            <a:avLst/>
          </a:prstGeom>
          <a:noFill/>
          <a:ln/>
        </p:spPr>
        <p:txBody>
          <a:bodyPr wrap="square" lIns="0" tIns="0" rIns="0" bIns="0" rtlCol="0" anchor="t"/>
          <a:lstStyle/>
          <a:p>
            <a:pPr indent="0" marL="0">
              <a:spcAft>
                <a:spcPts val="400"/>
              </a:spcAft>
              <a:buNone/>
            </a:pPr>
            <a:r>
              <a:rPr lang="en-US" sz="1500" b="1" dirty="0">
                <a:solidFill>
                  <a:srgbClr val="C2410C"/>
                </a:solidFill>
                <a:latin typeface="Calibri" pitchFamily="34" charset="0"/>
                <a:ea typeface="Calibri" pitchFamily="34" charset="-122"/>
                <a:cs typeface="Calibri" pitchFamily="34" charset="-120"/>
              </a:rPr>
              <a:t>The 3NF-but-not-BCNF trap</a:t>
            </a:r>
            <a:endParaRPr lang="en-US" sz="1500" dirty="0"/>
          </a:p>
          <a:p>
            <a:pPr indent="0" marL="0">
              <a:spcAft>
                <a:spcPts val="300"/>
              </a:spcAft>
              <a:buNone/>
            </a:pPr>
            <a:r>
              <a:rPr lang="en-US" sz="1350" dirty="0">
                <a:solidFill>
                  <a:srgbClr val="374151"/>
                </a:solidFill>
                <a:latin typeface="Calibri" pitchFamily="34" charset="0"/>
                <a:ea typeface="Calibri" pitchFamily="34" charset="-122"/>
                <a:cs typeface="Calibri" pitchFamily="34" charset="-120"/>
              </a:rPr>
              <a:t>Suppose: each recruiter interviews for exactly one job.</a:t>
            </a:r>
            <a:endParaRPr lang="en-US" sz="1500" dirty="0"/>
          </a:p>
          <a:p>
            <a:pPr indent="0" marL="0">
              <a:spcAft>
                <a:spcPts val="300"/>
              </a:spcAft>
              <a:buNone/>
            </a:pPr>
            <a:r>
              <a:rPr lang="en-US" sz="1350" dirty="0">
                <a:solidFill>
                  <a:srgbClr val="374151"/>
                </a:solidFill>
                <a:latin typeface="Calibri" pitchFamily="34" charset="0"/>
                <a:ea typeface="Calibri" pitchFamily="34" charset="-122"/>
                <a:cs typeface="Calibri" pitchFamily="34" charset="-120"/>
              </a:rPr>
              <a:t>Panel(student, job, recruiter) with  (student, job) → recruiter  and  recruiter → job.</a:t>
            </a:r>
            <a:endParaRPr lang="en-US" sz="1500" dirty="0"/>
          </a:p>
          <a:p>
            <a:pPr indent="0" marL="0">
              <a:spcAft>
                <a:spcPts val="300"/>
              </a:spcAft>
              <a:buNone/>
            </a:pPr>
            <a:r>
              <a:rPr lang="en-US" sz="1350" dirty="0">
                <a:solidFill>
                  <a:srgbClr val="374151"/>
                </a:solidFill>
                <a:latin typeface="Calibri" pitchFamily="34" charset="0"/>
                <a:ea typeface="Calibri" pitchFamily="34" charset="-122"/>
                <a:cs typeface="Calibri" pitchFamily="34" charset="-120"/>
              </a:rPr>
              <a:t>recruiter is not a super key → not BCNF. job is prime → still 3NF.</a:t>
            </a:r>
            <a:endParaRPr lang="en-US" sz="1500" dirty="0"/>
          </a:p>
          <a:p>
            <a:pPr indent="0" marL="0">
              <a:spcAft>
                <a:spcPts val="300"/>
              </a:spcAft>
              <a:buNone/>
            </a:pPr>
            <a:r>
              <a:rPr lang="en-US" sz="1350" dirty="0">
                <a:solidFill>
                  <a:srgbClr val="374151"/>
                </a:solidFill>
                <a:latin typeface="Calibri" pitchFamily="34" charset="0"/>
                <a:ea typeface="Calibri" pitchFamily="34" charset="-122"/>
                <a:cs typeface="Calibri" pitchFamily="34" charset="-120"/>
              </a:rPr>
              <a:t>BCNF split: (recruiter, job) + (student, recruiter) is lossless but NOT dependency-preserving.</a:t>
            </a:r>
            <a:endParaRPr lang="en-US" sz="1500" dirty="0"/>
          </a:p>
          <a:p>
            <a:pPr indent="0" marL="0">
              <a:spcAft>
                <a:spcPts val="300"/>
              </a:spcAft>
              <a:buNone/>
            </a:pPr>
            <a:r>
              <a:rPr lang="en-US" sz="1350" dirty="0">
                <a:solidFill>
                  <a:srgbClr val="374151"/>
                </a:solidFill>
                <a:latin typeface="Calibri" pitchFamily="34" charset="0"/>
                <a:ea typeface="Calibri" pitchFamily="34" charset="-122"/>
                <a:cs typeface="Calibri" pitchFamily="34" charset="-120"/>
              </a:rPr>
              <a:t>Our decision: the business does not need that rule, so we did not model it. The schema stays BCNF with nothing lost.</a:t>
            </a:r>
            <a:endParaRPr lang="en-US" sz="15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144000" cy="731520"/>
          </a:xfrm>
          <a:prstGeom prst="rect">
            <a:avLst/>
          </a:prstGeom>
          <a:noFill/>
          <a:ln/>
        </p:spPr>
        <p:txBody>
          <a:bodyPr wrap="square" lIns="0" tIns="0" rIns="0" bIns="0" rtlCol="0" anchor="ctr"/>
          <a:lstStyle/>
          <a:p>
            <a:pPr algn="l" indent="0" marL="0">
              <a:buNone/>
            </a:pPr>
            <a:r>
              <a:rPr lang="en-US" sz="3000" b="1" dirty="0">
                <a:solidFill>
                  <a:srgbClr val="111827"/>
                </a:solidFill>
                <a:latin typeface="Cambria" pitchFamily="34" charset="0"/>
                <a:ea typeface="Cambria" pitchFamily="34" charset="-122"/>
                <a:cs typeface="Cambria" pitchFamily="34" charset="-120"/>
              </a:rPr>
              <a:t>Integrity lives in the schema</a:t>
            </a:r>
            <a:endParaRPr lang="en-US" sz="3000" dirty="0"/>
          </a:p>
        </p:txBody>
      </p:sp>
      <p:sp>
        <p:nvSpPr>
          <p:cNvPr id="3" name="speaker-chip"/>
          <p:cNvSpPr/>
          <p:nvPr/>
        </p:nvSpPr>
        <p:spPr>
          <a:xfrm>
            <a:off x="9921240" y="457200"/>
            <a:ext cx="1737360" cy="402336"/>
          </a:xfrm>
          <a:prstGeom prst="roundRect">
            <a:avLst>
              <a:gd name="adj" fmla="val 50000"/>
            </a:avLst>
          </a:prstGeom>
          <a:solidFill>
            <a:srgbClr val="EEF0FF"/>
          </a:solidFill>
          <a:ln w="12700">
            <a:solidFill>
              <a:srgbClr val="EEF0FF"/>
            </a:solidFill>
            <a:prstDash val="solid"/>
          </a:ln>
        </p:spPr>
      </p:sp>
      <p:sp>
        <p:nvSpPr>
          <p:cNvPr id="4" name="Text 2"/>
          <p:cNvSpPr txBox="1"/>
          <p:nvPr/>
        </p:nvSpPr>
        <p:spPr>
          <a:xfrm>
            <a:off x="9921240" y="457200"/>
            <a:ext cx="1737360" cy="402336"/>
          </a:xfrm>
          <a:prstGeom prst="rect">
            <a:avLst/>
          </a:prstGeom>
          <a:noFill/>
          <a:ln/>
        </p:spPr>
        <p:txBody>
          <a:bodyPr wrap="square" lIns="0" tIns="0" rIns="0" bIns="0" rtlCol="0" anchor="ctr"/>
          <a:lstStyle/>
          <a:p>
            <a:pPr algn="ctr" indent="0" marL="0">
              <a:buNone/>
            </a:pPr>
            <a:r>
              <a:rPr lang="en-US" sz="1200" b="1" dirty="0">
                <a:solidFill>
                  <a:srgbClr val="4F46E5"/>
                </a:solidFill>
              </a:rPr>
              <a:t>M3  </a:t>
            </a:r>
            <a:pPr algn="ctr" indent="0" marL="0">
              <a:buNone/>
            </a:pPr>
            <a:r>
              <a:rPr lang="en-US" sz="1200" dirty="0">
                <a:solidFill>
                  <a:srgbClr val="312E81"/>
                </a:solidFill>
              </a:rPr>
              <a:t>[Member 3]</a:t>
            </a:r>
            <a:endParaRPr lang="en-US" sz="1200" dirty="0"/>
          </a:p>
        </p:txBody>
      </p:sp>
      <p:sp>
        <p:nvSpPr>
          <p:cNvPr id="5" name="Shape 3"/>
          <p:cNvSpPr/>
          <p:nvPr/>
        </p:nvSpPr>
        <p:spPr>
          <a:xfrm>
            <a:off x="548640" y="1371600"/>
            <a:ext cx="6035040" cy="4617720"/>
          </a:xfrm>
          <a:prstGeom prst="roundRect">
            <a:avLst>
              <a:gd name="adj" fmla="val 1584"/>
            </a:avLst>
          </a:prstGeom>
          <a:solidFill>
            <a:srgbClr val="0F172A"/>
          </a:solidFill>
          <a:ln w="12700">
            <a:solidFill>
              <a:srgbClr val="0F172A"/>
            </a:solidFill>
            <a:prstDash val="solid"/>
          </a:ln>
        </p:spPr>
      </p:sp>
      <p:sp>
        <p:nvSpPr>
          <p:cNvPr id="6" name="Text 4"/>
          <p:cNvSpPr txBox="1"/>
          <p:nvPr/>
        </p:nvSpPr>
        <p:spPr>
          <a:xfrm>
            <a:off x="731520" y="1508760"/>
            <a:ext cx="5669280" cy="4343400"/>
          </a:xfrm>
          <a:prstGeom prst="rect">
            <a:avLst/>
          </a:prstGeom>
          <a:noFill/>
          <a:ln/>
        </p:spPr>
        <p:txBody>
          <a:bodyPr wrap="square" lIns="0" tIns="0" rIns="0" bIns="0" rtlCol="0" anchor="t"/>
          <a:lstStyle/>
          <a:p>
            <a:pPr indent="0" marL="0">
              <a:buNone/>
            </a:pPr>
            <a:r>
              <a:rPr lang="en-US" sz="1250" dirty="0">
                <a:solidFill>
                  <a:srgbClr val="E2E8F0"/>
                </a:solidFill>
                <a:latin typeface="Courier New" pitchFamily="34" charset="0"/>
                <a:ea typeface="Courier New" pitchFamily="34" charset="-122"/>
                <a:cs typeface="Courier New" pitchFamily="34" charset="-120"/>
              </a:rPr>
              <a:t>-- Disjoint specialization, enforced declaratively</a:t>
            </a:r>
            <a:endParaRPr lang="en-US" sz="1250" dirty="0"/>
          </a:p>
          <a:p>
            <a:pPr indent="0" marL="0">
              <a:buNone/>
            </a:pPr>
            <a:r>
              <a:rPr lang="en-US" sz="1250" dirty="0">
                <a:solidFill>
                  <a:srgbClr val="E2E8F0"/>
                </a:solidFill>
                <a:latin typeface="Courier New" pitchFamily="34" charset="0"/>
                <a:ea typeface="Courier New" pitchFamily="34" charset="-122"/>
                <a:cs typeface="Courier New" pitchFamily="34" charset="-120"/>
              </a:rPr>
              <a:t>CREATE TABLE internship_role (</a:t>
            </a:r>
            <a:endParaRPr lang="en-US" sz="1250" dirty="0"/>
          </a:p>
          <a:p>
            <a:pPr indent="0" marL="0">
              <a:buNone/>
            </a:pPr>
            <a:r>
              <a:rPr lang="en-US" sz="1250" dirty="0">
                <a:solidFill>
                  <a:srgbClr val="E2E8F0"/>
                </a:solidFill>
                <a:latin typeface="Courier New" pitchFamily="34" charset="0"/>
                <a:ea typeface="Courier New" pitchFamily="34" charset="-122"/>
                <a:cs typeface="Courier New" pitchFamily="34" charset="-120"/>
              </a:rPr>
              <a:t>  job_id     INT PRIMARY KEY,</a:t>
            </a:r>
            <a:endParaRPr lang="en-US" sz="1250" dirty="0"/>
          </a:p>
          <a:p>
            <a:pPr indent="0" marL="0">
              <a:buNone/>
            </a:pPr>
            <a:r>
              <a:rPr lang="en-US" sz="1250" dirty="0">
                <a:solidFill>
                  <a:srgbClr val="E2E8F0"/>
                </a:solidFill>
                <a:latin typeface="Courier New" pitchFamily="34" charset="0"/>
                <a:ea typeface="Courier New" pitchFamily="34" charset="-122"/>
                <a:cs typeface="Courier New" pitchFamily="34" charset="-120"/>
              </a:rPr>
              <a:t>  role_type  VARCHAR(10) DEFAULT 'INTERNSHIP'</a:t>
            </a:r>
            <a:endParaRPr lang="en-US" sz="1250" dirty="0"/>
          </a:p>
          <a:p>
            <a:pPr indent="0" marL="0">
              <a:buNone/>
            </a:pPr>
            <a:r>
              <a:rPr lang="en-US" sz="1250" dirty="0">
                <a:solidFill>
                  <a:srgbClr val="E2E8F0"/>
                </a:solidFill>
                <a:latin typeface="Courier New" pitchFamily="34" charset="0"/>
                <a:ea typeface="Courier New" pitchFamily="34" charset="-122"/>
                <a:cs typeface="Courier New" pitchFamily="34" charset="-120"/>
              </a:rPr>
              <a:t>             CHECK (role_type = 'INTERNSHIP'),</a:t>
            </a:r>
            <a:endParaRPr lang="en-US" sz="1250" dirty="0"/>
          </a:p>
          <a:p>
            <a:pPr indent="0" marL="0">
              <a:buNone/>
            </a:pPr>
            <a:r>
              <a:rPr lang="en-US" sz="1250" dirty="0">
                <a:solidFill>
                  <a:srgbClr val="E2E8F0"/>
                </a:solidFill>
                <a:latin typeface="Courier New" pitchFamily="34" charset="0"/>
                <a:ea typeface="Courier New" pitchFamily="34" charset="-122"/>
                <a:cs typeface="Courier New" pitchFamily="34" charset="-120"/>
              </a:rPr>
              <a:t>  stipend_monthly NUMERIC(10,2) NOT NULL,</a:t>
            </a:r>
            <a:endParaRPr lang="en-US" sz="1250" dirty="0"/>
          </a:p>
          <a:p>
            <a:pPr indent="0" marL="0">
              <a:buNone/>
            </a:pPr>
            <a:r>
              <a:rPr lang="en-US" sz="1250" dirty="0">
                <a:solidFill>
                  <a:srgbClr val="E2E8F0"/>
                </a:solidFill>
                <a:latin typeface="Courier New" pitchFamily="34" charset="0"/>
                <a:ea typeface="Courier New" pitchFamily="34" charset="-122"/>
                <a:cs typeface="Courier New" pitchFamily="34" charset="-120"/>
              </a:rPr>
              <a:t>  FOREIGN KEY (job_id, role_type)</a:t>
            </a:r>
            <a:endParaRPr lang="en-US" sz="1250" dirty="0"/>
          </a:p>
          <a:p>
            <a:pPr indent="0" marL="0">
              <a:buNone/>
            </a:pPr>
            <a:r>
              <a:rPr lang="en-US" sz="1250" dirty="0">
                <a:solidFill>
                  <a:srgbClr val="E2E8F0"/>
                </a:solidFill>
                <a:latin typeface="Courier New" pitchFamily="34" charset="0"/>
                <a:ea typeface="Courier New" pitchFamily="34" charset="-122"/>
                <a:cs typeface="Courier New" pitchFamily="34" charset="-120"/>
              </a:rPr>
              <a:t>    REFERENCES job_role (job_id, role_type)</a:t>
            </a:r>
            <a:endParaRPr lang="en-US" sz="1250" dirty="0"/>
          </a:p>
          <a:p>
            <a:pPr indent="0" marL="0">
              <a:buNone/>
            </a:pPr>
            <a:r>
              <a:rPr lang="en-US" sz="1250" dirty="0">
                <a:solidFill>
                  <a:srgbClr val="E2E8F0"/>
                </a:solidFill>
                <a:latin typeface="Courier New" pitchFamily="34" charset="0"/>
                <a:ea typeface="Courier New" pitchFamily="34" charset="-122"/>
                <a:cs typeface="Courier New" pitchFamily="34" charset="-120"/>
              </a:rPr>
              <a:t>    ON DELETE CASCADE</a:t>
            </a:r>
            <a:endParaRPr lang="en-US" sz="1250" dirty="0"/>
          </a:p>
          <a:p>
            <a:pPr indent="0" marL="0">
              <a:buNone/>
            </a:pPr>
            <a:r>
              <a:rPr lang="en-US" sz="1250" dirty="0">
                <a:solidFill>
                  <a:srgbClr val="E2E8F0"/>
                </a:solidFill>
                <a:latin typeface="Courier New" pitchFamily="34" charset="0"/>
                <a:ea typeface="Courier New" pitchFamily="34" charset="-122"/>
                <a:cs typeface="Courier New" pitchFamily="34" charset="-120"/>
              </a:rPr>
              <a:t>);</a:t>
            </a:r>
            <a:endParaRPr lang="en-US" sz="1250" dirty="0"/>
          </a:p>
          <a:p>
            <a:pPr indent="0" marL="0">
              <a:buNone/>
            </a:pPr>
            <a:endParaRPr lang="en-US" sz="1250" dirty="0"/>
          </a:p>
          <a:p>
            <a:pPr indent="0" marL="0">
              <a:buNone/>
            </a:pPr>
            <a:r>
              <a:rPr lang="en-US" sz="1250" dirty="0">
                <a:solidFill>
                  <a:srgbClr val="E2E8F0"/>
                </a:solidFill>
                <a:latin typeface="Courier New" pitchFamily="34" charset="0"/>
                <a:ea typeface="Courier New" pitchFamily="34" charset="-122"/>
                <a:cs typeface="Courier New" pitchFamily="34" charset="-120"/>
              </a:rPr>
              <a:t>-- No student in two interviews at once</a:t>
            </a:r>
            <a:endParaRPr lang="en-US" sz="1250" dirty="0"/>
          </a:p>
          <a:p>
            <a:pPr indent="0" marL="0">
              <a:buNone/>
            </a:pPr>
            <a:r>
              <a:rPr lang="en-US" sz="1250" dirty="0">
                <a:solidFill>
                  <a:srgbClr val="E2E8F0"/>
                </a:solidFill>
                <a:latin typeface="Courier New" pitchFamily="34" charset="0"/>
                <a:ea typeface="Courier New" pitchFamily="34" charset="-122"/>
                <a:cs typeface="Courier New" pitchFamily="34" charset="-120"/>
              </a:rPr>
              <a:t>CONSTRAINT excl_student_double_booking</a:t>
            </a:r>
            <a:endParaRPr lang="en-US" sz="1250" dirty="0"/>
          </a:p>
          <a:p>
            <a:pPr indent="0" marL="0">
              <a:buNone/>
            </a:pPr>
            <a:r>
              <a:rPr lang="en-US" sz="1250" dirty="0">
                <a:solidFill>
                  <a:srgbClr val="E2E8F0"/>
                </a:solidFill>
                <a:latin typeface="Courier New" pitchFamily="34" charset="0"/>
                <a:ea typeface="Courier New" pitchFamily="34" charset="-122"/>
                <a:cs typeface="Courier New" pitchFamily="34" charset="-120"/>
              </a:rPr>
              <a:t>  EXCLUDE USING gist (</a:t>
            </a:r>
            <a:endParaRPr lang="en-US" sz="1250" dirty="0"/>
          </a:p>
          <a:p>
            <a:pPr indent="0" marL="0">
              <a:buNone/>
            </a:pPr>
            <a:r>
              <a:rPr lang="en-US" sz="1250" dirty="0">
                <a:solidFill>
                  <a:srgbClr val="E2E8F0"/>
                </a:solidFill>
                <a:latin typeface="Courier New" pitchFamily="34" charset="0"/>
                <a:ea typeface="Courier New" pitchFamily="34" charset="-122"/>
                <a:cs typeface="Courier New" pitchFamily="34" charset="-120"/>
              </a:rPr>
              <a:t>    student_id WITH =,</a:t>
            </a:r>
            <a:endParaRPr lang="en-US" sz="1250" dirty="0"/>
          </a:p>
          <a:p>
            <a:pPr indent="0" marL="0">
              <a:buNone/>
            </a:pPr>
            <a:r>
              <a:rPr lang="en-US" sz="1250" dirty="0">
                <a:solidFill>
                  <a:srgbClr val="E2E8F0"/>
                </a:solidFill>
                <a:latin typeface="Courier New" pitchFamily="34" charset="0"/>
                <a:ea typeface="Courier New" pitchFamily="34" charset="-122"/>
                <a:cs typeface="Courier New" pitchFamily="34" charset="-120"/>
              </a:rPr>
              <a:t>    tstzrange(slot_start, slot_end) WITH &amp;&amp;)</a:t>
            </a:r>
            <a:endParaRPr lang="en-US" sz="1250" dirty="0"/>
          </a:p>
        </p:txBody>
      </p:sp>
      <p:sp>
        <p:nvSpPr>
          <p:cNvPr id="7" name="Text 5"/>
          <p:cNvSpPr txBox="1"/>
          <p:nvPr/>
        </p:nvSpPr>
        <p:spPr>
          <a:xfrm>
            <a:off x="6949440" y="1325880"/>
            <a:ext cx="2194560" cy="640080"/>
          </a:xfrm>
          <a:prstGeom prst="rect">
            <a:avLst/>
          </a:prstGeom>
          <a:noFill/>
          <a:ln/>
        </p:spPr>
        <p:txBody>
          <a:bodyPr wrap="square" lIns="0" tIns="0" rIns="0" bIns="0" rtlCol="0" anchor="ctr"/>
          <a:lstStyle/>
          <a:p>
            <a:pPr indent="0" marL="0">
              <a:buNone/>
            </a:pPr>
            <a:r>
              <a:rPr lang="en-US" sz="3200" b="1" dirty="0">
                <a:solidFill>
                  <a:srgbClr val="4F46E5"/>
                </a:solidFill>
                <a:latin typeface="Cambria" pitchFamily="34" charset="0"/>
                <a:ea typeface="Cambria" pitchFamily="34" charset="-122"/>
                <a:cs typeface="Cambria" pitchFamily="34" charset="-120"/>
              </a:rPr>
              <a:t>45</a:t>
            </a:r>
            <a:endParaRPr lang="en-US" sz="3200" dirty="0"/>
          </a:p>
        </p:txBody>
      </p:sp>
      <p:sp>
        <p:nvSpPr>
          <p:cNvPr id="8" name="Text 6"/>
          <p:cNvSpPr txBox="1"/>
          <p:nvPr/>
        </p:nvSpPr>
        <p:spPr>
          <a:xfrm>
            <a:off x="6949440" y="1984248"/>
            <a:ext cx="2194560" cy="457200"/>
          </a:xfrm>
          <a:prstGeom prst="rect">
            <a:avLst/>
          </a:prstGeom>
          <a:noFill/>
          <a:ln/>
        </p:spPr>
        <p:txBody>
          <a:bodyPr wrap="square" lIns="0" tIns="0" rIns="0" bIns="0" rtlCol="0" anchor="t"/>
          <a:lstStyle/>
          <a:p>
            <a:pPr indent="0" marL="0">
              <a:buNone/>
            </a:pPr>
            <a:r>
              <a:rPr lang="en-US" sz="1250" dirty="0">
                <a:solidFill>
                  <a:srgbClr val="6B7280"/>
                </a:solidFill>
              </a:rPr>
              <a:t>CHECK constraints (domains)</a:t>
            </a:r>
            <a:endParaRPr lang="en-US" sz="1250" dirty="0"/>
          </a:p>
        </p:txBody>
      </p:sp>
      <p:sp>
        <p:nvSpPr>
          <p:cNvPr id="9" name="Text 7"/>
          <p:cNvSpPr txBox="1"/>
          <p:nvPr/>
        </p:nvSpPr>
        <p:spPr>
          <a:xfrm>
            <a:off x="9326880" y="1325880"/>
            <a:ext cx="2194560" cy="640080"/>
          </a:xfrm>
          <a:prstGeom prst="rect">
            <a:avLst/>
          </a:prstGeom>
          <a:noFill/>
          <a:ln/>
        </p:spPr>
        <p:txBody>
          <a:bodyPr wrap="square" lIns="0" tIns="0" rIns="0" bIns="0" rtlCol="0" anchor="ctr"/>
          <a:lstStyle/>
          <a:p>
            <a:pPr indent="0" marL="0">
              <a:buNone/>
            </a:pPr>
            <a:r>
              <a:rPr lang="en-US" sz="3200" b="1" dirty="0">
                <a:solidFill>
                  <a:srgbClr val="4F46E5"/>
                </a:solidFill>
                <a:latin typeface="Cambria" pitchFamily="34" charset="0"/>
                <a:ea typeface="Cambria" pitchFamily="34" charset="-122"/>
                <a:cs typeface="Cambria" pitchFamily="34" charset="-120"/>
              </a:rPr>
              <a:t>30</a:t>
            </a:r>
            <a:endParaRPr lang="en-US" sz="3200" dirty="0"/>
          </a:p>
        </p:txBody>
      </p:sp>
      <p:sp>
        <p:nvSpPr>
          <p:cNvPr id="10" name="Text 8"/>
          <p:cNvSpPr txBox="1"/>
          <p:nvPr/>
        </p:nvSpPr>
        <p:spPr>
          <a:xfrm>
            <a:off x="9326880" y="1984248"/>
            <a:ext cx="2194560" cy="457200"/>
          </a:xfrm>
          <a:prstGeom prst="rect">
            <a:avLst/>
          </a:prstGeom>
          <a:noFill/>
          <a:ln/>
        </p:spPr>
        <p:txBody>
          <a:bodyPr wrap="square" lIns="0" tIns="0" rIns="0" bIns="0" rtlCol="0" anchor="t"/>
          <a:lstStyle/>
          <a:p>
            <a:pPr indent="0" marL="0">
              <a:buNone/>
            </a:pPr>
            <a:r>
              <a:rPr lang="en-US" sz="1250" dirty="0">
                <a:solidFill>
                  <a:srgbClr val="6B7280"/>
                </a:solidFill>
              </a:rPr>
              <a:t>foreign keys, with actions</a:t>
            </a:r>
            <a:endParaRPr lang="en-US" sz="1250" dirty="0"/>
          </a:p>
        </p:txBody>
      </p:sp>
      <p:sp>
        <p:nvSpPr>
          <p:cNvPr id="11" name="Text 9"/>
          <p:cNvSpPr txBox="1"/>
          <p:nvPr/>
        </p:nvSpPr>
        <p:spPr>
          <a:xfrm>
            <a:off x="6949440" y="2560320"/>
            <a:ext cx="2194560" cy="640080"/>
          </a:xfrm>
          <a:prstGeom prst="rect">
            <a:avLst/>
          </a:prstGeom>
          <a:noFill/>
          <a:ln/>
        </p:spPr>
        <p:txBody>
          <a:bodyPr wrap="square" lIns="0" tIns="0" rIns="0" bIns="0" rtlCol="0" anchor="ctr"/>
          <a:lstStyle/>
          <a:p>
            <a:pPr indent="0" marL="0">
              <a:buNone/>
            </a:pPr>
            <a:r>
              <a:rPr lang="en-US" sz="3200" b="1" dirty="0">
                <a:solidFill>
                  <a:srgbClr val="0F766E"/>
                </a:solidFill>
                <a:latin typeface="Cambria" pitchFamily="34" charset="0"/>
                <a:ea typeface="Cambria" pitchFamily="34" charset="-122"/>
                <a:cs typeface="Cambria" pitchFamily="34" charset="-120"/>
              </a:rPr>
              <a:t>17</a:t>
            </a:r>
            <a:endParaRPr lang="en-US" sz="3200" dirty="0"/>
          </a:p>
        </p:txBody>
      </p:sp>
      <p:sp>
        <p:nvSpPr>
          <p:cNvPr id="12" name="Text 10"/>
          <p:cNvSpPr txBox="1"/>
          <p:nvPr/>
        </p:nvSpPr>
        <p:spPr>
          <a:xfrm>
            <a:off x="6949440" y="3218688"/>
            <a:ext cx="2194560" cy="457200"/>
          </a:xfrm>
          <a:prstGeom prst="rect">
            <a:avLst/>
          </a:prstGeom>
          <a:noFill/>
          <a:ln/>
        </p:spPr>
        <p:txBody>
          <a:bodyPr wrap="square" lIns="0" tIns="0" rIns="0" bIns="0" rtlCol="0" anchor="t"/>
          <a:lstStyle/>
          <a:p>
            <a:pPr indent="0" marL="0">
              <a:buNone/>
            </a:pPr>
            <a:r>
              <a:rPr lang="en-US" sz="1250" dirty="0">
                <a:solidFill>
                  <a:srgbClr val="6B7280"/>
                </a:solidFill>
              </a:rPr>
              <a:t>UNIQUE (alternate keys)</a:t>
            </a:r>
            <a:endParaRPr lang="en-US" sz="1250" dirty="0"/>
          </a:p>
        </p:txBody>
      </p:sp>
      <p:sp>
        <p:nvSpPr>
          <p:cNvPr id="13" name="Text 11"/>
          <p:cNvSpPr txBox="1"/>
          <p:nvPr/>
        </p:nvSpPr>
        <p:spPr>
          <a:xfrm>
            <a:off x="9326880" y="2560320"/>
            <a:ext cx="2194560" cy="640080"/>
          </a:xfrm>
          <a:prstGeom prst="rect">
            <a:avLst/>
          </a:prstGeom>
          <a:noFill/>
          <a:ln/>
        </p:spPr>
        <p:txBody>
          <a:bodyPr wrap="square" lIns="0" tIns="0" rIns="0" bIns="0" rtlCol="0" anchor="ctr"/>
          <a:lstStyle/>
          <a:p>
            <a:pPr indent="0" marL="0">
              <a:buNone/>
            </a:pPr>
            <a:r>
              <a:rPr lang="en-US" sz="3200" b="1" dirty="0">
                <a:solidFill>
                  <a:srgbClr val="0F766E"/>
                </a:solidFill>
                <a:latin typeface="Cambria" pitchFamily="34" charset="0"/>
                <a:ea typeface="Cambria" pitchFamily="34" charset="-122"/>
                <a:cs typeface="Cambria" pitchFamily="34" charset="-120"/>
              </a:rPr>
              <a:t>1</a:t>
            </a:r>
            <a:endParaRPr lang="en-US" sz="3200" dirty="0"/>
          </a:p>
        </p:txBody>
      </p:sp>
      <p:sp>
        <p:nvSpPr>
          <p:cNvPr id="14" name="Text 12"/>
          <p:cNvSpPr txBox="1"/>
          <p:nvPr/>
        </p:nvSpPr>
        <p:spPr>
          <a:xfrm>
            <a:off x="9326880" y="3218688"/>
            <a:ext cx="2194560" cy="457200"/>
          </a:xfrm>
          <a:prstGeom prst="rect">
            <a:avLst/>
          </a:prstGeom>
          <a:noFill/>
          <a:ln/>
        </p:spPr>
        <p:txBody>
          <a:bodyPr wrap="square" lIns="0" tIns="0" rIns="0" bIns="0" rtlCol="0" anchor="t"/>
          <a:lstStyle/>
          <a:p>
            <a:pPr indent="0" marL="0">
              <a:buNone/>
            </a:pPr>
            <a:r>
              <a:rPr lang="en-US" sz="1250" dirty="0">
                <a:solidFill>
                  <a:srgbClr val="6B7280"/>
                </a:solidFill>
              </a:rPr>
              <a:t>EXCLUDE (overlap ban)</a:t>
            </a:r>
            <a:endParaRPr lang="en-US" sz="1250" dirty="0"/>
          </a:p>
        </p:txBody>
      </p:sp>
      <p:sp>
        <p:nvSpPr>
          <p:cNvPr id="15" name="Text 13"/>
          <p:cNvSpPr txBox="1"/>
          <p:nvPr/>
        </p:nvSpPr>
        <p:spPr>
          <a:xfrm>
            <a:off x="6949440" y="3794760"/>
            <a:ext cx="2194560" cy="640080"/>
          </a:xfrm>
          <a:prstGeom prst="rect">
            <a:avLst/>
          </a:prstGeom>
          <a:noFill/>
          <a:ln/>
        </p:spPr>
        <p:txBody>
          <a:bodyPr wrap="square" lIns="0" tIns="0" rIns="0" bIns="0" rtlCol="0" anchor="ctr"/>
          <a:lstStyle/>
          <a:p>
            <a:pPr indent="0" marL="0">
              <a:buNone/>
            </a:pPr>
            <a:r>
              <a:rPr lang="en-US" sz="3200" b="1" dirty="0">
                <a:solidFill>
                  <a:srgbClr val="0F766E"/>
                </a:solidFill>
                <a:latin typeface="Cambria" pitchFamily="34" charset="0"/>
                <a:ea typeface="Cambria" pitchFamily="34" charset="-122"/>
                <a:cs typeface="Cambria" pitchFamily="34" charset="-120"/>
              </a:rPr>
              <a:t>3</a:t>
            </a:r>
            <a:endParaRPr lang="en-US" sz="3200" dirty="0"/>
          </a:p>
        </p:txBody>
      </p:sp>
      <p:sp>
        <p:nvSpPr>
          <p:cNvPr id="16" name="Text 14"/>
          <p:cNvSpPr txBox="1"/>
          <p:nvPr/>
        </p:nvSpPr>
        <p:spPr>
          <a:xfrm>
            <a:off x="6949440" y="4453128"/>
            <a:ext cx="2194560" cy="457200"/>
          </a:xfrm>
          <a:prstGeom prst="rect">
            <a:avLst/>
          </a:prstGeom>
          <a:noFill/>
          <a:ln/>
        </p:spPr>
        <p:txBody>
          <a:bodyPr wrap="square" lIns="0" tIns="0" rIns="0" bIns="0" rtlCol="0" anchor="t"/>
          <a:lstStyle/>
          <a:p>
            <a:pPr indent="0" marL="0">
              <a:buNone/>
            </a:pPr>
            <a:r>
              <a:rPr lang="en-US" sz="1250" dirty="0">
                <a:solidFill>
                  <a:srgbClr val="6B7280"/>
                </a:solidFill>
              </a:rPr>
              <a:t>deferred constraint triggers</a:t>
            </a:r>
            <a:endParaRPr lang="en-US" sz="1250" dirty="0"/>
          </a:p>
        </p:txBody>
      </p:sp>
      <p:sp>
        <p:nvSpPr>
          <p:cNvPr id="17" name="Text 15"/>
          <p:cNvSpPr txBox="1"/>
          <p:nvPr/>
        </p:nvSpPr>
        <p:spPr>
          <a:xfrm>
            <a:off x="9326880" y="3794760"/>
            <a:ext cx="2194560" cy="640080"/>
          </a:xfrm>
          <a:prstGeom prst="rect">
            <a:avLst/>
          </a:prstGeom>
          <a:noFill/>
          <a:ln/>
        </p:spPr>
        <p:txBody>
          <a:bodyPr wrap="square" lIns="0" tIns="0" rIns="0" bIns="0" rtlCol="0" anchor="ctr"/>
          <a:lstStyle/>
          <a:p>
            <a:pPr indent="0" marL="0">
              <a:buNone/>
            </a:pPr>
            <a:r>
              <a:rPr lang="en-US" sz="3200" b="1" dirty="0">
                <a:solidFill>
                  <a:srgbClr val="0F766E"/>
                </a:solidFill>
                <a:latin typeface="Cambria" pitchFamily="34" charset="0"/>
                <a:ea typeface="Cambria" pitchFamily="34" charset="-122"/>
                <a:cs typeface="Cambria" pitchFamily="34" charset="-120"/>
              </a:rPr>
              <a:t>55</a:t>
            </a:r>
            <a:endParaRPr lang="en-US" sz="3200" dirty="0"/>
          </a:p>
        </p:txBody>
      </p:sp>
      <p:sp>
        <p:nvSpPr>
          <p:cNvPr id="18" name="Text 16"/>
          <p:cNvSpPr txBox="1"/>
          <p:nvPr/>
        </p:nvSpPr>
        <p:spPr>
          <a:xfrm>
            <a:off x="9326880" y="4453128"/>
            <a:ext cx="2194560" cy="457200"/>
          </a:xfrm>
          <a:prstGeom prst="rect">
            <a:avLst/>
          </a:prstGeom>
          <a:noFill/>
          <a:ln/>
        </p:spPr>
        <p:txBody>
          <a:bodyPr wrap="square" lIns="0" tIns="0" rIns="0" bIns="0" rtlCol="0" anchor="t"/>
          <a:lstStyle/>
          <a:p>
            <a:pPr indent="0" marL="0">
              <a:buNone/>
            </a:pPr>
            <a:r>
              <a:rPr lang="en-US" sz="1250" dirty="0">
                <a:solidFill>
                  <a:srgbClr val="6B7280"/>
                </a:solidFill>
              </a:rPr>
              <a:t>indexes incl. FK indexes</a:t>
            </a:r>
            <a:endParaRPr lang="en-US" sz="1250" dirty="0"/>
          </a:p>
        </p:txBody>
      </p:sp>
      <p:sp>
        <p:nvSpPr>
          <p:cNvPr id="19" name="Shape 17"/>
          <p:cNvSpPr/>
          <p:nvPr/>
        </p:nvSpPr>
        <p:spPr>
          <a:xfrm>
            <a:off x="6949440" y="5074920"/>
            <a:ext cx="4709160" cy="914400"/>
          </a:xfrm>
          <a:prstGeom prst="roundRect">
            <a:avLst>
              <a:gd name="adj" fmla="val 10000"/>
            </a:avLst>
          </a:prstGeom>
          <a:solidFill>
            <a:srgbClr val="F6F7FB"/>
          </a:solidFill>
          <a:ln w="12700">
            <a:solidFill>
              <a:srgbClr val="E5E7EB"/>
            </a:solidFill>
            <a:prstDash val="solid"/>
          </a:ln>
        </p:spPr>
      </p:sp>
      <p:sp>
        <p:nvSpPr>
          <p:cNvPr id="20" name="Text 18"/>
          <p:cNvSpPr txBox="1"/>
          <p:nvPr/>
        </p:nvSpPr>
        <p:spPr>
          <a:xfrm>
            <a:off x="7114032" y="5184648"/>
            <a:ext cx="4379976" cy="694944"/>
          </a:xfrm>
          <a:prstGeom prst="rect">
            <a:avLst/>
          </a:prstGeom>
          <a:noFill/>
          <a:ln/>
        </p:spPr>
        <p:txBody>
          <a:bodyPr wrap="square" lIns="0" tIns="0" rIns="0" bIns="0" rtlCol="0" anchor="t"/>
          <a:lstStyle/>
          <a:p>
            <a:pPr indent="0" marL="0">
              <a:spcAft>
                <a:spcPts val="400"/>
              </a:spcAft>
              <a:buNone/>
            </a:pPr>
            <a:r>
              <a:rPr lang="en-US" sz="1350" b="1" dirty="0">
                <a:solidFill>
                  <a:srgbClr val="1F2937"/>
                </a:solidFill>
                <a:latin typeface="Calibri" pitchFamily="34" charset="0"/>
                <a:ea typeface="Calibri" pitchFamily="34" charset="-122"/>
                <a:cs typeface="Calibri" pitchFamily="34" charset="-120"/>
              </a:rPr>
              <a:t>ON DELETE, chosen per relationship</a:t>
            </a:r>
            <a:endParaRPr lang="en-US" sz="1350" dirty="0"/>
          </a:p>
          <a:p>
            <a:pPr indent="0" marL="0">
              <a:spcAft>
                <a:spcPts val="300"/>
              </a:spcAft>
              <a:buNone/>
            </a:pPr>
            <a:r>
              <a:rPr lang="en-US" sz="1250" dirty="0">
                <a:solidFill>
                  <a:srgbClr val="374151"/>
                </a:solidFill>
                <a:latin typeface="Calibri" pitchFamily="34" charset="0"/>
                <a:ea typeface="Calibri" pitchFamily="34" charset="-122"/>
                <a:cs typeface="Calibri" pitchFamily="34" charset="-120"/>
              </a:rPr>
              <a:t>CASCADE: subtypes &amp; weak entity · RESTRICT: history (offers) · SET NULL (col): keep job, drop recruiter link</a:t>
            </a:r>
            <a:endParaRPr lang="en-US" sz="135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144000" cy="731520"/>
          </a:xfrm>
          <a:prstGeom prst="rect">
            <a:avLst/>
          </a:prstGeom>
          <a:noFill/>
          <a:ln/>
        </p:spPr>
        <p:txBody>
          <a:bodyPr wrap="square" lIns="0" tIns="0" rIns="0" bIns="0" rtlCol="0" anchor="ctr"/>
          <a:lstStyle/>
          <a:p>
            <a:pPr algn="l" indent="0" marL="0">
              <a:buNone/>
            </a:pPr>
            <a:r>
              <a:rPr lang="en-US" sz="3000" b="1" dirty="0">
                <a:solidFill>
                  <a:srgbClr val="111827"/>
                </a:solidFill>
                <a:latin typeface="Cambria" pitchFamily="34" charset="0"/>
                <a:ea typeface="Cambria" pitchFamily="34" charset="-122"/>
                <a:cs typeface="Cambria" pitchFamily="34" charset="-120"/>
              </a:rPr>
              <a:t>A realistic, reproducible test bed</a:t>
            </a:r>
            <a:endParaRPr lang="en-US" sz="3000" dirty="0"/>
          </a:p>
        </p:txBody>
      </p:sp>
      <p:sp>
        <p:nvSpPr>
          <p:cNvPr id="3" name="speaker-chip"/>
          <p:cNvSpPr/>
          <p:nvPr/>
        </p:nvSpPr>
        <p:spPr>
          <a:xfrm>
            <a:off x="9921240" y="457200"/>
            <a:ext cx="1737360" cy="402336"/>
          </a:xfrm>
          <a:prstGeom prst="roundRect">
            <a:avLst>
              <a:gd name="adj" fmla="val 50000"/>
            </a:avLst>
          </a:prstGeom>
          <a:solidFill>
            <a:srgbClr val="EEF0FF"/>
          </a:solidFill>
          <a:ln w="12700">
            <a:solidFill>
              <a:srgbClr val="EEF0FF"/>
            </a:solidFill>
            <a:prstDash val="solid"/>
          </a:ln>
        </p:spPr>
      </p:sp>
      <p:sp>
        <p:nvSpPr>
          <p:cNvPr id="4" name="Text 2"/>
          <p:cNvSpPr txBox="1"/>
          <p:nvPr/>
        </p:nvSpPr>
        <p:spPr>
          <a:xfrm>
            <a:off x="9921240" y="457200"/>
            <a:ext cx="1737360" cy="402336"/>
          </a:xfrm>
          <a:prstGeom prst="rect">
            <a:avLst/>
          </a:prstGeom>
          <a:noFill/>
          <a:ln/>
        </p:spPr>
        <p:txBody>
          <a:bodyPr wrap="square" lIns="0" tIns="0" rIns="0" bIns="0" rtlCol="0" anchor="ctr"/>
          <a:lstStyle/>
          <a:p>
            <a:pPr algn="ctr" indent="0" marL="0">
              <a:buNone/>
            </a:pPr>
            <a:r>
              <a:rPr lang="en-US" sz="1200" b="1" dirty="0">
                <a:solidFill>
                  <a:srgbClr val="4F46E5"/>
                </a:solidFill>
              </a:rPr>
              <a:t>M3  </a:t>
            </a:r>
            <a:pPr algn="ctr" indent="0" marL="0">
              <a:buNone/>
            </a:pPr>
            <a:r>
              <a:rPr lang="en-US" sz="1200" dirty="0">
                <a:solidFill>
                  <a:srgbClr val="312E81"/>
                </a:solidFill>
              </a:rPr>
              <a:t>[Member 3]</a:t>
            </a:r>
            <a:endParaRPr lang="en-US" sz="1200" dirty="0"/>
          </a:p>
        </p:txBody>
      </p:sp>
      <p:sp>
        <p:nvSpPr>
          <p:cNvPr id="5" name="Text 3"/>
          <p:cNvSpPr txBox="1"/>
          <p:nvPr/>
        </p:nvSpPr>
        <p:spPr>
          <a:xfrm>
            <a:off x="548640" y="1325880"/>
            <a:ext cx="2103120" cy="640080"/>
          </a:xfrm>
          <a:prstGeom prst="rect">
            <a:avLst/>
          </a:prstGeom>
          <a:noFill/>
          <a:ln/>
        </p:spPr>
        <p:txBody>
          <a:bodyPr wrap="square" lIns="0" tIns="0" rIns="0" bIns="0" rtlCol="0" anchor="ctr"/>
          <a:lstStyle/>
          <a:p>
            <a:pPr indent="0" marL="0">
              <a:buNone/>
            </a:pPr>
            <a:r>
              <a:rPr lang="en-US" sz="4000" b="1" dirty="0">
                <a:solidFill>
                  <a:srgbClr val="4F46E5"/>
                </a:solidFill>
                <a:latin typeface="Cambria" pitchFamily="34" charset="0"/>
                <a:ea typeface="Cambria" pitchFamily="34" charset="-122"/>
                <a:cs typeface="Cambria" pitchFamily="34" charset="-120"/>
              </a:rPr>
              <a:t>180</a:t>
            </a:r>
            <a:endParaRPr lang="en-US" sz="4000" dirty="0"/>
          </a:p>
        </p:txBody>
      </p:sp>
      <p:sp>
        <p:nvSpPr>
          <p:cNvPr id="6" name="Text 4"/>
          <p:cNvSpPr txBox="1"/>
          <p:nvPr/>
        </p:nvSpPr>
        <p:spPr>
          <a:xfrm>
            <a:off x="548640" y="1984248"/>
            <a:ext cx="2103120" cy="457200"/>
          </a:xfrm>
          <a:prstGeom prst="rect">
            <a:avLst/>
          </a:prstGeom>
          <a:noFill/>
          <a:ln/>
        </p:spPr>
        <p:txBody>
          <a:bodyPr wrap="square" lIns="0" tIns="0" rIns="0" bIns="0" rtlCol="0" anchor="t"/>
          <a:lstStyle/>
          <a:p>
            <a:pPr indent="0" marL="0">
              <a:buNone/>
            </a:pPr>
            <a:r>
              <a:rPr lang="en-US" sz="1250" dirty="0">
                <a:solidFill>
                  <a:srgbClr val="6B7280"/>
                </a:solidFill>
              </a:rPr>
              <a:t>students in 3 programs</a:t>
            </a:r>
            <a:endParaRPr lang="en-US" sz="1250" dirty="0"/>
          </a:p>
        </p:txBody>
      </p:sp>
      <p:sp>
        <p:nvSpPr>
          <p:cNvPr id="7" name="Text 5"/>
          <p:cNvSpPr txBox="1"/>
          <p:nvPr/>
        </p:nvSpPr>
        <p:spPr>
          <a:xfrm>
            <a:off x="2834640" y="1325880"/>
            <a:ext cx="2103120" cy="640080"/>
          </a:xfrm>
          <a:prstGeom prst="rect">
            <a:avLst/>
          </a:prstGeom>
          <a:noFill/>
          <a:ln/>
        </p:spPr>
        <p:txBody>
          <a:bodyPr wrap="square" lIns="0" tIns="0" rIns="0" bIns="0" rtlCol="0" anchor="ctr"/>
          <a:lstStyle/>
          <a:p>
            <a:pPr indent="0" marL="0">
              <a:buNone/>
            </a:pPr>
            <a:r>
              <a:rPr lang="en-US" sz="4000" b="1" dirty="0">
                <a:solidFill>
                  <a:srgbClr val="4F46E5"/>
                </a:solidFill>
                <a:latin typeface="Cambria" pitchFamily="34" charset="0"/>
                <a:ea typeface="Cambria" pitchFamily="34" charset="-122"/>
                <a:cs typeface="Cambria" pitchFamily="34" charset="-120"/>
              </a:rPr>
              <a:t>16</a:t>
            </a:r>
            <a:endParaRPr lang="en-US" sz="4000" dirty="0"/>
          </a:p>
        </p:txBody>
      </p:sp>
      <p:sp>
        <p:nvSpPr>
          <p:cNvPr id="8" name="Text 6"/>
          <p:cNvSpPr txBox="1"/>
          <p:nvPr/>
        </p:nvSpPr>
        <p:spPr>
          <a:xfrm>
            <a:off x="2834640" y="1984248"/>
            <a:ext cx="2103120" cy="457200"/>
          </a:xfrm>
          <a:prstGeom prst="rect">
            <a:avLst/>
          </a:prstGeom>
          <a:noFill/>
          <a:ln/>
        </p:spPr>
        <p:txBody>
          <a:bodyPr wrap="square" lIns="0" tIns="0" rIns="0" bIns="0" rtlCol="0" anchor="t"/>
          <a:lstStyle/>
          <a:p>
            <a:pPr indent="0" marL="0">
              <a:buNone/>
            </a:pPr>
            <a:r>
              <a:rPr lang="en-US" sz="1250" dirty="0">
                <a:solidFill>
                  <a:srgbClr val="6B7280"/>
                </a:solidFill>
              </a:rPr>
              <a:t>fictional companies</a:t>
            </a:r>
            <a:endParaRPr lang="en-US" sz="1250" dirty="0"/>
          </a:p>
        </p:txBody>
      </p:sp>
      <p:sp>
        <p:nvSpPr>
          <p:cNvPr id="9" name="Text 7"/>
          <p:cNvSpPr txBox="1"/>
          <p:nvPr/>
        </p:nvSpPr>
        <p:spPr>
          <a:xfrm>
            <a:off x="5120640" y="1325880"/>
            <a:ext cx="2103120" cy="640080"/>
          </a:xfrm>
          <a:prstGeom prst="rect">
            <a:avLst/>
          </a:prstGeom>
          <a:noFill/>
          <a:ln/>
        </p:spPr>
        <p:txBody>
          <a:bodyPr wrap="square" lIns="0" tIns="0" rIns="0" bIns="0" rtlCol="0" anchor="ctr"/>
          <a:lstStyle/>
          <a:p>
            <a:pPr indent="0" marL="0">
              <a:buNone/>
            </a:pPr>
            <a:r>
              <a:rPr lang="en-US" sz="4000" b="1" dirty="0">
                <a:solidFill>
                  <a:srgbClr val="4F46E5"/>
                </a:solidFill>
                <a:latin typeface="Cambria" pitchFamily="34" charset="0"/>
                <a:ea typeface="Cambria" pitchFamily="34" charset="-122"/>
                <a:cs typeface="Cambria" pitchFamily="34" charset="-120"/>
              </a:rPr>
              <a:t>1,184</a:t>
            </a:r>
            <a:endParaRPr lang="en-US" sz="4000" dirty="0"/>
          </a:p>
        </p:txBody>
      </p:sp>
      <p:sp>
        <p:nvSpPr>
          <p:cNvPr id="10" name="Text 8"/>
          <p:cNvSpPr txBox="1"/>
          <p:nvPr/>
        </p:nvSpPr>
        <p:spPr>
          <a:xfrm>
            <a:off x="5120640" y="1984248"/>
            <a:ext cx="2103120" cy="457200"/>
          </a:xfrm>
          <a:prstGeom prst="rect">
            <a:avLst/>
          </a:prstGeom>
          <a:noFill/>
          <a:ln/>
        </p:spPr>
        <p:txBody>
          <a:bodyPr wrap="square" lIns="0" tIns="0" rIns="0" bIns="0" rtlCol="0" anchor="t"/>
          <a:lstStyle/>
          <a:p>
            <a:pPr indent="0" marL="0">
              <a:buNone/>
            </a:pPr>
            <a:r>
              <a:rPr lang="en-US" sz="1250" dirty="0">
                <a:solidFill>
                  <a:srgbClr val="6B7280"/>
                </a:solidFill>
              </a:rPr>
              <a:t>applications</a:t>
            </a:r>
            <a:endParaRPr lang="en-US" sz="1250" dirty="0"/>
          </a:p>
        </p:txBody>
      </p:sp>
      <p:sp>
        <p:nvSpPr>
          <p:cNvPr id="11" name="Text 9"/>
          <p:cNvSpPr txBox="1"/>
          <p:nvPr/>
        </p:nvSpPr>
        <p:spPr>
          <a:xfrm>
            <a:off x="7406640" y="1325880"/>
            <a:ext cx="2103120" cy="640080"/>
          </a:xfrm>
          <a:prstGeom prst="rect">
            <a:avLst/>
          </a:prstGeom>
          <a:noFill/>
          <a:ln/>
        </p:spPr>
        <p:txBody>
          <a:bodyPr wrap="square" lIns="0" tIns="0" rIns="0" bIns="0" rtlCol="0" anchor="ctr"/>
          <a:lstStyle/>
          <a:p>
            <a:pPr indent="0" marL="0">
              <a:buNone/>
            </a:pPr>
            <a:r>
              <a:rPr lang="en-US" sz="4000" b="1" dirty="0">
                <a:solidFill>
                  <a:srgbClr val="4F46E5"/>
                </a:solidFill>
                <a:latin typeface="Cambria" pitchFamily="34" charset="0"/>
                <a:ea typeface="Cambria" pitchFamily="34" charset="-122"/>
                <a:cs typeface="Cambria" pitchFamily="34" charset="-120"/>
              </a:rPr>
              <a:t>1,057</a:t>
            </a:r>
            <a:endParaRPr lang="en-US" sz="4000" dirty="0"/>
          </a:p>
        </p:txBody>
      </p:sp>
      <p:sp>
        <p:nvSpPr>
          <p:cNvPr id="12" name="Text 10"/>
          <p:cNvSpPr txBox="1"/>
          <p:nvPr/>
        </p:nvSpPr>
        <p:spPr>
          <a:xfrm>
            <a:off x="7406640" y="1984248"/>
            <a:ext cx="2103120" cy="457200"/>
          </a:xfrm>
          <a:prstGeom prst="rect">
            <a:avLst/>
          </a:prstGeom>
          <a:noFill/>
          <a:ln/>
        </p:spPr>
        <p:txBody>
          <a:bodyPr wrap="square" lIns="0" tIns="0" rIns="0" bIns="0" rtlCol="0" anchor="t"/>
          <a:lstStyle/>
          <a:p>
            <a:pPr indent="0" marL="0">
              <a:buNone/>
            </a:pPr>
            <a:r>
              <a:rPr lang="en-US" sz="1250" dirty="0">
                <a:solidFill>
                  <a:srgbClr val="6B7280"/>
                </a:solidFill>
              </a:rPr>
              <a:t>interview slots</a:t>
            </a:r>
            <a:endParaRPr lang="en-US" sz="1250" dirty="0"/>
          </a:p>
        </p:txBody>
      </p:sp>
      <p:sp>
        <p:nvSpPr>
          <p:cNvPr id="13" name="Text 11"/>
          <p:cNvSpPr txBox="1"/>
          <p:nvPr/>
        </p:nvSpPr>
        <p:spPr>
          <a:xfrm>
            <a:off x="9692640" y="1325880"/>
            <a:ext cx="2103120" cy="640080"/>
          </a:xfrm>
          <a:prstGeom prst="rect">
            <a:avLst/>
          </a:prstGeom>
          <a:noFill/>
          <a:ln/>
        </p:spPr>
        <p:txBody>
          <a:bodyPr wrap="square" lIns="0" tIns="0" rIns="0" bIns="0" rtlCol="0" anchor="ctr"/>
          <a:lstStyle/>
          <a:p>
            <a:pPr indent="0" marL="0">
              <a:buNone/>
            </a:pPr>
            <a:r>
              <a:rPr lang="en-US" sz="4000" b="1" dirty="0">
                <a:solidFill>
                  <a:srgbClr val="4F46E5"/>
                </a:solidFill>
                <a:latin typeface="Cambria" pitchFamily="34" charset="0"/>
                <a:ea typeface="Cambria" pitchFamily="34" charset="-122"/>
                <a:cs typeface="Cambria" pitchFamily="34" charset="-120"/>
              </a:rPr>
              <a:t>96</a:t>
            </a:r>
            <a:endParaRPr lang="en-US" sz="4000" dirty="0"/>
          </a:p>
        </p:txBody>
      </p:sp>
      <p:sp>
        <p:nvSpPr>
          <p:cNvPr id="14" name="Text 12"/>
          <p:cNvSpPr txBox="1"/>
          <p:nvPr/>
        </p:nvSpPr>
        <p:spPr>
          <a:xfrm>
            <a:off x="9692640" y="1984248"/>
            <a:ext cx="2103120" cy="457200"/>
          </a:xfrm>
          <a:prstGeom prst="rect">
            <a:avLst/>
          </a:prstGeom>
          <a:noFill/>
          <a:ln/>
        </p:spPr>
        <p:txBody>
          <a:bodyPr wrap="square" lIns="0" tIns="0" rIns="0" bIns="0" rtlCol="0" anchor="t"/>
          <a:lstStyle/>
          <a:p>
            <a:pPr indent="0" marL="0">
              <a:buNone/>
            </a:pPr>
            <a:r>
              <a:rPr lang="en-US" sz="1250" dirty="0">
                <a:solidFill>
                  <a:srgbClr val="6B7280"/>
                </a:solidFill>
              </a:rPr>
              <a:t>offers made</a:t>
            </a:r>
            <a:endParaRPr lang="en-US" sz="1250" dirty="0"/>
          </a:p>
        </p:txBody>
      </p:sp>
      <p:sp>
        <p:nvSpPr>
          <p:cNvPr id="15" name="Text 13"/>
          <p:cNvSpPr txBox="1"/>
          <p:nvPr/>
        </p:nvSpPr>
        <p:spPr>
          <a:xfrm>
            <a:off x="548640" y="2743200"/>
            <a:ext cx="5669280" cy="310896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374151"/>
                </a:solidFill>
              </a:rPr>
              <a:t>Reference data is hand-written INSERTs, readable on a slide</a:t>
            </a:r>
            <a:endParaRPr lang="en-US" sz="1500" dirty="0"/>
          </a:p>
          <a:p>
            <a:pPr marL="342900" indent="-342900">
              <a:spcAft>
                <a:spcPts val="1000"/>
              </a:spcAft>
              <a:buSzPct val="100000"/>
              <a:buChar char="•"/>
            </a:pPr>
            <a:r>
              <a:rPr lang="en-US" sz="1500" dirty="0">
                <a:solidFill>
                  <a:srgbClr val="374151"/>
                </a:solidFill>
              </a:rPr>
              <a:t>Students are generated set-based; setseed() makes every run identical</a:t>
            </a:r>
            <a:endParaRPr lang="en-US" sz="1500" dirty="0"/>
          </a:p>
          <a:p>
            <a:pPr marL="342900" indent="-342900">
              <a:spcAft>
                <a:spcPts val="1000"/>
              </a:spcAft>
              <a:buSzPct val="100000"/>
              <a:buChar char="•"/>
            </a:pPr>
            <a:r>
              <a:rPr lang="en-US" sz="1500" dirty="0">
                <a:solidFill>
                  <a:srgbClr val="374151"/>
                </a:solidFill>
              </a:rPr>
              <a:t>A PL/pgSQL simulation runs shortlist → rounds → offers → accept, job by job</a:t>
            </a:r>
            <a:endParaRPr lang="en-US" sz="1500" dirty="0"/>
          </a:p>
          <a:p>
            <a:pPr marL="342900" indent="-342900">
              <a:spcAft>
                <a:spcPts val="1000"/>
              </a:spcAft>
              <a:buSzPct val="100000"/>
              <a:buChar char="•"/>
            </a:pPr>
            <a:r>
              <a:rPr lang="en-US" sz="1500" dirty="0">
                <a:solidFill>
                  <a:srgbClr val="374151"/>
                </a:solidFill>
              </a:rPr>
              <a:t>Every row is loaded THROUGH the triggers, in one transaction: it all passed every rule, or nothing loads</a:t>
            </a:r>
            <a:endParaRPr lang="en-US" sz="1500" dirty="0"/>
          </a:p>
        </p:txBody>
      </p:sp>
      <p:sp>
        <p:nvSpPr>
          <p:cNvPr id="16" name="Shape 14"/>
          <p:cNvSpPr/>
          <p:nvPr/>
        </p:nvSpPr>
        <p:spPr>
          <a:xfrm>
            <a:off x="6547104" y="2706624"/>
            <a:ext cx="5148072" cy="3246120"/>
          </a:xfrm>
          <a:prstGeom prst="roundRect">
            <a:avLst>
              <a:gd name="adj" fmla="val 1408"/>
            </a:avLst>
          </a:prstGeom>
          <a:solidFill>
            <a:srgbClr val="FFFFFF"/>
          </a:solidFill>
          <a:ln w="12700">
            <a:solidFill>
              <a:srgbClr val="E5E7EB"/>
            </a:solidFill>
            <a:prstDash val="solid"/>
          </a:ln>
        </p:spPr>
      </p:sp>
      <p:pic>
        <p:nvPicPr>
          <p:cNvPr id="17" name="Image 0" descr="C:\Users\bhavy\Downloads\DBMS-20261028T151751Z-1-001\DBMS\Project\deliverables\screenshots\demo_02_students.png">    </p:cNvPr>
          <p:cNvPicPr>
            <a:picLocks noChangeAspect="1"/>
          </p:cNvPicPr>
          <p:nvPr/>
        </p:nvPicPr>
        <p:blipFill>
          <a:blip r:embed="rId1"/>
          <a:stretch>
            <a:fillRect/>
          </a:stretch>
        </p:blipFill>
        <p:spPr>
          <a:xfrm>
            <a:off x="6583680" y="2743200"/>
            <a:ext cx="5074920" cy="3172968"/>
          </a:xfrm>
          <a:prstGeom prst="rect">
            <a:avLst/>
          </a:prstGeom>
        </p:spPr>
      </p:pic>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144000" cy="731520"/>
          </a:xfrm>
          <a:prstGeom prst="rect">
            <a:avLst/>
          </a:prstGeom>
          <a:noFill/>
          <a:ln/>
        </p:spPr>
        <p:txBody>
          <a:bodyPr wrap="square" lIns="0" tIns="0" rIns="0" bIns="0" rtlCol="0" anchor="ctr"/>
          <a:lstStyle/>
          <a:p>
            <a:pPr algn="l" indent="0" marL="0">
              <a:buNone/>
            </a:pPr>
            <a:r>
              <a:rPr lang="en-US" sz="3000" b="1" dirty="0">
                <a:solidFill>
                  <a:srgbClr val="111827"/>
                </a:solidFill>
                <a:latin typeface="Cambria" pitchFamily="34" charset="0"/>
                <a:ea typeface="Cambria" pitchFamily="34" charset="-122"/>
                <a:cs typeface="Cambria" pitchFamily="34" charset="-120"/>
              </a:rPr>
              <a:t>Five queries, five business questions</a:t>
            </a:r>
            <a:endParaRPr lang="en-US" sz="3000" dirty="0"/>
          </a:p>
        </p:txBody>
      </p:sp>
      <p:sp>
        <p:nvSpPr>
          <p:cNvPr id="3" name="speaker-chip"/>
          <p:cNvSpPr/>
          <p:nvPr/>
        </p:nvSpPr>
        <p:spPr>
          <a:xfrm>
            <a:off x="9921240" y="457200"/>
            <a:ext cx="1737360" cy="402336"/>
          </a:xfrm>
          <a:prstGeom prst="roundRect">
            <a:avLst>
              <a:gd name="adj" fmla="val 50000"/>
            </a:avLst>
          </a:prstGeom>
          <a:solidFill>
            <a:srgbClr val="EEF0FF"/>
          </a:solidFill>
          <a:ln w="12700">
            <a:solidFill>
              <a:srgbClr val="EEF0FF"/>
            </a:solidFill>
            <a:prstDash val="solid"/>
          </a:ln>
        </p:spPr>
      </p:sp>
      <p:sp>
        <p:nvSpPr>
          <p:cNvPr id="4" name="Text 2"/>
          <p:cNvSpPr txBox="1"/>
          <p:nvPr/>
        </p:nvSpPr>
        <p:spPr>
          <a:xfrm>
            <a:off x="9921240" y="457200"/>
            <a:ext cx="1737360" cy="402336"/>
          </a:xfrm>
          <a:prstGeom prst="rect">
            <a:avLst/>
          </a:prstGeom>
          <a:noFill/>
          <a:ln/>
        </p:spPr>
        <p:txBody>
          <a:bodyPr wrap="square" lIns="0" tIns="0" rIns="0" bIns="0" rtlCol="0" anchor="ctr"/>
          <a:lstStyle/>
          <a:p>
            <a:pPr algn="ctr" indent="0" marL="0">
              <a:buNone/>
            </a:pPr>
            <a:r>
              <a:rPr lang="en-US" sz="1200" b="1" dirty="0">
                <a:solidFill>
                  <a:srgbClr val="4F46E5"/>
                </a:solidFill>
              </a:rPr>
              <a:t>M3  </a:t>
            </a:r>
            <a:pPr algn="ctr" indent="0" marL="0">
              <a:buNone/>
            </a:pPr>
            <a:r>
              <a:rPr lang="en-US" sz="1200" dirty="0">
                <a:solidFill>
                  <a:srgbClr val="312E81"/>
                </a:solidFill>
              </a:rPr>
              <a:t>[Member 3]</a:t>
            </a:r>
            <a:endParaRPr lang="en-US" sz="12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109960" cy="914400"/>
        </p:xfrm>
        <a:graphic>
          <a:graphicData uri="http://schemas.openxmlformats.org/drawingml/2006/table">
            <a:tbl>
              <a:tblPr/>
              <a:tblGrid>
                <a:gridCol w="502920"/>
                <a:gridCol w="3291840"/>
                <a:gridCol w="3840480"/>
                <a:gridCol w="3474720"/>
              </a:tblGrid>
              <a:tr h="713232">
                <a:tc>
                  <a:txBody>
                    <a:bodyPr/>
                    <a:lstStyle/>
                    <a:p>
                      <a:pPr indent="0" marL="0">
                        <a:buNone/>
                      </a:pPr>
                      <a:r>
                        <a:rPr lang="en-US" sz="1350" b="1" dirty="0">
                          <a:solidFill>
                            <a:srgbClr val="FFFFFF"/>
                          </a:solidFill>
                          <a:latin typeface="Calibri" pitchFamily="34" charset="0"/>
                          <a:ea typeface="Calibri" pitchFamily="34" charset="-122"/>
                          <a:cs typeface="Calibri" pitchFamily="34" charset="-120"/>
                        </a:rPr>
                        <a:t>#</a:t>
                      </a:r>
                      <a:endParaRPr lang="en-US" sz="1350" dirty="0">
                        <a:latin typeface="Calibri" charset="0"/>
                        <a:ea typeface="Calibri" charset="0"/>
                        <a:cs typeface="Calibri"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4F46E5"/>
                    </a:solidFill>
                  </a:tcPr>
                </a:tc>
                <a:tc>
                  <a:txBody>
                    <a:bodyPr/>
                    <a:lstStyle/>
                    <a:p>
                      <a:pPr indent="0" marL="0">
                        <a:buNone/>
                      </a:pPr>
                      <a:r>
                        <a:rPr lang="en-US" sz="1350" b="1" dirty="0">
                          <a:solidFill>
                            <a:srgbClr val="FFFFFF"/>
                          </a:solidFill>
                          <a:latin typeface="Calibri" pitchFamily="34" charset="0"/>
                          <a:ea typeface="Calibri" pitchFamily="34" charset="-122"/>
                          <a:cs typeface="Calibri" pitchFamily="34" charset="-120"/>
                        </a:rPr>
                        <a:t>Business question</a:t>
                      </a:r>
                      <a:endParaRPr lang="en-US" sz="1350" dirty="0">
                        <a:latin typeface="Calibri" charset="0"/>
                        <a:ea typeface="Calibri" charset="0"/>
                        <a:cs typeface="Calibri"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4F46E5"/>
                    </a:solidFill>
                  </a:tcPr>
                </a:tc>
                <a:tc>
                  <a:txBody>
                    <a:bodyPr/>
                    <a:lstStyle/>
                    <a:p>
                      <a:pPr indent="0" marL="0">
                        <a:buNone/>
                      </a:pPr>
                      <a:r>
                        <a:rPr lang="en-US" sz="1350" b="1" dirty="0">
                          <a:solidFill>
                            <a:srgbClr val="FFFFFF"/>
                          </a:solidFill>
                          <a:latin typeface="Calibri" pitchFamily="34" charset="0"/>
                          <a:ea typeface="Calibri" pitchFamily="34" charset="-122"/>
                          <a:cs typeface="Calibri" pitchFamily="34" charset="-120"/>
                        </a:rPr>
                        <a:t>SQL technique</a:t>
                      </a:r>
                      <a:endParaRPr lang="en-US" sz="1350" dirty="0">
                        <a:latin typeface="Calibri" charset="0"/>
                        <a:ea typeface="Calibri" charset="0"/>
                        <a:cs typeface="Calibri"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4F46E5"/>
                    </a:solidFill>
                  </a:tcPr>
                </a:tc>
                <a:tc>
                  <a:txBody>
                    <a:bodyPr/>
                    <a:lstStyle/>
                    <a:p>
                      <a:pPr indent="0" marL="0">
                        <a:buNone/>
                      </a:pPr>
                      <a:r>
                        <a:rPr lang="en-US" sz="1350" b="1" dirty="0">
                          <a:solidFill>
                            <a:srgbClr val="FFFFFF"/>
                          </a:solidFill>
                          <a:latin typeface="Calibri" pitchFamily="34" charset="0"/>
                          <a:ea typeface="Calibri" pitchFamily="34" charset="-122"/>
                          <a:cs typeface="Calibri" pitchFamily="34" charset="-120"/>
                        </a:rPr>
                        <a:t>Answer from our data</a:t>
                      </a:r>
                      <a:endParaRPr lang="en-US" sz="1350" dirty="0">
                        <a:latin typeface="Calibri" charset="0"/>
                        <a:ea typeface="Calibri" charset="0"/>
                        <a:cs typeface="Calibri"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4F46E5"/>
                    </a:solidFill>
                  </a:tcPr>
                </a:tc>
              </a:tr>
              <a:tr h="713232">
                <a:tc>
                  <a:txBody>
                    <a:bodyPr/>
                    <a:lstStyle/>
                    <a:p>
                      <a:pPr indent="0" marL="0">
                        <a:buNone/>
                      </a:pPr>
                      <a:r>
                        <a:rPr lang="en-US" sz="1350" dirty="0">
                          <a:solidFill>
                            <a:srgbClr val="374151"/>
                          </a:solidFill>
                          <a:latin typeface="Calibri" pitchFamily="34" charset="0"/>
                          <a:ea typeface="Calibri" pitchFamily="34" charset="-122"/>
                          <a:cs typeface="Calibri" pitchFamily="34" charset="-120"/>
                        </a:rPr>
                        <a:t>Q1</a:t>
                      </a:r>
                      <a:endParaRPr lang="en-US" sz="1350" dirty="0">
                        <a:latin typeface="Calibri" charset="0"/>
                        <a:ea typeface="Calibri" charset="0"/>
                        <a:cs typeface="Calibri"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350" dirty="0">
                          <a:solidFill>
                            <a:srgbClr val="374151"/>
                          </a:solidFill>
                          <a:latin typeface="Calibri" pitchFamily="34" charset="0"/>
                          <a:ea typeface="Calibri" pitchFamily="34" charset="-122"/>
                          <a:cs typeface="Calibri" pitchFamily="34" charset="-120"/>
                        </a:rPr>
                        <a:t>Which recruiters are hardest to crack?</a:t>
                      </a:r>
                      <a:endParaRPr lang="en-US" sz="1350" dirty="0">
                        <a:latin typeface="Calibri" charset="0"/>
                        <a:ea typeface="Calibri" charset="0"/>
                        <a:cs typeface="Calibri"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350" dirty="0">
                          <a:solidFill>
                            <a:srgbClr val="374151"/>
                          </a:solidFill>
                          <a:latin typeface="Calibri" pitchFamily="34" charset="0"/>
                          <a:ea typeface="Calibri" pitchFamily="34" charset="-122"/>
                          <a:cs typeface="Calibri" pitchFamily="34" charset="-120"/>
                        </a:rPr>
                        <a:t>Joins, outer join, GROUP BY, HAVING vs scalar subquery</a:t>
                      </a:r>
                      <a:endParaRPr lang="en-US" sz="1350" dirty="0">
                        <a:latin typeface="Calibri" charset="0"/>
                        <a:ea typeface="Calibri" charset="0"/>
                        <a:cs typeface="Calibri"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350" dirty="0">
                          <a:solidFill>
                            <a:srgbClr val="374151"/>
                          </a:solidFill>
                          <a:latin typeface="Calibri" pitchFamily="34" charset="0"/>
                          <a:ea typeface="Calibri" pitchFamily="34" charset="-122"/>
                          <a:cs typeface="Calibri" pitchFamily="34" charset="-120"/>
                        </a:rPr>
                        <a:t>5 companies; Meridian Insurance offers to 8.6%</a:t>
                      </a:r>
                      <a:endParaRPr lang="en-US" sz="1350" dirty="0">
                        <a:latin typeface="Calibri" charset="0"/>
                        <a:ea typeface="Calibri" charset="0"/>
                        <a:cs typeface="Calibri"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713232">
                <a:tc>
                  <a:txBody>
                    <a:bodyPr/>
                    <a:lstStyle/>
                    <a:p>
                      <a:pPr indent="0" marL="0">
                        <a:buNone/>
                      </a:pPr>
                      <a:r>
                        <a:rPr lang="en-US" sz="1350" dirty="0">
                          <a:solidFill>
                            <a:srgbClr val="374151"/>
                          </a:solidFill>
                          <a:latin typeface="Calibri" pitchFamily="34" charset="0"/>
                          <a:ea typeface="Calibri" pitchFamily="34" charset="-122"/>
                          <a:cs typeface="Calibri" pitchFamily="34" charset="-120"/>
                        </a:rPr>
                        <a:t>Q2</a:t>
                      </a:r>
                      <a:endParaRPr lang="en-US" sz="1350" dirty="0">
                        <a:latin typeface="Calibri" charset="0"/>
                        <a:ea typeface="Calibri" charset="0"/>
                        <a:cs typeface="Calibri"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6F7FB"/>
                    </a:solidFill>
                  </a:tcPr>
                </a:tc>
                <a:tc>
                  <a:txBody>
                    <a:bodyPr/>
                    <a:lstStyle/>
                    <a:p>
                      <a:pPr indent="0" marL="0">
                        <a:buNone/>
                      </a:pPr>
                      <a:r>
                        <a:rPr lang="en-US" sz="1350" dirty="0">
                          <a:solidFill>
                            <a:srgbClr val="374151"/>
                          </a:solidFill>
                          <a:latin typeface="Calibri" pitchFamily="34" charset="0"/>
                          <a:ea typeface="Calibri" pitchFamily="34" charset="-122"/>
                          <a:cs typeface="Calibri" pitchFamily="34" charset="-120"/>
                        </a:rPr>
                        <a:t>Who holds EVERY skill a new job needs?</a:t>
                      </a:r>
                      <a:endParaRPr lang="en-US" sz="1350" dirty="0">
                        <a:latin typeface="Calibri" charset="0"/>
                        <a:ea typeface="Calibri" charset="0"/>
                        <a:cs typeface="Calibri"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6F7FB"/>
                    </a:solidFill>
                  </a:tcPr>
                </a:tc>
                <a:tc>
                  <a:txBody>
                    <a:bodyPr/>
                    <a:lstStyle/>
                    <a:p>
                      <a:pPr indent="0" marL="0">
                        <a:buNone/>
                      </a:pPr>
                      <a:r>
                        <a:rPr lang="en-US" sz="1350" dirty="0">
                          <a:solidFill>
                            <a:srgbClr val="374151"/>
                          </a:solidFill>
                          <a:latin typeface="Calibri" pitchFamily="34" charset="0"/>
                          <a:ea typeface="Calibri" pitchFamily="34" charset="-122"/>
                          <a:cs typeface="Calibri" pitchFamily="34" charset="-120"/>
                        </a:rPr>
                        <a:t>Relational division: double NOT EXISTS</a:t>
                      </a:r>
                      <a:endParaRPr lang="en-US" sz="1350" dirty="0">
                        <a:latin typeface="Calibri" charset="0"/>
                        <a:ea typeface="Calibri" charset="0"/>
                        <a:cs typeface="Calibri"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6F7FB"/>
                    </a:solidFill>
                  </a:tcPr>
                </a:tc>
                <a:tc>
                  <a:txBody>
                    <a:bodyPr/>
                    <a:lstStyle/>
                    <a:p>
                      <a:pPr indent="0" marL="0">
                        <a:buNone/>
                      </a:pPr>
                      <a:r>
                        <a:rPr lang="en-US" sz="1350" dirty="0">
                          <a:solidFill>
                            <a:srgbClr val="374151"/>
                          </a:solidFill>
                          <a:latin typeface="Calibri" pitchFamily="34" charset="0"/>
                          <a:ea typeface="Calibri" pitchFamily="34" charset="-122"/>
                          <a:cs typeface="Calibri" pitchFamily="34" charset="-120"/>
                        </a:rPr>
                        <a:t>8 students, led by DBA12-039</a:t>
                      </a:r>
                      <a:endParaRPr lang="en-US" sz="1350" dirty="0">
                        <a:latin typeface="Calibri" charset="0"/>
                        <a:ea typeface="Calibri" charset="0"/>
                        <a:cs typeface="Calibri"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6F7FB"/>
                    </a:solidFill>
                  </a:tcPr>
                </a:tc>
              </a:tr>
              <a:tr h="713232">
                <a:tc>
                  <a:txBody>
                    <a:bodyPr/>
                    <a:lstStyle/>
                    <a:p>
                      <a:pPr indent="0" marL="0">
                        <a:buNone/>
                      </a:pPr>
                      <a:r>
                        <a:rPr lang="en-US" sz="1350" dirty="0">
                          <a:solidFill>
                            <a:srgbClr val="374151"/>
                          </a:solidFill>
                          <a:latin typeface="Calibri" pitchFamily="34" charset="0"/>
                          <a:ea typeface="Calibri" pitchFamily="34" charset="-122"/>
                          <a:cs typeface="Calibri" pitchFamily="34" charset="-120"/>
                        </a:rPr>
                        <a:t>Q3</a:t>
                      </a:r>
                      <a:endParaRPr lang="en-US" sz="1350" dirty="0">
                        <a:latin typeface="Calibri" charset="0"/>
                        <a:ea typeface="Calibri" charset="0"/>
                        <a:cs typeface="Calibri"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350" dirty="0">
                          <a:solidFill>
                            <a:srgbClr val="374151"/>
                          </a:solidFill>
                          <a:latin typeface="Calibri" pitchFamily="34" charset="0"/>
                          <a:ea typeface="Calibri" pitchFamily="34" charset="-122"/>
                          <a:cs typeface="Calibri" pitchFamily="34" charset="-120"/>
                        </a:rPr>
                        <a:t>Top earners per program?</a:t>
                      </a:r>
                      <a:endParaRPr lang="en-US" sz="1350" dirty="0">
                        <a:latin typeface="Calibri" charset="0"/>
                        <a:ea typeface="Calibri" charset="0"/>
                        <a:cs typeface="Calibri"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350" dirty="0">
                          <a:solidFill>
                            <a:srgbClr val="374151"/>
                          </a:solidFill>
                          <a:latin typeface="Calibri" pitchFamily="34" charset="0"/>
                          <a:ea typeface="Calibri" pitchFamily="34" charset="-122"/>
                          <a:cs typeface="Calibri" pitchFamily="34" charset="-120"/>
                        </a:rPr>
                        <a:t>DENSE_RANK, NTILE, AVG() OVER on a view</a:t>
                      </a:r>
                      <a:endParaRPr lang="en-US" sz="1350" dirty="0">
                        <a:latin typeface="Calibri" charset="0"/>
                        <a:ea typeface="Calibri" charset="0"/>
                        <a:cs typeface="Calibri"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350" dirty="0">
                          <a:solidFill>
                            <a:srgbClr val="374151"/>
                          </a:solidFill>
                          <a:latin typeface="Calibri" pitchFamily="34" charset="0"/>
                          <a:ea typeface="Calibri" pitchFamily="34" charset="-122"/>
                          <a:cs typeface="Calibri" pitchFamily="34" charset="-120"/>
                        </a:rPr>
                        <a:t>Top CTC ₹38 LPA</a:t>
                      </a:r>
                      <a:endParaRPr lang="en-US" sz="1350" dirty="0">
                        <a:latin typeface="Calibri" charset="0"/>
                        <a:ea typeface="Calibri" charset="0"/>
                        <a:cs typeface="Calibri"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713232">
                <a:tc>
                  <a:txBody>
                    <a:bodyPr/>
                    <a:lstStyle/>
                    <a:p>
                      <a:pPr indent="0" marL="0">
                        <a:buNone/>
                      </a:pPr>
                      <a:r>
                        <a:rPr lang="en-US" sz="1350" dirty="0">
                          <a:solidFill>
                            <a:srgbClr val="374151"/>
                          </a:solidFill>
                          <a:latin typeface="Calibri" pitchFamily="34" charset="0"/>
                          <a:ea typeface="Calibri" pitchFamily="34" charset="-122"/>
                          <a:cs typeface="Calibri" pitchFamily="34" charset="-120"/>
                        </a:rPr>
                        <a:t>Q4</a:t>
                      </a:r>
                      <a:endParaRPr lang="en-US" sz="1350" dirty="0">
                        <a:latin typeface="Calibri" charset="0"/>
                        <a:ea typeface="Calibri" charset="0"/>
                        <a:cs typeface="Calibri"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6F7FB"/>
                    </a:solidFill>
                  </a:tcPr>
                </a:tc>
                <a:tc>
                  <a:txBody>
                    <a:bodyPr/>
                    <a:lstStyle/>
                    <a:p>
                      <a:pPr indent="0" marL="0">
                        <a:buNone/>
                      </a:pPr>
                      <a:r>
                        <a:rPr lang="en-US" sz="1350" dirty="0">
                          <a:solidFill>
                            <a:srgbClr val="374151"/>
                          </a:solidFill>
                          <a:latin typeface="Calibri" pitchFamily="34" charset="0"/>
                          <a:ea typeface="Calibri" pitchFamily="34" charset="-122"/>
                          <a:cs typeface="Calibri" pitchFamily="34" charset="-120"/>
                        </a:rPr>
                        <a:t>How fast is each batch getting placed?</a:t>
                      </a:r>
                      <a:endParaRPr lang="en-US" sz="1350" dirty="0">
                        <a:latin typeface="Calibri" charset="0"/>
                        <a:ea typeface="Calibri" charset="0"/>
                        <a:cs typeface="Calibri"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6F7FB"/>
                    </a:solidFill>
                  </a:tcPr>
                </a:tc>
                <a:tc>
                  <a:txBody>
                    <a:bodyPr/>
                    <a:lstStyle/>
                    <a:p>
                      <a:pPr indent="0" marL="0">
                        <a:buNone/>
                      </a:pPr>
                      <a:r>
                        <a:rPr lang="en-US" sz="1350" dirty="0">
                          <a:solidFill>
                            <a:srgbClr val="374151"/>
                          </a:solidFill>
                          <a:latin typeface="Calibri" pitchFamily="34" charset="0"/>
                          <a:ea typeface="Calibri" pitchFamily="34" charset="-122"/>
                          <a:cs typeface="Calibri" pitchFamily="34" charset="-120"/>
                        </a:rPr>
                        <a:t>CTEs, generate_series, running SUM() OVER</a:t>
                      </a:r>
                      <a:endParaRPr lang="en-US" sz="1350" dirty="0">
                        <a:latin typeface="Calibri" charset="0"/>
                        <a:ea typeface="Calibri" charset="0"/>
                        <a:cs typeface="Calibri"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6F7FB"/>
                    </a:solidFill>
                  </a:tcPr>
                </a:tc>
                <a:tc>
                  <a:txBody>
                    <a:bodyPr/>
                    <a:lstStyle/>
                    <a:p>
                      <a:pPr indent="0" marL="0">
                        <a:buNone/>
                      </a:pPr>
                      <a:r>
                        <a:rPr lang="en-US" sz="1350" dirty="0">
                          <a:solidFill>
                            <a:srgbClr val="374151"/>
                          </a:solidFill>
                          <a:latin typeface="Calibri" pitchFamily="34" charset="0"/>
                          <a:ea typeface="Calibri" pitchFamily="34" charset="-122"/>
                          <a:cs typeface="Calibri" pitchFamily="34" charset="-120"/>
                        </a:rPr>
                        <a:t>20.3% of PGDBA placed by 28 Oct</a:t>
                      </a:r>
                      <a:endParaRPr lang="en-US" sz="1350" dirty="0">
                        <a:latin typeface="Calibri" charset="0"/>
                        <a:ea typeface="Calibri" charset="0"/>
                        <a:cs typeface="Calibri"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6F7FB"/>
                    </a:solidFill>
                  </a:tcPr>
                </a:tc>
              </a:tr>
              <a:tr h="713232">
                <a:tc>
                  <a:txBody>
                    <a:bodyPr/>
                    <a:lstStyle/>
                    <a:p>
                      <a:pPr indent="0" marL="0">
                        <a:buNone/>
                      </a:pPr>
                      <a:r>
                        <a:rPr lang="en-US" sz="1350" dirty="0">
                          <a:solidFill>
                            <a:srgbClr val="374151"/>
                          </a:solidFill>
                          <a:latin typeface="Calibri" pitchFamily="34" charset="0"/>
                          <a:ea typeface="Calibri" pitchFamily="34" charset="-122"/>
                          <a:cs typeface="Calibri" pitchFamily="34" charset="-120"/>
                        </a:rPr>
                        <a:t>Q5</a:t>
                      </a:r>
                      <a:endParaRPr lang="en-US" sz="1350" dirty="0">
                        <a:latin typeface="Calibri" charset="0"/>
                        <a:ea typeface="Calibri" charset="0"/>
                        <a:cs typeface="Calibri"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350" dirty="0">
                          <a:solidFill>
                            <a:srgbClr val="374151"/>
                          </a:solidFill>
                          <a:latin typeface="Calibri" pitchFamily="34" charset="0"/>
                          <a:ea typeface="Calibri" pitchFamily="34" charset="-122"/>
                          <a:cs typeface="Calibri" pitchFamily="34" charset="-120"/>
                        </a:rPr>
                        <a:t>Strong students lost in interviews?</a:t>
                      </a:r>
                      <a:endParaRPr lang="en-US" sz="1350" dirty="0">
                        <a:latin typeface="Calibri" charset="0"/>
                        <a:ea typeface="Calibri" charset="0"/>
                        <a:cs typeface="Calibri"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350" dirty="0">
                          <a:solidFill>
                            <a:srgbClr val="374151"/>
                          </a:solidFill>
                          <a:latin typeface="Calibri" pitchFamily="34" charset="0"/>
                          <a:ea typeface="Calibri" pitchFamily="34" charset="-122"/>
                          <a:cs typeface="Calibri" pitchFamily="34" charset="-120"/>
                        </a:rPr>
                        <a:t>Correlated subquery + LATERAL join</a:t>
                      </a:r>
                      <a:endParaRPr lang="en-US" sz="1350" dirty="0">
                        <a:latin typeface="Calibri" charset="0"/>
                        <a:ea typeface="Calibri" charset="0"/>
                        <a:cs typeface="Calibri"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350" dirty="0">
                          <a:solidFill>
                            <a:srgbClr val="374151"/>
                          </a:solidFill>
                          <a:latin typeface="Calibri" pitchFamily="34" charset="0"/>
                          <a:ea typeface="Calibri" pitchFamily="34" charset="-122"/>
                          <a:cs typeface="Calibri" pitchFamily="34" charset="-120"/>
                        </a:rPr>
                        <a:t>3 students flagged for coaching</a:t>
                      </a:r>
                      <a:endParaRPr lang="en-US" sz="1350" dirty="0">
                        <a:latin typeface="Calibri" charset="0"/>
                        <a:ea typeface="Calibri" charset="0"/>
                        <a:cs typeface="Calibri"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144000" cy="731520"/>
          </a:xfrm>
          <a:prstGeom prst="rect">
            <a:avLst/>
          </a:prstGeom>
          <a:noFill/>
          <a:ln/>
        </p:spPr>
        <p:txBody>
          <a:bodyPr wrap="square" lIns="0" tIns="0" rIns="0" bIns="0" rtlCol="0" anchor="ctr"/>
          <a:lstStyle/>
          <a:p>
            <a:pPr algn="l" indent="0" marL="0">
              <a:buNone/>
            </a:pPr>
            <a:r>
              <a:rPr lang="en-US" sz="3000" b="1" dirty="0">
                <a:solidFill>
                  <a:srgbClr val="111827"/>
                </a:solidFill>
                <a:latin typeface="Cambria" pitchFamily="34" charset="0"/>
                <a:ea typeface="Cambria" pitchFamily="34" charset="-122"/>
                <a:cs typeface="Cambria" pitchFamily="34" charset="-120"/>
              </a:rPr>
              <a:t>Spotlight: relational division and window functions</a:t>
            </a:r>
            <a:endParaRPr lang="en-US" sz="3000" dirty="0"/>
          </a:p>
        </p:txBody>
      </p:sp>
      <p:sp>
        <p:nvSpPr>
          <p:cNvPr id="3" name="speaker-chip"/>
          <p:cNvSpPr/>
          <p:nvPr/>
        </p:nvSpPr>
        <p:spPr>
          <a:xfrm>
            <a:off x="9921240" y="457200"/>
            <a:ext cx="1737360" cy="402336"/>
          </a:xfrm>
          <a:prstGeom prst="roundRect">
            <a:avLst>
              <a:gd name="adj" fmla="val 50000"/>
            </a:avLst>
          </a:prstGeom>
          <a:solidFill>
            <a:srgbClr val="EEF0FF"/>
          </a:solidFill>
          <a:ln w="12700">
            <a:solidFill>
              <a:srgbClr val="EEF0FF"/>
            </a:solidFill>
            <a:prstDash val="solid"/>
          </a:ln>
        </p:spPr>
      </p:sp>
      <p:sp>
        <p:nvSpPr>
          <p:cNvPr id="4" name="Text 2"/>
          <p:cNvSpPr txBox="1"/>
          <p:nvPr/>
        </p:nvSpPr>
        <p:spPr>
          <a:xfrm>
            <a:off x="9921240" y="457200"/>
            <a:ext cx="1737360" cy="402336"/>
          </a:xfrm>
          <a:prstGeom prst="rect">
            <a:avLst/>
          </a:prstGeom>
          <a:noFill/>
          <a:ln/>
        </p:spPr>
        <p:txBody>
          <a:bodyPr wrap="square" lIns="0" tIns="0" rIns="0" bIns="0" rtlCol="0" anchor="ctr"/>
          <a:lstStyle/>
          <a:p>
            <a:pPr algn="ctr" indent="0" marL="0">
              <a:buNone/>
            </a:pPr>
            <a:r>
              <a:rPr lang="en-US" sz="1200" b="1" dirty="0">
                <a:solidFill>
                  <a:srgbClr val="4F46E5"/>
                </a:solidFill>
              </a:rPr>
              <a:t>M3  </a:t>
            </a:r>
            <a:pPr algn="ctr" indent="0" marL="0">
              <a:buNone/>
            </a:pPr>
            <a:r>
              <a:rPr lang="en-US" sz="1200" dirty="0">
                <a:solidFill>
                  <a:srgbClr val="312E81"/>
                </a:solidFill>
              </a:rPr>
              <a:t>[Member 3]</a:t>
            </a:r>
            <a:endParaRPr lang="en-US" sz="1200" dirty="0"/>
          </a:p>
        </p:txBody>
      </p:sp>
      <p:sp>
        <p:nvSpPr>
          <p:cNvPr id="5" name="Shape 3"/>
          <p:cNvSpPr/>
          <p:nvPr/>
        </p:nvSpPr>
        <p:spPr>
          <a:xfrm>
            <a:off x="548640" y="1371600"/>
            <a:ext cx="5669280" cy="3246120"/>
          </a:xfrm>
          <a:prstGeom prst="roundRect">
            <a:avLst>
              <a:gd name="adj" fmla="val 2254"/>
            </a:avLst>
          </a:prstGeom>
          <a:solidFill>
            <a:srgbClr val="0F172A"/>
          </a:solidFill>
          <a:ln w="12700">
            <a:solidFill>
              <a:srgbClr val="0F172A"/>
            </a:solidFill>
            <a:prstDash val="solid"/>
          </a:ln>
        </p:spPr>
      </p:sp>
      <p:sp>
        <p:nvSpPr>
          <p:cNvPr id="6" name="Text 4"/>
          <p:cNvSpPr txBox="1"/>
          <p:nvPr/>
        </p:nvSpPr>
        <p:spPr>
          <a:xfrm>
            <a:off x="731520" y="1508760"/>
            <a:ext cx="5303520" cy="2971800"/>
          </a:xfrm>
          <a:prstGeom prst="rect">
            <a:avLst/>
          </a:prstGeom>
          <a:noFill/>
          <a:ln/>
        </p:spPr>
        <p:txBody>
          <a:bodyPr wrap="square" lIns="0" tIns="0" rIns="0" bIns="0" rtlCol="0" anchor="t"/>
          <a:lstStyle/>
          <a:p>
            <a:pPr indent="0" marL="0">
              <a:buNone/>
            </a:pPr>
            <a:r>
              <a:rPr lang="en-US" sz="1250" dirty="0">
                <a:solidFill>
                  <a:srgbClr val="E2E8F0"/>
                </a:solidFill>
                <a:latin typeface="Courier New" pitchFamily="34" charset="0"/>
                <a:ea typeface="Courier New" pitchFamily="34" charset="-122"/>
                <a:cs typeface="Courier New" pitchFamily="34" charset="-120"/>
              </a:rPr>
              <a:t>-- students holding EVERY skill job 25 needs</a:t>
            </a:r>
            <a:endParaRPr lang="en-US" sz="1250" dirty="0"/>
          </a:p>
          <a:p>
            <a:pPr indent="0" marL="0">
              <a:buNone/>
            </a:pPr>
            <a:r>
              <a:rPr lang="en-US" sz="1250" dirty="0">
                <a:solidFill>
                  <a:srgbClr val="E2E8F0"/>
                </a:solidFill>
                <a:latin typeface="Courier New" pitchFamily="34" charset="0"/>
                <a:ea typeface="Courier New" pitchFamily="34" charset="-122"/>
                <a:cs typeface="Courier New" pitchFamily="34" charset="-120"/>
              </a:rPr>
              <a:t>SELECT s.roll_no FROM student s</a:t>
            </a:r>
            <a:endParaRPr lang="en-US" sz="1250" dirty="0"/>
          </a:p>
          <a:p>
            <a:pPr indent="0" marL="0">
              <a:buNone/>
            </a:pPr>
            <a:r>
              <a:rPr lang="en-US" sz="1250" dirty="0">
                <a:solidFill>
                  <a:srgbClr val="E2E8F0"/>
                </a:solidFill>
                <a:latin typeface="Courier New" pitchFamily="34" charset="0"/>
                <a:ea typeface="Courier New" pitchFamily="34" charset="-122"/>
                <a:cs typeface="Courier New" pitchFamily="34" charset="-120"/>
              </a:rPr>
              <a:t>WHERE NOT EXISTS (          -- no required skill</a:t>
            </a:r>
            <a:endParaRPr lang="en-US" sz="1250" dirty="0"/>
          </a:p>
          <a:p>
            <a:pPr indent="0" marL="0">
              <a:buNone/>
            </a:pPr>
            <a:r>
              <a:rPr lang="en-US" sz="1250" dirty="0">
                <a:solidFill>
                  <a:srgbClr val="E2E8F0"/>
                </a:solidFill>
                <a:latin typeface="Courier New" pitchFamily="34" charset="0"/>
                <a:ea typeface="Courier New" pitchFamily="34" charset="-122"/>
                <a:cs typeface="Courier New" pitchFamily="34" charset="-120"/>
              </a:rPr>
              <a:t>  SELECT 1 FROM job_required_skill r</a:t>
            </a:r>
            <a:endParaRPr lang="en-US" sz="1250" dirty="0"/>
          </a:p>
          <a:p>
            <a:pPr indent="0" marL="0">
              <a:buNone/>
            </a:pPr>
            <a:r>
              <a:rPr lang="en-US" sz="1250" dirty="0">
                <a:solidFill>
                  <a:srgbClr val="E2E8F0"/>
                </a:solidFill>
                <a:latin typeface="Courier New" pitchFamily="34" charset="0"/>
                <a:ea typeface="Courier New" pitchFamily="34" charset="-122"/>
                <a:cs typeface="Courier New" pitchFamily="34" charset="-120"/>
              </a:rPr>
              <a:t>  WHERE r.job_id = 25</a:t>
            </a:r>
            <a:endParaRPr lang="en-US" sz="1250" dirty="0"/>
          </a:p>
          <a:p>
            <a:pPr indent="0" marL="0">
              <a:buNone/>
            </a:pPr>
            <a:r>
              <a:rPr lang="en-US" sz="1250" dirty="0">
                <a:solidFill>
                  <a:srgbClr val="E2E8F0"/>
                </a:solidFill>
                <a:latin typeface="Courier New" pitchFamily="34" charset="0"/>
                <a:ea typeface="Courier New" pitchFamily="34" charset="-122"/>
                <a:cs typeface="Courier New" pitchFamily="34" charset="-120"/>
              </a:rPr>
              <a:t>    AND NOT EXISTS (        -- ... that s lacks</a:t>
            </a:r>
            <a:endParaRPr lang="en-US" sz="1250" dirty="0"/>
          </a:p>
          <a:p>
            <a:pPr indent="0" marL="0">
              <a:buNone/>
            </a:pPr>
            <a:r>
              <a:rPr lang="en-US" sz="1250" dirty="0">
                <a:solidFill>
                  <a:srgbClr val="E2E8F0"/>
                </a:solidFill>
                <a:latin typeface="Courier New" pitchFamily="34" charset="0"/>
                <a:ea typeface="Courier New" pitchFamily="34" charset="-122"/>
                <a:cs typeface="Courier New" pitchFamily="34" charset="-120"/>
              </a:rPr>
              <a:t>      SELECT 1 FROM student_skill ss</a:t>
            </a:r>
            <a:endParaRPr lang="en-US" sz="1250" dirty="0"/>
          </a:p>
          <a:p>
            <a:pPr indent="0" marL="0">
              <a:buNone/>
            </a:pPr>
            <a:r>
              <a:rPr lang="en-US" sz="1250" dirty="0">
                <a:solidFill>
                  <a:srgbClr val="E2E8F0"/>
                </a:solidFill>
                <a:latin typeface="Courier New" pitchFamily="34" charset="0"/>
                <a:ea typeface="Courier New" pitchFamily="34" charset="-122"/>
                <a:cs typeface="Courier New" pitchFamily="34" charset="-120"/>
              </a:rPr>
              <a:t>      WHERE ss.student_id = s.person_id</a:t>
            </a:r>
            <a:endParaRPr lang="en-US" sz="1250" dirty="0"/>
          </a:p>
          <a:p>
            <a:pPr indent="0" marL="0">
              <a:buNone/>
            </a:pPr>
            <a:r>
              <a:rPr lang="en-US" sz="1250" dirty="0">
                <a:solidFill>
                  <a:srgbClr val="E2E8F0"/>
                </a:solidFill>
                <a:latin typeface="Courier New" pitchFamily="34" charset="0"/>
                <a:ea typeface="Courier New" pitchFamily="34" charset="-122"/>
                <a:cs typeface="Courier New" pitchFamily="34" charset="-120"/>
              </a:rPr>
              <a:t>        AND ss.skill_id   = r.skill_id</a:t>
            </a:r>
            <a:endParaRPr lang="en-US" sz="1250" dirty="0"/>
          </a:p>
          <a:p>
            <a:pPr indent="0" marL="0">
              <a:buNone/>
            </a:pPr>
            <a:r>
              <a:rPr lang="en-US" sz="1250" dirty="0">
                <a:solidFill>
                  <a:srgbClr val="E2E8F0"/>
                </a:solidFill>
                <a:latin typeface="Courier New" pitchFamily="34" charset="0"/>
                <a:ea typeface="Courier New" pitchFamily="34" charset="-122"/>
                <a:cs typeface="Courier New" pitchFamily="34" charset="-120"/>
              </a:rPr>
              <a:t>        AND ss.proficiency &gt;= r.min_proficiency));</a:t>
            </a:r>
            <a:endParaRPr lang="en-US" sz="1250" dirty="0"/>
          </a:p>
        </p:txBody>
      </p:sp>
      <p:sp>
        <p:nvSpPr>
          <p:cNvPr id="7" name="Text 5"/>
          <p:cNvSpPr txBox="1"/>
          <p:nvPr/>
        </p:nvSpPr>
        <p:spPr>
          <a:xfrm>
            <a:off x="548640" y="4754880"/>
            <a:ext cx="5669280" cy="365760"/>
          </a:xfrm>
          <a:prstGeom prst="rect">
            <a:avLst/>
          </a:prstGeom>
          <a:noFill/>
          <a:ln/>
        </p:spPr>
        <p:txBody>
          <a:bodyPr wrap="square" lIns="0" tIns="0" rIns="0" bIns="0" rtlCol="0" anchor="ctr"/>
          <a:lstStyle/>
          <a:p>
            <a:pPr indent="0" marL="0">
              <a:buNone/>
            </a:pPr>
            <a:r>
              <a:rPr lang="en-US" sz="1400" b="1" dirty="0">
                <a:solidFill>
                  <a:srgbClr val="4F46E5"/>
                </a:solidFill>
              </a:rPr>
              <a:t>Qualified(student, skill) ÷ π skill (σ job = 25 (JobRequiredSkill))</a:t>
            </a:r>
            <a:endParaRPr lang="en-US" sz="1400" dirty="0"/>
          </a:p>
        </p:txBody>
      </p:sp>
      <p:sp>
        <p:nvSpPr>
          <p:cNvPr id="8" name="Text 6"/>
          <p:cNvSpPr txBox="1"/>
          <p:nvPr/>
        </p:nvSpPr>
        <p:spPr>
          <a:xfrm>
            <a:off x="548640" y="5166360"/>
            <a:ext cx="5669280" cy="731520"/>
          </a:xfrm>
          <a:prstGeom prst="rect">
            <a:avLst/>
          </a:prstGeom>
          <a:noFill/>
          <a:ln/>
        </p:spPr>
        <p:txBody>
          <a:bodyPr wrap="square" lIns="0" tIns="0" rIns="0" bIns="0" rtlCol="0" anchor="t"/>
          <a:lstStyle/>
          <a:p>
            <a:pPr indent="0" marL="0">
              <a:buNone/>
            </a:pPr>
            <a:r>
              <a:rPr lang="en-US" sz="1300" dirty="0">
                <a:solidFill>
                  <a:srgbClr val="374151"/>
                </a:solidFill>
              </a:rPr>
              <a:t>Cross-checked against division-by-counting (GROUP BY … HAVING count = …) for all 25 jobs: identical results (test TC-QRY-06).</a:t>
            </a:r>
            <a:endParaRPr lang="en-US" sz="1300" dirty="0"/>
          </a:p>
        </p:txBody>
      </p:sp>
      <p:graphicFrame>
        <p:nvGraphicFramePr>
          <p:cNvPr id="9" name="Chart 0" descr=""/>
          <p:cNvGraphicFramePr/>
          <p:nvPr/>
        </p:nvGraphicFramePr>
        <p:xfrm>
          <a:off x="6537960" y="1325880"/>
          <a:ext cx="5120640" cy="4206240"/>
        </p:xfrm>
        <a:graphic xmlns:a="http://schemas.openxmlformats.org/drawingml/2006/main">
          <a:graphicData uri="http://schemas.openxmlformats.org/drawingml/2006/chart">
            <c:chart xmlns:c="http://schemas.openxmlformats.org/drawingml/2006/chart" r:id="rId1"/>
          </a:graphicData>
        </a:graphic>
      </p:graphicFrame>
      <p:sp>
        <p:nvSpPr>
          <p:cNvPr id="10" name="Text 7"/>
          <p:cNvSpPr txBox="1"/>
          <p:nvPr/>
        </p:nvSpPr>
        <p:spPr>
          <a:xfrm>
            <a:off x="6537960" y="5623560"/>
            <a:ext cx="5120640" cy="457200"/>
          </a:xfrm>
          <a:prstGeom prst="rect">
            <a:avLst/>
          </a:prstGeom>
          <a:noFill/>
          <a:ln/>
        </p:spPr>
        <p:txBody>
          <a:bodyPr wrap="square" lIns="0" tIns="0" rIns="0" bIns="0" rtlCol="0" anchor="ctr"/>
          <a:lstStyle/>
          <a:p>
            <a:pPr indent="0" marL="0">
              <a:buNone/>
            </a:pPr>
            <a:r>
              <a:rPr lang="en-US" sz="1250" i="1" dirty="0">
                <a:solidFill>
                  <a:srgbClr val="6B7280"/>
                </a:solidFill>
              </a:rPr>
              <a:t>Window functions aggregate without collapsing rows: each day keeps its own row and gets a running total.</a:t>
            </a:r>
            <a:endParaRPr lang="en-US" sz="125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144000" cy="731520"/>
          </a:xfrm>
          <a:prstGeom prst="rect">
            <a:avLst/>
          </a:prstGeom>
          <a:noFill/>
          <a:ln/>
        </p:spPr>
        <p:txBody>
          <a:bodyPr wrap="square" lIns="0" tIns="0" rIns="0" bIns="0" rtlCol="0" anchor="ctr"/>
          <a:lstStyle/>
          <a:p>
            <a:pPr algn="l" indent="0" marL="0">
              <a:buNone/>
            </a:pPr>
            <a:r>
              <a:rPr lang="en-US" sz="3000" b="1" dirty="0">
                <a:solidFill>
                  <a:srgbClr val="111827"/>
                </a:solidFill>
                <a:latin typeface="Cambria" pitchFamily="34" charset="0"/>
                <a:ea typeface="Cambria" pitchFamily="34" charset="-122"/>
                <a:cs typeface="Cambria" pitchFamily="34" charset="-120"/>
              </a:rPr>
              <a:t>The one-offer policy, as a trigger</a:t>
            </a:r>
            <a:endParaRPr lang="en-US" sz="3000" dirty="0"/>
          </a:p>
        </p:txBody>
      </p:sp>
      <p:sp>
        <p:nvSpPr>
          <p:cNvPr id="3" name="speaker-chip"/>
          <p:cNvSpPr/>
          <p:nvPr/>
        </p:nvSpPr>
        <p:spPr>
          <a:xfrm>
            <a:off x="9921240" y="457200"/>
            <a:ext cx="1737360" cy="402336"/>
          </a:xfrm>
          <a:prstGeom prst="roundRect">
            <a:avLst>
              <a:gd name="adj" fmla="val 50000"/>
            </a:avLst>
          </a:prstGeom>
          <a:solidFill>
            <a:srgbClr val="EEF0FF"/>
          </a:solidFill>
          <a:ln w="12700">
            <a:solidFill>
              <a:srgbClr val="EEF0FF"/>
            </a:solidFill>
            <a:prstDash val="solid"/>
          </a:ln>
        </p:spPr>
      </p:sp>
      <p:sp>
        <p:nvSpPr>
          <p:cNvPr id="4" name="Text 2"/>
          <p:cNvSpPr txBox="1"/>
          <p:nvPr/>
        </p:nvSpPr>
        <p:spPr>
          <a:xfrm>
            <a:off x="9921240" y="457200"/>
            <a:ext cx="1737360" cy="402336"/>
          </a:xfrm>
          <a:prstGeom prst="rect">
            <a:avLst/>
          </a:prstGeom>
          <a:noFill/>
          <a:ln/>
        </p:spPr>
        <p:txBody>
          <a:bodyPr wrap="square" lIns="0" tIns="0" rIns="0" bIns="0" rtlCol="0" anchor="ctr"/>
          <a:lstStyle/>
          <a:p>
            <a:pPr algn="ctr" indent="0" marL="0">
              <a:buNone/>
            </a:pPr>
            <a:r>
              <a:rPr lang="en-US" sz="1200" b="1" dirty="0">
                <a:solidFill>
                  <a:srgbClr val="4F46E5"/>
                </a:solidFill>
              </a:rPr>
              <a:t>M4  </a:t>
            </a:r>
            <a:pPr algn="ctr" indent="0" marL="0">
              <a:buNone/>
            </a:pPr>
            <a:r>
              <a:rPr lang="en-US" sz="1200" dirty="0">
                <a:solidFill>
                  <a:srgbClr val="312E81"/>
                </a:solidFill>
              </a:rPr>
              <a:t>[Member 4]</a:t>
            </a:r>
            <a:endParaRPr lang="en-US" sz="1200" dirty="0"/>
          </a:p>
        </p:txBody>
      </p:sp>
      <p:sp>
        <p:nvSpPr>
          <p:cNvPr id="5" name="Shape 3"/>
          <p:cNvSpPr/>
          <p:nvPr/>
        </p:nvSpPr>
        <p:spPr>
          <a:xfrm>
            <a:off x="1655064" y="1197864"/>
            <a:ext cx="8851392" cy="5102352"/>
          </a:xfrm>
          <a:prstGeom prst="roundRect">
            <a:avLst>
              <a:gd name="adj" fmla="val 896"/>
            </a:avLst>
          </a:prstGeom>
          <a:solidFill>
            <a:srgbClr val="FFFFFF"/>
          </a:solidFill>
          <a:ln w="12700">
            <a:solidFill>
              <a:srgbClr val="E5E7EB"/>
            </a:solidFill>
            <a:prstDash val="solid"/>
          </a:ln>
        </p:spPr>
      </p:sp>
      <p:pic>
        <p:nvPicPr>
          <p:cNvPr id="6" name="Image 0" descr="C:\Users\bhavy\Downloads\DBMS-20261028T151751Z-1-001\DBMS\Project\deliverables\diagrams\trigger_flow.png">    </p:cNvPr>
          <p:cNvPicPr>
            <a:picLocks noChangeAspect="1"/>
          </p:cNvPicPr>
          <p:nvPr/>
        </p:nvPicPr>
        <p:blipFill>
          <a:blip r:embed="rId1"/>
          <a:stretch>
            <a:fillRect/>
          </a:stretch>
        </p:blipFill>
        <p:spPr>
          <a:xfrm>
            <a:off x="1691640" y="1234440"/>
            <a:ext cx="8778240" cy="5029200"/>
          </a:xfrm>
          <a:prstGeom prst="rect">
            <a:avLst/>
          </a:prstGeom>
        </p:spPr>
      </p:pic>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144000" cy="731520"/>
          </a:xfrm>
          <a:prstGeom prst="rect">
            <a:avLst/>
          </a:prstGeom>
          <a:noFill/>
          <a:ln/>
        </p:spPr>
        <p:txBody>
          <a:bodyPr wrap="square" lIns="0" tIns="0" rIns="0" bIns="0" rtlCol="0" anchor="ctr"/>
          <a:lstStyle/>
          <a:p>
            <a:pPr algn="l" indent="0" marL="0">
              <a:buNone/>
            </a:pPr>
            <a:r>
              <a:rPr lang="en-US" sz="3000" b="1" dirty="0">
                <a:solidFill>
                  <a:srgbClr val="111827"/>
                </a:solidFill>
                <a:latin typeface="Cambria" pitchFamily="34" charset="0"/>
                <a:ea typeface="Cambria" pitchFamily="34" charset="-122"/>
                <a:cs typeface="Cambria" pitchFamily="34" charset="-120"/>
              </a:rPr>
              <a:t>Live demo: accept an offer, watch the cascade</a:t>
            </a:r>
            <a:endParaRPr lang="en-US" sz="3000" dirty="0"/>
          </a:p>
        </p:txBody>
      </p:sp>
      <p:sp>
        <p:nvSpPr>
          <p:cNvPr id="3" name="speaker-chip"/>
          <p:cNvSpPr/>
          <p:nvPr/>
        </p:nvSpPr>
        <p:spPr>
          <a:xfrm>
            <a:off x="9921240" y="457200"/>
            <a:ext cx="1737360" cy="402336"/>
          </a:xfrm>
          <a:prstGeom prst="roundRect">
            <a:avLst>
              <a:gd name="adj" fmla="val 50000"/>
            </a:avLst>
          </a:prstGeom>
          <a:solidFill>
            <a:srgbClr val="EEF0FF"/>
          </a:solidFill>
          <a:ln w="12700">
            <a:solidFill>
              <a:srgbClr val="EEF0FF"/>
            </a:solidFill>
            <a:prstDash val="solid"/>
          </a:ln>
        </p:spPr>
      </p:sp>
      <p:sp>
        <p:nvSpPr>
          <p:cNvPr id="4" name="Text 2"/>
          <p:cNvSpPr txBox="1"/>
          <p:nvPr/>
        </p:nvSpPr>
        <p:spPr>
          <a:xfrm>
            <a:off x="9921240" y="457200"/>
            <a:ext cx="1737360" cy="402336"/>
          </a:xfrm>
          <a:prstGeom prst="rect">
            <a:avLst/>
          </a:prstGeom>
          <a:noFill/>
          <a:ln/>
        </p:spPr>
        <p:txBody>
          <a:bodyPr wrap="square" lIns="0" tIns="0" rIns="0" bIns="0" rtlCol="0" anchor="ctr"/>
          <a:lstStyle/>
          <a:p>
            <a:pPr algn="ctr" indent="0" marL="0">
              <a:buNone/>
            </a:pPr>
            <a:r>
              <a:rPr lang="en-US" sz="1200" b="1" dirty="0">
                <a:solidFill>
                  <a:srgbClr val="4F46E5"/>
                </a:solidFill>
              </a:rPr>
              <a:t>M4  </a:t>
            </a:r>
            <a:pPr algn="ctr" indent="0" marL="0">
              <a:buNone/>
            </a:pPr>
            <a:r>
              <a:rPr lang="en-US" sz="1200" dirty="0">
                <a:solidFill>
                  <a:srgbClr val="312E81"/>
                </a:solidFill>
              </a:rPr>
              <a:t>[Member 4]</a:t>
            </a:r>
            <a:endParaRPr lang="en-US" sz="1200" dirty="0"/>
          </a:p>
        </p:txBody>
      </p:sp>
      <p:sp>
        <p:nvSpPr>
          <p:cNvPr id="5" name="Shape 3"/>
          <p:cNvSpPr/>
          <p:nvPr/>
        </p:nvSpPr>
        <p:spPr>
          <a:xfrm>
            <a:off x="512064" y="1289304"/>
            <a:ext cx="7296912" cy="4590288"/>
          </a:xfrm>
          <a:prstGeom prst="roundRect">
            <a:avLst>
              <a:gd name="adj" fmla="val 996"/>
            </a:avLst>
          </a:prstGeom>
          <a:solidFill>
            <a:srgbClr val="FFFFFF"/>
          </a:solidFill>
          <a:ln w="12700">
            <a:solidFill>
              <a:srgbClr val="E5E7EB"/>
            </a:solidFill>
            <a:prstDash val="solid"/>
          </a:ln>
        </p:spPr>
      </p:sp>
      <p:pic>
        <p:nvPicPr>
          <p:cNvPr id="6" name="Image 0" descr="C:\Users\bhavy\Downloads\DBMS-20261028T151751Z-1-001\DBMS\Project\deliverables\screenshots\demo_05_accept_cascade.png">    </p:cNvPr>
          <p:cNvPicPr>
            <a:picLocks noChangeAspect="1"/>
          </p:cNvPicPr>
          <p:nvPr/>
        </p:nvPicPr>
        <p:blipFill>
          <a:blip r:embed="rId1"/>
          <a:stretch>
            <a:fillRect/>
          </a:stretch>
        </p:blipFill>
        <p:spPr>
          <a:xfrm>
            <a:off x="548640" y="1325880"/>
            <a:ext cx="7223760" cy="4517136"/>
          </a:xfrm>
          <a:prstGeom prst="rect">
            <a:avLst/>
          </a:prstGeom>
        </p:spPr>
      </p:pic>
      <p:sp>
        <p:nvSpPr>
          <p:cNvPr id="7" name="Shape 4"/>
          <p:cNvSpPr/>
          <p:nvPr/>
        </p:nvSpPr>
        <p:spPr>
          <a:xfrm>
            <a:off x="8092440" y="1371600"/>
            <a:ext cx="438912" cy="438912"/>
          </a:xfrm>
          <a:prstGeom prst="ellipse">
            <a:avLst/>
          </a:prstGeom>
          <a:solidFill>
            <a:srgbClr val="C2410C"/>
          </a:solidFill>
          <a:ln w="12700">
            <a:solidFill>
              <a:srgbClr val="C2410C"/>
            </a:solidFill>
            <a:prstDash val="solid"/>
          </a:ln>
        </p:spPr>
      </p:sp>
      <p:sp>
        <p:nvSpPr>
          <p:cNvPr id="8" name="Text 5"/>
          <p:cNvSpPr txBox="1"/>
          <p:nvPr/>
        </p:nvSpPr>
        <p:spPr>
          <a:xfrm>
            <a:off x="8092440" y="137160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rPr>
              <a:t>1</a:t>
            </a:r>
            <a:endParaRPr lang="en-US" sz="1500" dirty="0"/>
          </a:p>
        </p:txBody>
      </p:sp>
      <p:sp>
        <p:nvSpPr>
          <p:cNvPr id="9" name="Text 6"/>
          <p:cNvSpPr txBox="1"/>
          <p:nvPr/>
        </p:nvSpPr>
        <p:spPr>
          <a:xfrm>
            <a:off x="8641080" y="1325880"/>
            <a:ext cx="3017520" cy="1005840"/>
          </a:xfrm>
          <a:prstGeom prst="rect">
            <a:avLst/>
          </a:prstGeom>
          <a:noFill/>
          <a:ln/>
        </p:spPr>
        <p:txBody>
          <a:bodyPr wrap="square" lIns="0" tIns="0" rIns="0" bIns="0" rtlCol="0" anchor="t"/>
          <a:lstStyle/>
          <a:p>
            <a:pPr indent="0" marL="0">
              <a:buNone/>
            </a:pPr>
            <a:r>
              <a:rPr lang="en-US" sz="1500" b="1" dirty="0">
                <a:solidFill>
                  <a:srgbClr val="1F2937"/>
                </a:solidFill>
              </a:rPr>
              <a:t>Second offer</a:t>
            </a:r>
            <a:endParaRPr lang="en-US" sz="1500" dirty="0"/>
          </a:p>
          <a:p>
            <a:pPr indent="0" marL="0">
              <a:buNone/>
            </a:pPr>
            <a:r>
              <a:rPr lang="en-US" sz="1300" dirty="0">
                <a:solidFill>
                  <a:srgbClr val="374151"/>
                </a:solidFill>
              </a:rPr>
              <a:t>Monsoon Foods makes Dev Saxena an offer; trigger marks the application OFFERED</a:t>
            </a:r>
            <a:endParaRPr lang="en-US" sz="1500" dirty="0"/>
          </a:p>
        </p:txBody>
      </p:sp>
      <p:sp>
        <p:nvSpPr>
          <p:cNvPr id="10" name="Shape 7"/>
          <p:cNvSpPr/>
          <p:nvPr/>
        </p:nvSpPr>
        <p:spPr>
          <a:xfrm>
            <a:off x="8092440" y="2450592"/>
            <a:ext cx="438912" cy="438912"/>
          </a:xfrm>
          <a:prstGeom prst="ellipse">
            <a:avLst/>
          </a:prstGeom>
          <a:solidFill>
            <a:srgbClr val="C2410C"/>
          </a:solidFill>
          <a:ln w="12700">
            <a:solidFill>
              <a:srgbClr val="C2410C"/>
            </a:solidFill>
            <a:prstDash val="solid"/>
          </a:ln>
        </p:spPr>
      </p:sp>
      <p:sp>
        <p:nvSpPr>
          <p:cNvPr id="11" name="Text 8"/>
          <p:cNvSpPr txBox="1"/>
          <p:nvPr/>
        </p:nvSpPr>
        <p:spPr>
          <a:xfrm>
            <a:off x="8092440" y="2450592"/>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rPr>
              <a:t>2</a:t>
            </a:r>
            <a:endParaRPr lang="en-US" sz="1500" dirty="0"/>
          </a:p>
        </p:txBody>
      </p:sp>
      <p:sp>
        <p:nvSpPr>
          <p:cNvPr id="12" name="Text 9"/>
          <p:cNvSpPr txBox="1"/>
          <p:nvPr/>
        </p:nvSpPr>
        <p:spPr>
          <a:xfrm>
            <a:off x="8641080" y="2404872"/>
            <a:ext cx="3017520" cy="1005840"/>
          </a:xfrm>
          <a:prstGeom prst="rect">
            <a:avLst/>
          </a:prstGeom>
          <a:noFill/>
          <a:ln/>
        </p:spPr>
        <p:txBody>
          <a:bodyPr wrap="square" lIns="0" tIns="0" rIns="0" bIns="0" rtlCol="0" anchor="t"/>
          <a:lstStyle/>
          <a:p>
            <a:pPr indent="0" marL="0">
              <a:buNone/>
            </a:pPr>
            <a:r>
              <a:rPr lang="en-US" sz="1500" b="1" dirty="0">
                <a:solidFill>
                  <a:srgbClr val="1F2937"/>
                </a:solidFill>
              </a:rPr>
              <a:t>Accept</a:t>
            </a:r>
            <a:endParaRPr lang="en-US" sz="1500" dirty="0"/>
          </a:p>
          <a:p>
            <a:pPr indent="0" marL="0">
              <a:buNone/>
            </a:pPr>
            <a:r>
              <a:rPr lang="en-US" sz="1300" dirty="0">
                <a:solidFill>
                  <a:srgbClr val="374151"/>
                </a:solidFill>
              </a:rPr>
              <a:t>Dev accepts DataSutra: CALL sp_accept_offer()</a:t>
            </a:r>
            <a:endParaRPr lang="en-US" sz="1500" dirty="0"/>
          </a:p>
        </p:txBody>
      </p:sp>
      <p:sp>
        <p:nvSpPr>
          <p:cNvPr id="13" name="Shape 10"/>
          <p:cNvSpPr/>
          <p:nvPr/>
        </p:nvSpPr>
        <p:spPr>
          <a:xfrm>
            <a:off x="8092440" y="3529584"/>
            <a:ext cx="438912" cy="438912"/>
          </a:xfrm>
          <a:prstGeom prst="ellipse">
            <a:avLst/>
          </a:prstGeom>
          <a:solidFill>
            <a:srgbClr val="C2410C"/>
          </a:solidFill>
          <a:ln w="12700">
            <a:solidFill>
              <a:srgbClr val="C2410C"/>
            </a:solidFill>
            <a:prstDash val="solid"/>
          </a:ln>
        </p:spPr>
      </p:sp>
      <p:sp>
        <p:nvSpPr>
          <p:cNvPr id="14" name="Text 11"/>
          <p:cNvSpPr txBox="1"/>
          <p:nvPr/>
        </p:nvSpPr>
        <p:spPr>
          <a:xfrm>
            <a:off x="8092440" y="3529584"/>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rPr>
              <a:t>3</a:t>
            </a:r>
            <a:endParaRPr lang="en-US" sz="1500" dirty="0"/>
          </a:p>
        </p:txBody>
      </p:sp>
      <p:sp>
        <p:nvSpPr>
          <p:cNvPr id="15" name="Text 12"/>
          <p:cNvSpPr txBox="1"/>
          <p:nvPr/>
        </p:nvSpPr>
        <p:spPr>
          <a:xfrm>
            <a:off x="8641080" y="3483864"/>
            <a:ext cx="3017520" cy="1005840"/>
          </a:xfrm>
          <a:prstGeom prst="rect">
            <a:avLst/>
          </a:prstGeom>
          <a:noFill/>
          <a:ln/>
        </p:spPr>
        <p:txBody>
          <a:bodyPr wrap="square" lIns="0" tIns="0" rIns="0" bIns="0" rtlCol="0" anchor="t"/>
          <a:lstStyle/>
          <a:p>
            <a:pPr indent="0" marL="0">
              <a:buNone/>
            </a:pPr>
            <a:r>
              <a:rPr lang="en-US" sz="1500" b="1" dirty="0">
                <a:solidFill>
                  <a:srgbClr val="1F2937"/>
                </a:solidFill>
              </a:rPr>
              <a:t>Cascade</a:t>
            </a:r>
            <a:endParaRPr lang="en-US" sz="1500" dirty="0"/>
          </a:p>
          <a:p>
            <a:pPr indent="0" marL="0">
              <a:buNone/>
            </a:pPr>
            <a:r>
              <a:rPr lang="en-US" sz="1300" dirty="0">
                <a:solidFill>
                  <a:srgbClr val="374151"/>
                </a:solidFill>
              </a:rPr>
              <a:t>Other offer DECLINED, open application WITHDRAWN, interviews freed, all logged</a:t>
            </a:r>
            <a:endParaRPr lang="en-US" sz="1500" dirty="0"/>
          </a:p>
        </p:txBody>
      </p:sp>
      <p:sp>
        <p:nvSpPr>
          <p:cNvPr id="16" name="Shape 13"/>
          <p:cNvSpPr/>
          <p:nvPr/>
        </p:nvSpPr>
        <p:spPr>
          <a:xfrm>
            <a:off x="8092440" y="4608576"/>
            <a:ext cx="438912" cy="438912"/>
          </a:xfrm>
          <a:prstGeom prst="ellipse">
            <a:avLst/>
          </a:prstGeom>
          <a:solidFill>
            <a:srgbClr val="C2410C"/>
          </a:solidFill>
          <a:ln w="12700">
            <a:solidFill>
              <a:srgbClr val="C2410C"/>
            </a:solidFill>
            <a:prstDash val="solid"/>
          </a:ln>
        </p:spPr>
      </p:sp>
      <p:sp>
        <p:nvSpPr>
          <p:cNvPr id="17" name="Text 14"/>
          <p:cNvSpPr txBox="1"/>
          <p:nvPr/>
        </p:nvSpPr>
        <p:spPr>
          <a:xfrm>
            <a:off x="8092440" y="4608576"/>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rPr>
              <a:t>4</a:t>
            </a:r>
            <a:endParaRPr lang="en-US" sz="1500" dirty="0"/>
          </a:p>
        </p:txBody>
      </p:sp>
      <p:sp>
        <p:nvSpPr>
          <p:cNvPr id="18" name="Text 15"/>
          <p:cNvSpPr txBox="1"/>
          <p:nvPr/>
        </p:nvSpPr>
        <p:spPr>
          <a:xfrm>
            <a:off x="8641080" y="4562856"/>
            <a:ext cx="3017520" cy="1005840"/>
          </a:xfrm>
          <a:prstGeom prst="rect">
            <a:avLst/>
          </a:prstGeom>
          <a:noFill/>
          <a:ln/>
        </p:spPr>
        <p:txBody>
          <a:bodyPr wrap="square" lIns="0" tIns="0" rIns="0" bIns="0" rtlCol="0" anchor="t"/>
          <a:lstStyle/>
          <a:p>
            <a:pPr indent="0" marL="0">
              <a:buNone/>
            </a:pPr>
            <a:r>
              <a:rPr lang="en-US" sz="1500" b="1" dirty="0">
                <a:solidFill>
                  <a:srgbClr val="1F2937"/>
                </a:solidFill>
              </a:rPr>
              <a:t>Guard</a:t>
            </a:r>
            <a:endParaRPr lang="en-US" sz="1500" dirty="0"/>
          </a:p>
          <a:p>
            <a:pPr indent="0" marL="0">
              <a:buNone/>
            </a:pPr>
            <a:r>
              <a:rPr lang="en-US" sz="1300" dirty="0">
                <a:solidFill>
                  <a:srgbClr val="374151"/>
                </a:solidFill>
              </a:rPr>
              <a:t>Applying again, or a CGPA below the cut-off, is refused with the trigger's message</a:t>
            </a:r>
            <a:endParaRPr lang="en-US" sz="1500" dirty="0"/>
          </a:p>
        </p:txBody>
      </p:sp>
      <p:sp>
        <p:nvSpPr>
          <p:cNvPr id="19" name="Text 16"/>
          <p:cNvSpPr txBox="1"/>
          <p:nvPr/>
        </p:nvSpPr>
        <p:spPr>
          <a:xfrm>
            <a:off x="8092440" y="5715000"/>
            <a:ext cx="3566160" cy="320040"/>
          </a:xfrm>
          <a:prstGeom prst="rect">
            <a:avLst/>
          </a:prstGeom>
          <a:noFill/>
          <a:ln/>
        </p:spPr>
        <p:txBody>
          <a:bodyPr wrap="square" lIns="0" tIns="0" rIns="0" bIns="0" rtlCol="0" anchor="ctr"/>
          <a:lstStyle/>
          <a:p>
            <a:pPr indent="0" marL="0">
              <a:buNone/>
            </a:pPr>
            <a:r>
              <a:rPr lang="en-US" sz="1150" i="1" dirty="0">
                <a:solidFill>
                  <a:srgbClr val="6B7280"/>
                </a:solidFill>
              </a:rPr>
              <a:t>Backup if the live demo fails: PlaceIQ_Demo_Video.webm</a:t>
            </a:r>
            <a:endParaRPr lang="en-US" sz="115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144000" cy="731520"/>
          </a:xfrm>
          <a:prstGeom prst="rect">
            <a:avLst/>
          </a:prstGeom>
          <a:noFill/>
          <a:ln/>
        </p:spPr>
        <p:txBody>
          <a:bodyPr wrap="square" lIns="0" tIns="0" rIns="0" bIns="0" rtlCol="0" anchor="ctr"/>
          <a:lstStyle/>
          <a:p>
            <a:pPr algn="l" indent="0" marL="0">
              <a:buNone/>
            </a:pPr>
            <a:r>
              <a:rPr lang="en-US" sz="3000" b="1" dirty="0">
                <a:solidFill>
                  <a:srgbClr val="111827"/>
                </a:solidFill>
                <a:latin typeface="Cambria" pitchFamily="34" charset="0"/>
                <a:ea typeface="Cambria" pitchFamily="34" charset="-122"/>
                <a:cs typeface="Cambria" pitchFamily="34" charset="-120"/>
              </a:rPr>
              <a:t>Transactions: ACID under concurrency</a:t>
            </a:r>
            <a:endParaRPr lang="en-US" sz="3000" dirty="0"/>
          </a:p>
        </p:txBody>
      </p:sp>
      <p:sp>
        <p:nvSpPr>
          <p:cNvPr id="3" name="speaker-chip"/>
          <p:cNvSpPr/>
          <p:nvPr/>
        </p:nvSpPr>
        <p:spPr>
          <a:xfrm>
            <a:off x="9921240" y="457200"/>
            <a:ext cx="1737360" cy="402336"/>
          </a:xfrm>
          <a:prstGeom prst="roundRect">
            <a:avLst>
              <a:gd name="adj" fmla="val 50000"/>
            </a:avLst>
          </a:prstGeom>
          <a:solidFill>
            <a:srgbClr val="EEF0FF"/>
          </a:solidFill>
          <a:ln w="12700">
            <a:solidFill>
              <a:srgbClr val="EEF0FF"/>
            </a:solidFill>
            <a:prstDash val="solid"/>
          </a:ln>
        </p:spPr>
      </p:sp>
      <p:sp>
        <p:nvSpPr>
          <p:cNvPr id="4" name="Text 2"/>
          <p:cNvSpPr txBox="1"/>
          <p:nvPr/>
        </p:nvSpPr>
        <p:spPr>
          <a:xfrm>
            <a:off x="9921240" y="457200"/>
            <a:ext cx="1737360" cy="402336"/>
          </a:xfrm>
          <a:prstGeom prst="rect">
            <a:avLst/>
          </a:prstGeom>
          <a:noFill/>
          <a:ln/>
        </p:spPr>
        <p:txBody>
          <a:bodyPr wrap="square" lIns="0" tIns="0" rIns="0" bIns="0" rtlCol="0" anchor="ctr"/>
          <a:lstStyle/>
          <a:p>
            <a:pPr algn="ctr" indent="0" marL="0">
              <a:buNone/>
            </a:pPr>
            <a:r>
              <a:rPr lang="en-US" sz="1200" b="1" dirty="0">
                <a:solidFill>
                  <a:srgbClr val="4F46E5"/>
                </a:solidFill>
              </a:rPr>
              <a:t>M4  </a:t>
            </a:r>
            <a:pPr algn="ctr" indent="0" marL="0">
              <a:buNone/>
            </a:pPr>
            <a:r>
              <a:rPr lang="en-US" sz="1200" dirty="0">
                <a:solidFill>
                  <a:srgbClr val="312E81"/>
                </a:solidFill>
              </a:rPr>
              <a:t>[Member 4]</a:t>
            </a:r>
            <a:endParaRPr lang="en-US" sz="1200" dirty="0"/>
          </a:p>
        </p:txBody>
      </p:sp>
      <p:sp>
        <p:nvSpPr>
          <p:cNvPr id="5" name="Shape 3"/>
          <p:cNvSpPr/>
          <p:nvPr/>
        </p:nvSpPr>
        <p:spPr>
          <a:xfrm>
            <a:off x="548640" y="1371600"/>
            <a:ext cx="2926080" cy="2194560"/>
          </a:xfrm>
          <a:prstGeom prst="roundRect">
            <a:avLst>
              <a:gd name="adj" fmla="val 4167"/>
            </a:avLst>
          </a:prstGeom>
          <a:solidFill>
            <a:srgbClr val="F6F7FB"/>
          </a:solidFill>
          <a:ln w="12700">
            <a:solidFill>
              <a:srgbClr val="E5E7EB"/>
            </a:solidFill>
            <a:prstDash val="solid"/>
          </a:ln>
        </p:spPr>
      </p:sp>
      <p:sp>
        <p:nvSpPr>
          <p:cNvPr id="6" name="Shape 4"/>
          <p:cNvSpPr/>
          <p:nvPr/>
        </p:nvSpPr>
        <p:spPr>
          <a:xfrm>
            <a:off x="731520" y="1554480"/>
            <a:ext cx="502920" cy="502920"/>
          </a:xfrm>
          <a:prstGeom prst="ellipse">
            <a:avLst/>
          </a:prstGeom>
          <a:solidFill>
            <a:srgbClr val="4F46E5"/>
          </a:solidFill>
          <a:ln w="12700">
            <a:solidFill>
              <a:srgbClr val="4F46E5"/>
            </a:solidFill>
            <a:prstDash val="solid"/>
          </a:ln>
        </p:spPr>
      </p:sp>
      <p:sp>
        <p:nvSpPr>
          <p:cNvPr id="7" name="Text 5"/>
          <p:cNvSpPr txBox="1"/>
          <p:nvPr/>
        </p:nvSpPr>
        <p:spPr>
          <a:xfrm>
            <a:off x="731520" y="155448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rPr>
              <a:t>A</a:t>
            </a:r>
            <a:endParaRPr lang="en-US" sz="1800" dirty="0"/>
          </a:p>
        </p:txBody>
      </p:sp>
      <p:sp>
        <p:nvSpPr>
          <p:cNvPr id="8" name="Text 6"/>
          <p:cNvSpPr txBox="1"/>
          <p:nvPr/>
        </p:nvSpPr>
        <p:spPr>
          <a:xfrm>
            <a:off x="1371600" y="1572768"/>
            <a:ext cx="2011680" cy="457200"/>
          </a:xfrm>
          <a:prstGeom prst="rect">
            <a:avLst/>
          </a:prstGeom>
          <a:noFill/>
          <a:ln/>
        </p:spPr>
        <p:txBody>
          <a:bodyPr wrap="square" lIns="0" tIns="0" rIns="0" bIns="0" rtlCol="0" anchor="ctr"/>
          <a:lstStyle/>
          <a:p>
            <a:pPr indent="0" marL="0">
              <a:buNone/>
            </a:pPr>
            <a:r>
              <a:rPr lang="en-US" sz="1600" b="1" dirty="0">
                <a:solidFill>
                  <a:srgbClr val="1F2937"/>
                </a:solidFill>
              </a:rPr>
              <a:t>Atomicity</a:t>
            </a:r>
            <a:endParaRPr lang="en-US" sz="1600" dirty="0"/>
          </a:p>
        </p:txBody>
      </p:sp>
      <p:sp>
        <p:nvSpPr>
          <p:cNvPr id="9" name="Text 7"/>
          <p:cNvSpPr txBox="1"/>
          <p:nvPr/>
        </p:nvSpPr>
        <p:spPr>
          <a:xfrm>
            <a:off x="731520" y="2240280"/>
            <a:ext cx="2606040" cy="1234440"/>
          </a:xfrm>
          <a:prstGeom prst="rect">
            <a:avLst/>
          </a:prstGeom>
          <a:noFill/>
          <a:ln/>
        </p:spPr>
        <p:txBody>
          <a:bodyPr wrap="square" lIns="0" tIns="0" rIns="0" bIns="0" rtlCol="0" anchor="t"/>
          <a:lstStyle/>
          <a:p>
            <a:pPr indent="0" marL="0">
              <a:buNone/>
            </a:pPr>
            <a:r>
              <a:rPr lang="en-US" sz="1300" dirty="0">
                <a:solidFill>
                  <a:srgbClr val="374151"/>
                </a:solidFill>
              </a:rPr>
              <a:t>ROLLBACK undoes the whole cascade: offers, applications, interviews, log (TC-TXN-01)</a:t>
            </a:r>
            <a:endParaRPr lang="en-US" sz="1300" dirty="0"/>
          </a:p>
        </p:txBody>
      </p:sp>
      <p:sp>
        <p:nvSpPr>
          <p:cNvPr id="10" name="Shape 8"/>
          <p:cNvSpPr/>
          <p:nvPr/>
        </p:nvSpPr>
        <p:spPr>
          <a:xfrm>
            <a:off x="3611880" y="1371600"/>
            <a:ext cx="2926080" cy="2194560"/>
          </a:xfrm>
          <a:prstGeom prst="roundRect">
            <a:avLst>
              <a:gd name="adj" fmla="val 4167"/>
            </a:avLst>
          </a:prstGeom>
          <a:solidFill>
            <a:srgbClr val="F6F7FB"/>
          </a:solidFill>
          <a:ln w="12700">
            <a:solidFill>
              <a:srgbClr val="E5E7EB"/>
            </a:solidFill>
            <a:prstDash val="solid"/>
          </a:ln>
        </p:spPr>
      </p:sp>
      <p:sp>
        <p:nvSpPr>
          <p:cNvPr id="11" name="Shape 9"/>
          <p:cNvSpPr/>
          <p:nvPr/>
        </p:nvSpPr>
        <p:spPr>
          <a:xfrm>
            <a:off x="3794760" y="1554480"/>
            <a:ext cx="502920" cy="502920"/>
          </a:xfrm>
          <a:prstGeom prst="ellipse">
            <a:avLst/>
          </a:prstGeom>
          <a:solidFill>
            <a:srgbClr val="4F46E5"/>
          </a:solidFill>
          <a:ln w="12700">
            <a:solidFill>
              <a:srgbClr val="4F46E5"/>
            </a:solidFill>
            <a:prstDash val="solid"/>
          </a:ln>
        </p:spPr>
      </p:sp>
      <p:sp>
        <p:nvSpPr>
          <p:cNvPr id="12" name="Text 10"/>
          <p:cNvSpPr txBox="1"/>
          <p:nvPr/>
        </p:nvSpPr>
        <p:spPr>
          <a:xfrm>
            <a:off x="3794760" y="155448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rPr>
              <a:t>C</a:t>
            </a:r>
            <a:endParaRPr lang="en-US" sz="1800" dirty="0"/>
          </a:p>
        </p:txBody>
      </p:sp>
      <p:sp>
        <p:nvSpPr>
          <p:cNvPr id="13" name="Text 11"/>
          <p:cNvSpPr txBox="1"/>
          <p:nvPr/>
        </p:nvSpPr>
        <p:spPr>
          <a:xfrm>
            <a:off x="4434840" y="1572768"/>
            <a:ext cx="2011680" cy="457200"/>
          </a:xfrm>
          <a:prstGeom prst="rect">
            <a:avLst/>
          </a:prstGeom>
          <a:noFill/>
          <a:ln/>
        </p:spPr>
        <p:txBody>
          <a:bodyPr wrap="square" lIns="0" tIns="0" rIns="0" bIns="0" rtlCol="0" anchor="ctr"/>
          <a:lstStyle/>
          <a:p>
            <a:pPr indent="0" marL="0">
              <a:buNone/>
            </a:pPr>
            <a:r>
              <a:rPr lang="en-US" sz="1600" b="1" dirty="0">
                <a:solidFill>
                  <a:srgbClr val="1F2937"/>
                </a:solidFill>
              </a:rPr>
              <a:t>Consistency</a:t>
            </a:r>
            <a:endParaRPr lang="en-US" sz="1600" dirty="0"/>
          </a:p>
        </p:txBody>
      </p:sp>
      <p:sp>
        <p:nvSpPr>
          <p:cNvPr id="14" name="Text 12"/>
          <p:cNvSpPr txBox="1"/>
          <p:nvPr/>
        </p:nvSpPr>
        <p:spPr>
          <a:xfrm>
            <a:off x="3794760" y="2240280"/>
            <a:ext cx="2606040" cy="1234440"/>
          </a:xfrm>
          <a:prstGeom prst="rect">
            <a:avLst/>
          </a:prstGeom>
          <a:noFill/>
          <a:ln/>
        </p:spPr>
        <p:txBody>
          <a:bodyPr wrap="square" lIns="0" tIns="0" rIns="0" bIns="0" rtlCol="0" anchor="t"/>
          <a:lstStyle/>
          <a:p>
            <a:pPr indent="0" marL="0">
              <a:buNone/>
            </a:pPr>
            <a:r>
              <a:rPr lang="en-US" sz="1300" dirty="0">
                <a:solidFill>
                  <a:srgbClr val="374151"/>
                </a:solidFill>
              </a:rPr>
              <a:t>Constraints + deferred totality check at COMMIT; a job without a subtype cannot commit (TC-TXN-04)</a:t>
            </a:r>
            <a:endParaRPr lang="en-US" sz="1300" dirty="0"/>
          </a:p>
        </p:txBody>
      </p:sp>
      <p:sp>
        <p:nvSpPr>
          <p:cNvPr id="15" name="Shape 13"/>
          <p:cNvSpPr/>
          <p:nvPr/>
        </p:nvSpPr>
        <p:spPr>
          <a:xfrm>
            <a:off x="548640" y="3703320"/>
            <a:ext cx="2926080" cy="2194560"/>
          </a:xfrm>
          <a:prstGeom prst="roundRect">
            <a:avLst>
              <a:gd name="adj" fmla="val 4167"/>
            </a:avLst>
          </a:prstGeom>
          <a:solidFill>
            <a:srgbClr val="F6F7FB"/>
          </a:solidFill>
          <a:ln w="12700">
            <a:solidFill>
              <a:srgbClr val="E5E7EB"/>
            </a:solidFill>
            <a:prstDash val="solid"/>
          </a:ln>
        </p:spPr>
      </p:sp>
      <p:sp>
        <p:nvSpPr>
          <p:cNvPr id="16" name="Shape 14"/>
          <p:cNvSpPr/>
          <p:nvPr/>
        </p:nvSpPr>
        <p:spPr>
          <a:xfrm>
            <a:off x="731520" y="3886200"/>
            <a:ext cx="502920" cy="502920"/>
          </a:xfrm>
          <a:prstGeom prst="ellipse">
            <a:avLst/>
          </a:prstGeom>
          <a:solidFill>
            <a:srgbClr val="4F46E5"/>
          </a:solidFill>
          <a:ln w="12700">
            <a:solidFill>
              <a:srgbClr val="4F46E5"/>
            </a:solidFill>
            <a:prstDash val="solid"/>
          </a:ln>
        </p:spPr>
      </p:sp>
      <p:sp>
        <p:nvSpPr>
          <p:cNvPr id="17" name="Text 15"/>
          <p:cNvSpPr txBox="1"/>
          <p:nvPr/>
        </p:nvSpPr>
        <p:spPr>
          <a:xfrm>
            <a:off x="731520" y="388620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rPr>
              <a:t>I</a:t>
            </a:r>
            <a:endParaRPr lang="en-US" sz="1800" dirty="0"/>
          </a:p>
        </p:txBody>
      </p:sp>
      <p:sp>
        <p:nvSpPr>
          <p:cNvPr id="18" name="Text 16"/>
          <p:cNvSpPr txBox="1"/>
          <p:nvPr/>
        </p:nvSpPr>
        <p:spPr>
          <a:xfrm>
            <a:off x="1371600" y="3904488"/>
            <a:ext cx="2011680" cy="457200"/>
          </a:xfrm>
          <a:prstGeom prst="rect">
            <a:avLst/>
          </a:prstGeom>
          <a:noFill/>
          <a:ln/>
        </p:spPr>
        <p:txBody>
          <a:bodyPr wrap="square" lIns="0" tIns="0" rIns="0" bIns="0" rtlCol="0" anchor="ctr"/>
          <a:lstStyle/>
          <a:p>
            <a:pPr indent="0" marL="0">
              <a:buNone/>
            </a:pPr>
            <a:r>
              <a:rPr lang="en-US" sz="1600" b="1" dirty="0">
                <a:solidFill>
                  <a:srgbClr val="1F2937"/>
                </a:solidFill>
              </a:rPr>
              <a:t>Isolation</a:t>
            </a:r>
            <a:endParaRPr lang="en-US" sz="1600" dirty="0"/>
          </a:p>
        </p:txBody>
      </p:sp>
      <p:sp>
        <p:nvSpPr>
          <p:cNvPr id="19" name="Text 17"/>
          <p:cNvSpPr txBox="1"/>
          <p:nvPr/>
        </p:nvSpPr>
        <p:spPr>
          <a:xfrm>
            <a:off x="731520" y="4572000"/>
            <a:ext cx="2606040" cy="1234440"/>
          </a:xfrm>
          <a:prstGeom prst="rect">
            <a:avLst/>
          </a:prstGeom>
          <a:noFill/>
          <a:ln/>
        </p:spPr>
        <p:txBody>
          <a:bodyPr wrap="square" lIns="0" tIns="0" rIns="0" bIns="0" rtlCol="0" anchor="t"/>
          <a:lstStyle/>
          <a:p>
            <a:pPr indent="0" marL="0">
              <a:buNone/>
            </a:pPr>
            <a:r>
              <a:rPr lang="en-US" sz="1300" dirty="0">
                <a:solidFill>
                  <a:srgbClr val="374151"/>
                </a:solidFill>
              </a:rPr>
              <a:t>Row lock on the student serialises concurrent acceptances (TC-TXN-02/03)</a:t>
            </a:r>
            <a:endParaRPr lang="en-US" sz="1300" dirty="0"/>
          </a:p>
        </p:txBody>
      </p:sp>
      <p:sp>
        <p:nvSpPr>
          <p:cNvPr id="20" name="Shape 18"/>
          <p:cNvSpPr/>
          <p:nvPr/>
        </p:nvSpPr>
        <p:spPr>
          <a:xfrm>
            <a:off x="3611880" y="3703320"/>
            <a:ext cx="2926080" cy="2194560"/>
          </a:xfrm>
          <a:prstGeom prst="roundRect">
            <a:avLst>
              <a:gd name="adj" fmla="val 4167"/>
            </a:avLst>
          </a:prstGeom>
          <a:solidFill>
            <a:srgbClr val="F6F7FB"/>
          </a:solidFill>
          <a:ln w="12700">
            <a:solidFill>
              <a:srgbClr val="E5E7EB"/>
            </a:solidFill>
            <a:prstDash val="solid"/>
          </a:ln>
        </p:spPr>
      </p:sp>
      <p:sp>
        <p:nvSpPr>
          <p:cNvPr id="21" name="Shape 19"/>
          <p:cNvSpPr/>
          <p:nvPr/>
        </p:nvSpPr>
        <p:spPr>
          <a:xfrm>
            <a:off x="3794760" y="3886200"/>
            <a:ext cx="502920" cy="502920"/>
          </a:xfrm>
          <a:prstGeom prst="ellipse">
            <a:avLst/>
          </a:prstGeom>
          <a:solidFill>
            <a:srgbClr val="4F46E5"/>
          </a:solidFill>
          <a:ln w="12700">
            <a:solidFill>
              <a:srgbClr val="4F46E5"/>
            </a:solidFill>
            <a:prstDash val="solid"/>
          </a:ln>
        </p:spPr>
      </p:sp>
      <p:sp>
        <p:nvSpPr>
          <p:cNvPr id="22" name="Text 20"/>
          <p:cNvSpPr txBox="1"/>
          <p:nvPr/>
        </p:nvSpPr>
        <p:spPr>
          <a:xfrm>
            <a:off x="3794760" y="388620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rPr>
              <a:t>D</a:t>
            </a:r>
            <a:endParaRPr lang="en-US" sz="1800" dirty="0"/>
          </a:p>
        </p:txBody>
      </p:sp>
      <p:sp>
        <p:nvSpPr>
          <p:cNvPr id="23" name="Text 21"/>
          <p:cNvSpPr txBox="1"/>
          <p:nvPr/>
        </p:nvSpPr>
        <p:spPr>
          <a:xfrm>
            <a:off x="4434840" y="3904488"/>
            <a:ext cx="2011680" cy="457200"/>
          </a:xfrm>
          <a:prstGeom prst="rect">
            <a:avLst/>
          </a:prstGeom>
          <a:noFill/>
          <a:ln/>
        </p:spPr>
        <p:txBody>
          <a:bodyPr wrap="square" lIns="0" tIns="0" rIns="0" bIns="0" rtlCol="0" anchor="ctr"/>
          <a:lstStyle/>
          <a:p>
            <a:pPr indent="0" marL="0">
              <a:buNone/>
            </a:pPr>
            <a:r>
              <a:rPr lang="en-US" sz="1600" b="1" dirty="0">
                <a:solidFill>
                  <a:srgbClr val="1F2937"/>
                </a:solidFill>
              </a:rPr>
              <a:t>Durability</a:t>
            </a:r>
            <a:endParaRPr lang="en-US" sz="1600" dirty="0"/>
          </a:p>
        </p:txBody>
      </p:sp>
      <p:sp>
        <p:nvSpPr>
          <p:cNvPr id="24" name="Text 22"/>
          <p:cNvSpPr txBox="1"/>
          <p:nvPr/>
        </p:nvSpPr>
        <p:spPr>
          <a:xfrm>
            <a:off x="3794760" y="4572000"/>
            <a:ext cx="2606040" cy="1234440"/>
          </a:xfrm>
          <a:prstGeom prst="rect">
            <a:avLst/>
          </a:prstGeom>
          <a:noFill/>
          <a:ln/>
        </p:spPr>
        <p:txBody>
          <a:bodyPr wrap="square" lIns="0" tIns="0" rIns="0" bIns="0" rtlCol="0" anchor="t"/>
          <a:lstStyle/>
          <a:p>
            <a:pPr indent="0" marL="0">
              <a:buNone/>
            </a:pPr>
            <a:r>
              <a:rPr lang="en-US" sz="1300" dirty="0">
                <a:solidFill>
                  <a:srgbClr val="374151"/>
                </a:solidFill>
              </a:rPr>
              <a:t>Once COMMIT returns, PostgreSQL's write-ahead log keeps it through a crash</a:t>
            </a:r>
            <a:endParaRPr lang="en-US" sz="1300" dirty="0"/>
          </a:p>
        </p:txBody>
      </p:sp>
      <p:sp>
        <p:nvSpPr>
          <p:cNvPr id="25" name="Text 23"/>
          <p:cNvSpPr txBox="1"/>
          <p:nvPr/>
        </p:nvSpPr>
        <p:spPr>
          <a:xfrm>
            <a:off x="7086600" y="1371600"/>
            <a:ext cx="2103120" cy="365760"/>
          </a:xfrm>
          <a:prstGeom prst="rect">
            <a:avLst/>
          </a:prstGeom>
          <a:noFill/>
          <a:ln/>
        </p:spPr>
        <p:txBody>
          <a:bodyPr wrap="square" lIns="0" tIns="0" rIns="0" bIns="0" rtlCol="0" anchor="ctr"/>
          <a:lstStyle/>
          <a:p>
            <a:pPr algn="ctr" indent="0" marL="0">
              <a:buNone/>
            </a:pPr>
            <a:r>
              <a:rPr lang="en-US" sz="1500" b="1" dirty="0">
                <a:solidFill>
                  <a:srgbClr val="4F46E5"/>
                </a:solidFill>
              </a:rPr>
              <a:t>Session A</a:t>
            </a:r>
            <a:endParaRPr lang="en-US" sz="1500" dirty="0"/>
          </a:p>
        </p:txBody>
      </p:sp>
      <p:sp>
        <p:nvSpPr>
          <p:cNvPr id="26" name="Shape 24"/>
          <p:cNvSpPr/>
          <p:nvPr/>
        </p:nvSpPr>
        <p:spPr>
          <a:xfrm>
            <a:off x="8138160" y="1783080"/>
            <a:ext cx="0" cy="4160520"/>
          </a:xfrm>
          <a:prstGeom prst="line">
            <a:avLst/>
          </a:prstGeom>
          <a:noFill/>
          <a:ln w="19050">
            <a:solidFill>
              <a:srgbClr val="CBD5E1"/>
            </a:solidFill>
            <a:prstDash val="dash"/>
          </a:ln>
        </p:spPr>
      </p:sp>
      <p:sp>
        <p:nvSpPr>
          <p:cNvPr id="27" name="Text 25"/>
          <p:cNvSpPr txBox="1"/>
          <p:nvPr/>
        </p:nvSpPr>
        <p:spPr>
          <a:xfrm>
            <a:off x="9555480" y="1371600"/>
            <a:ext cx="2103120" cy="365760"/>
          </a:xfrm>
          <a:prstGeom prst="rect">
            <a:avLst/>
          </a:prstGeom>
          <a:noFill/>
          <a:ln/>
        </p:spPr>
        <p:txBody>
          <a:bodyPr wrap="square" lIns="0" tIns="0" rIns="0" bIns="0" rtlCol="0" anchor="ctr"/>
          <a:lstStyle/>
          <a:p>
            <a:pPr algn="ctr" indent="0" marL="0">
              <a:buNone/>
            </a:pPr>
            <a:r>
              <a:rPr lang="en-US" sz="1500" b="1" dirty="0">
                <a:solidFill>
                  <a:srgbClr val="C2410C"/>
                </a:solidFill>
              </a:rPr>
              <a:t>Session B</a:t>
            </a:r>
            <a:endParaRPr lang="en-US" sz="1500" dirty="0"/>
          </a:p>
        </p:txBody>
      </p:sp>
      <p:sp>
        <p:nvSpPr>
          <p:cNvPr id="28" name="Shape 26"/>
          <p:cNvSpPr/>
          <p:nvPr/>
        </p:nvSpPr>
        <p:spPr>
          <a:xfrm>
            <a:off x="10607040" y="1783080"/>
            <a:ext cx="0" cy="4160520"/>
          </a:xfrm>
          <a:prstGeom prst="line">
            <a:avLst/>
          </a:prstGeom>
          <a:noFill/>
          <a:ln w="19050">
            <a:solidFill>
              <a:srgbClr val="CBD5E1"/>
            </a:solidFill>
            <a:prstDash val="dash"/>
          </a:ln>
        </p:spPr>
      </p:sp>
      <p:sp>
        <p:nvSpPr>
          <p:cNvPr id="29" name="Shape 27"/>
          <p:cNvSpPr/>
          <p:nvPr/>
        </p:nvSpPr>
        <p:spPr>
          <a:xfrm>
            <a:off x="7086600" y="1874520"/>
            <a:ext cx="2103120" cy="548640"/>
          </a:xfrm>
          <a:prstGeom prst="roundRect">
            <a:avLst>
              <a:gd name="adj" fmla="val 13333"/>
            </a:avLst>
          </a:prstGeom>
          <a:solidFill>
            <a:srgbClr val="EEF0FF"/>
          </a:solidFill>
          <a:ln w="15240">
            <a:solidFill>
              <a:srgbClr val="4F46E5"/>
            </a:solidFill>
            <a:prstDash val="solid"/>
          </a:ln>
        </p:spPr>
      </p:sp>
      <p:sp>
        <p:nvSpPr>
          <p:cNvPr id="30" name="Text 28"/>
          <p:cNvSpPr txBox="1"/>
          <p:nvPr/>
        </p:nvSpPr>
        <p:spPr>
          <a:xfrm>
            <a:off x="7159752" y="1874520"/>
            <a:ext cx="1956816" cy="548640"/>
          </a:xfrm>
          <a:prstGeom prst="rect">
            <a:avLst/>
          </a:prstGeom>
          <a:noFill/>
          <a:ln/>
        </p:spPr>
        <p:txBody>
          <a:bodyPr wrap="square" lIns="0" tIns="0" rIns="0" bIns="0" rtlCol="0" anchor="ctr"/>
          <a:lstStyle/>
          <a:p>
            <a:pPr algn="ctr" indent="0" marL="0">
              <a:buNone/>
            </a:pPr>
            <a:r>
              <a:rPr lang="en-US" sz="1200" dirty="0">
                <a:solidFill>
                  <a:srgbClr val="1F2937"/>
                </a:solidFill>
              </a:rPr>
              <a:t>lock student row</a:t>
            </a:r>
            <a:endParaRPr lang="en-US" sz="1200" dirty="0"/>
          </a:p>
        </p:txBody>
      </p:sp>
      <p:sp>
        <p:nvSpPr>
          <p:cNvPr id="31" name="Shape 29"/>
          <p:cNvSpPr/>
          <p:nvPr/>
        </p:nvSpPr>
        <p:spPr>
          <a:xfrm>
            <a:off x="9555480" y="2514600"/>
            <a:ext cx="2103120" cy="548640"/>
          </a:xfrm>
          <a:prstGeom prst="roundRect">
            <a:avLst>
              <a:gd name="adj" fmla="val 13333"/>
            </a:avLst>
          </a:prstGeom>
          <a:solidFill>
            <a:srgbClr val="FFF4E6"/>
          </a:solidFill>
          <a:ln w="15240">
            <a:solidFill>
              <a:srgbClr val="C2410C"/>
            </a:solidFill>
            <a:prstDash val="solid"/>
          </a:ln>
        </p:spPr>
      </p:sp>
      <p:sp>
        <p:nvSpPr>
          <p:cNvPr id="32" name="Text 30"/>
          <p:cNvSpPr txBox="1"/>
          <p:nvPr/>
        </p:nvSpPr>
        <p:spPr>
          <a:xfrm>
            <a:off x="9628632" y="2514600"/>
            <a:ext cx="1956816" cy="548640"/>
          </a:xfrm>
          <a:prstGeom prst="rect">
            <a:avLst/>
          </a:prstGeom>
          <a:noFill/>
          <a:ln/>
        </p:spPr>
        <p:txBody>
          <a:bodyPr wrap="square" lIns="0" tIns="0" rIns="0" bIns="0" rtlCol="0" anchor="ctr"/>
          <a:lstStyle/>
          <a:p>
            <a:pPr algn="ctr" indent="0" marL="0">
              <a:buNone/>
            </a:pPr>
            <a:r>
              <a:rPr lang="en-US" sz="1200" dirty="0">
                <a:solidFill>
                  <a:srgbClr val="1F2937"/>
                </a:solidFill>
              </a:rPr>
              <a:t>lock student row → WAIT</a:t>
            </a:r>
            <a:endParaRPr lang="en-US" sz="1200" dirty="0"/>
          </a:p>
        </p:txBody>
      </p:sp>
      <p:sp>
        <p:nvSpPr>
          <p:cNvPr id="33" name="Shape 31"/>
          <p:cNvSpPr/>
          <p:nvPr/>
        </p:nvSpPr>
        <p:spPr>
          <a:xfrm>
            <a:off x="7086600" y="3154680"/>
            <a:ext cx="2103120" cy="548640"/>
          </a:xfrm>
          <a:prstGeom prst="roundRect">
            <a:avLst>
              <a:gd name="adj" fmla="val 13333"/>
            </a:avLst>
          </a:prstGeom>
          <a:solidFill>
            <a:srgbClr val="EEF0FF"/>
          </a:solidFill>
          <a:ln w="15240">
            <a:solidFill>
              <a:srgbClr val="4F46E5"/>
            </a:solidFill>
            <a:prstDash val="solid"/>
          </a:ln>
        </p:spPr>
      </p:sp>
      <p:sp>
        <p:nvSpPr>
          <p:cNvPr id="34" name="Text 32"/>
          <p:cNvSpPr txBox="1"/>
          <p:nvPr/>
        </p:nvSpPr>
        <p:spPr>
          <a:xfrm>
            <a:off x="7159752" y="3154680"/>
            <a:ext cx="1956816" cy="548640"/>
          </a:xfrm>
          <a:prstGeom prst="rect">
            <a:avLst/>
          </a:prstGeom>
          <a:noFill/>
          <a:ln/>
        </p:spPr>
        <p:txBody>
          <a:bodyPr wrap="square" lIns="0" tIns="0" rIns="0" bIns="0" rtlCol="0" anchor="ctr"/>
          <a:lstStyle/>
          <a:p>
            <a:pPr algn="ctr" indent="0" marL="0">
              <a:buNone/>
            </a:pPr>
            <a:r>
              <a:rPr lang="en-US" sz="1200" dirty="0">
                <a:solidFill>
                  <a:srgbClr val="1F2937"/>
                </a:solidFill>
              </a:rPr>
              <a:t>accept + cascade (declines B's offer)</a:t>
            </a:r>
            <a:endParaRPr lang="en-US" sz="1200" dirty="0"/>
          </a:p>
        </p:txBody>
      </p:sp>
      <p:sp>
        <p:nvSpPr>
          <p:cNvPr id="35" name="Shape 33"/>
          <p:cNvSpPr/>
          <p:nvPr/>
        </p:nvSpPr>
        <p:spPr>
          <a:xfrm>
            <a:off x="7086600" y="3886200"/>
            <a:ext cx="2103120" cy="548640"/>
          </a:xfrm>
          <a:prstGeom prst="roundRect">
            <a:avLst>
              <a:gd name="adj" fmla="val 13333"/>
            </a:avLst>
          </a:prstGeom>
          <a:solidFill>
            <a:srgbClr val="E6F6F3"/>
          </a:solidFill>
          <a:ln w="15240">
            <a:solidFill>
              <a:srgbClr val="0F766E"/>
            </a:solidFill>
            <a:prstDash val="solid"/>
          </a:ln>
        </p:spPr>
      </p:sp>
      <p:sp>
        <p:nvSpPr>
          <p:cNvPr id="36" name="Text 34"/>
          <p:cNvSpPr txBox="1"/>
          <p:nvPr/>
        </p:nvSpPr>
        <p:spPr>
          <a:xfrm>
            <a:off x="7159752" y="3886200"/>
            <a:ext cx="1956816" cy="548640"/>
          </a:xfrm>
          <a:prstGeom prst="rect">
            <a:avLst/>
          </a:prstGeom>
          <a:noFill/>
          <a:ln/>
        </p:spPr>
        <p:txBody>
          <a:bodyPr wrap="square" lIns="0" tIns="0" rIns="0" bIns="0" rtlCol="0" anchor="ctr"/>
          <a:lstStyle/>
          <a:p>
            <a:pPr algn="ctr" indent="0" marL="0">
              <a:buNone/>
            </a:pPr>
            <a:r>
              <a:rPr lang="en-US" sz="1200" dirty="0">
                <a:solidFill>
                  <a:srgbClr val="1F2937"/>
                </a:solidFill>
              </a:rPr>
              <a:t>COMMIT</a:t>
            </a:r>
            <a:endParaRPr lang="en-US" sz="1200" dirty="0"/>
          </a:p>
        </p:txBody>
      </p:sp>
      <p:sp>
        <p:nvSpPr>
          <p:cNvPr id="37" name="Shape 35"/>
          <p:cNvSpPr/>
          <p:nvPr/>
        </p:nvSpPr>
        <p:spPr>
          <a:xfrm>
            <a:off x="9555480" y="4572000"/>
            <a:ext cx="2103120" cy="548640"/>
          </a:xfrm>
          <a:prstGeom prst="roundRect">
            <a:avLst>
              <a:gd name="adj" fmla="val 13333"/>
            </a:avLst>
          </a:prstGeom>
          <a:solidFill>
            <a:srgbClr val="FFF4E6"/>
          </a:solidFill>
          <a:ln w="15240">
            <a:solidFill>
              <a:srgbClr val="C2410C"/>
            </a:solidFill>
            <a:prstDash val="solid"/>
          </a:ln>
        </p:spPr>
      </p:sp>
      <p:sp>
        <p:nvSpPr>
          <p:cNvPr id="38" name="Text 36"/>
          <p:cNvSpPr txBox="1"/>
          <p:nvPr/>
        </p:nvSpPr>
        <p:spPr>
          <a:xfrm>
            <a:off x="9628632" y="4572000"/>
            <a:ext cx="1956816" cy="548640"/>
          </a:xfrm>
          <a:prstGeom prst="rect">
            <a:avLst/>
          </a:prstGeom>
          <a:noFill/>
          <a:ln/>
        </p:spPr>
        <p:txBody>
          <a:bodyPr wrap="square" lIns="0" tIns="0" rIns="0" bIns="0" rtlCol="0" anchor="ctr"/>
          <a:lstStyle/>
          <a:p>
            <a:pPr algn="ctr" indent="0" marL="0">
              <a:buNone/>
            </a:pPr>
            <a:r>
              <a:rPr lang="en-US" sz="1200" dirty="0">
                <a:solidFill>
                  <a:srgbClr val="1F2937"/>
                </a:solidFill>
              </a:rPr>
              <a:t>wakes, re-reads offer: DECLINED</a:t>
            </a:r>
            <a:endParaRPr lang="en-US" sz="1200" dirty="0"/>
          </a:p>
        </p:txBody>
      </p:sp>
      <p:sp>
        <p:nvSpPr>
          <p:cNvPr id="39" name="Shape 37"/>
          <p:cNvSpPr/>
          <p:nvPr/>
        </p:nvSpPr>
        <p:spPr>
          <a:xfrm>
            <a:off x="9555480" y="5257800"/>
            <a:ext cx="2103120" cy="548640"/>
          </a:xfrm>
          <a:prstGeom prst="roundRect">
            <a:avLst>
              <a:gd name="adj" fmla="val 13333"/>
            </a:avLst>
          </a:prstGeom>
          <a:solidFill>
            <a:srgbClr val="FDECEA"/>
          </a:solidFill>
          <a:ln w="15240">
            <a:solidFill>
              <a:srgbClr val="DC2626"/>
            </a:solidFill>
            <a:prstDash val="solid"/>
          </a:ln>
        </p:spPr>
      </p:sp>
      <p:sp>
        <p:nvSpPr>
          <p:cNvPr id="40" name="Text 38"/>
          <p:cNvSpPr txBox="1"/>
          <p:nvPr/>
        </p:nvSpPr>
        <p:spPr>
          <a:xfrm>
            <a:off x="9628632" y="5257800"/>
            <a:ext cx="1956816" cy="548640"/>
          </a:xfrm>
          <a:prstGeom prst="rect">
            <a:avLst/>
          </a:prstGeom>
          <a:noFill/>
          <a:ln/>
        </p:spPr>
        <p:txBody>
          <a:bodyPr wrap="square" lIns="0" tIns="0" rIns="0" bIns="0" rtlCol="0" anchor="ctr"/>
          <a:lstStyle/>
          <a:p>
            <a:pPr algn="ctr" indent="0" marL="0">
              <a:buNone/>
            </a:pPr>
            <a:r>
              <a:rPr lang="en-US" sz="1200" dirty="0">
                <a:solidFill>
                  <a:srgbClr val="1F2937"/>
                </a:solidFill>
              </a:rPr>
              <a:t>error → ROLLBACK</a:t>
            </a:r>
            <a:endParaRPr lang="en-US" sz="1200" dirty="0"/>
          </a:p>
        </p:txBody>
      </p:sp>
      <p:sp>
        <p:nvSpPr>
          <p:cNvPr id="41" name="Text 39"/>
          <p:cNvSpPr txBox="1"/>
          <p:nvPr/>
        </p:nvSpPr>
        <p:spPr>
          <a:xfrm>
            <a:off x="7086600" y="5897880"/>
            <a:ext cx="4572000" cy="457200"/>
          </a:xfrm>
          <a:prstGeom prst="rect">
            <a:avLst/>
          </a:prstGeom>
          <a:noFill/>
          <a:ln/>
        </p:spPr>
        <p:txBody>
          <a:bodyPr wrap="square" lIns="0" tIns="0" rIns="0" bIns="0" rtlCol="0" anchor="ctr"/>
          <a:lstStyle/>
          <a:p>
            <a:pPr indent="0" marL="0">
              <a:buNone/>
            </a:pPr>
            <a:r>
              <a:rPr lang="en-US" sz="1250" i="1" dirty="0">
                <a:solidFill>
                  <a:srgbClr val="6B7280"/>
                </a:solidFill>
              </a:rPr>
              <a:t>Result: exactly one accepted offer. Locking the student first (not the offer) also rules out a deadlock.</a:t>
            </a:r>
            <a:endParaRPr lang="en-US" sz="125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144000" cy="731520"/>
          </a:xfrm>
          <a:prstGeom prst="rect">
            <a:avLst/>
          </a:prstGeom>
          <a:noFill/>
          <a:ln/>
        </p:spPr>
        <p:txBody>
          <a:bodyPr wrap="square" lIns="0" tIns="0" rIns="0" bIns="0" rtlCol="0" anchor="ctr"/>
          <a:lstStyle/>
          <a:p>
            <a:pPr algn="l" indent="0" marL="0">
              <a:buNone/>
            </a:pPr>
            <a:r>
              <a:rPr lang="en-US" sz="3000" b="1" dirty="0">
                <a:solidFill>
                  <a:srgbClr val="111827"/>
                </a:solidFill>
                <a:latin typeface="Cambria" pitchFamily="34" charset="0"/>
                <a:ea typeface="Cambria" pitchFamily="34" charset="-122"/>
                <a:cs typeface="Cambria" pitchFamily="34" charset="-120"/>
              </a:rPr>
              <a:t>Indexing: measured, not assumed</a:t>
            </a:r>
            <a:endParaRPr lang="en-US" sz="3000" dirty="0"/>
          </a:p>
        </p:txBody>
      </p:sp>
      <p:sp>
        <p:nvSpPr>
          <p:cNvPr id="3" name="speaker-chip"/>
          <p:cNvSpPr/>
          <p:nvPr/>
        </p:nvSpPr>
        <p:spPr>
          <a:xfrm>
            <a:off x="9921240" y="457200"/>
            <a:ext cx="1737360" cy="402336"/>
          </a:xfrm>
          <a:prstGeom prst="roundRect">
            <a:avLst>
              <a:gd name="adj" fmla="val 50000"/>
            </a:avLst>
          </a:prstGeom>
          <a:solidFill>
            <a:srgbClr val="EEF0FF"/>
          </a:solidFill>
          <a:ln w="12700">
            <a:solidFill>
              <a:srgbClr val="EEF0FF"/>
            </a:solidFill>
            <a:prstDash val="solid"/>
          </a:ln>
        </p:spPr>
      </p:sp>
      <p:sp>
        <p:nvSpPr>
          <p:cNvPr id="4" name="Text 2"/>
          <p:cNvSpPr txBox="1"/>
          <p:nvPr/>
        </p:nvSpPr>
        <p:spPr>
          <a:xfrm>
            <a:off x="9921240" y="457200"/>
            <a:ext cx="1737360" cy="402336"/>
          </a:xfrm>
          <a:prstGeom prst="rect">
            <a:avLst/>
          </a:prstGeom>
          <a:noFill/>
          <a:ln/>
        </p:spPr>
        <p:txBody>
          <a:bodyPr wrap="square" lIns="0" tIns="0" rIns="0" bIns="0" rtlCol="0" anchor="ctr"/>
          <a:lstStyle/>
          <a:p>
            <a:pPr algn="ctr" indent="0" marL="0">
              <a:buNone/>
            </a:pPr>
            <a:r>
              <a:rPr lang="en-US" sz="1200" b="1" dirty="0">
                <a:solidFill>
                  <a:srgbClr val="4F46E5"/>
                </a:solidFill>
              </a:rPr>
              <a:t>M4  </a:t>
            </a:r>
            <a:pPr algn="ctr" indent="0" marL="0">
              <a:buNone/>
            </a:pPr>
            <a:r>
              <a:rPr lang="en-US" sz="1200" dirty="0">
                <a:solidFill>
                  <a:srgbClr val="312E81"/>
                </a:solidFill>
              </a:rPr>
              <a:t>[Member 4]</a:t>
            </a:r>
            <a:endParaRPr lang="en-US" sz="1200" dirty="0"/>
          </a:p>
        </p:txBody>
      </p:sp>
      <p:graphicFrame>
        <p:nvGraphicFramePr>
          <p:cNvPr id="5" name="Chart 0" descr=""/>
          <p:cNvGraphicFramePr/>
          <p:nvPr/>
        </p:nvGraphicFramePr>
        <p:xfrm>
          <a:off x="548640" y="1325880"/>
          <a:ext cx="6400800" cy="4480560"/>
        </p:xfrm>
        <a:graphic xmlns:a="http://schemas.openxmlformats.org/drawingml/2006/main">
          <a:graphicData uri="http://schemas.openxmlformats.org/drawingml/2006/chart">
            <c:chart xmlns:c="http://schemas.openxmlformats.org/drawingml/2006/chart" r:id="rId1"/>
          </a:graphicData>
        </a:graphic>
      </p:graphicFrame>
      <p:sp>
        <p:nvSpPr>
          <p:cNvPr id="6" name="Text 3"/>
          <p:cNvSpPr txBox="1"/>
          <p:nvPr/>
        </p:nvSpPr>
        <p:spPr>
          <a:xfrm>
            <a:off x="7406640" y="1325880"/>
            <a:ext cx="4206240" cy="640080"/>
          </a:xfrm>
          <a:prstGeom prst="rect">
            <a:avLst/>
          </a:prstGeom>
          <a:noFill/>
          <a:ln/>
        </p:spPr>
        <p:txBody>
          <a:bodyPr wrap="square" lIns="0" tIns="0" rIns="0" bIns="0" rtlCol="0" anchor="ctr"/>
          <a:lstStyle/>
          <a:p>
            <a:pPr indent="0" marL="0">
              <a:buNone/>
            </a:pPr>
            <a:r>
              <a:rPr lang="en-US" sz="3600" b="1" dirty="0">
                <a:solidFill>
                  <a:srgbClr val="4F46E5"/>
                </a:solidFill>
                <a:latin typeface="Cambria" pitchFamily="34" charset="0"/>
                <a:ea typeface="Cambria" pitchFamily="34" charset="-122"/>
                <a:cs typeface="Cambria" pitchFamily="34" charset="-120"/>
              </a:rPr>
              <a:t>1,527× faster</a:t>
            </a:r>
            <a:endParaRPr lang="en-US" sz="3600" dirty="0"/>
          </a:p>
        </p:txBody>
      </p:sp>
      <p:sp>
        <p:nvSpPr>
          <p:cNvPr id="7" name="Text 4"/>
          <p:cNvSpPr txBox="1"/>
          <p:nvPr/>
        </p:nvSpPr>
        <p:spPr>
          <a:xfrm>
            <a:off x="7406640" y="1984248"/>
            <a:ext cx="4206240" cy="457200"/>
          </a:xfrm>
          <a:prstGeom prst="rect">
            <a:avLst/>
          </a:prstGeom>
          <a:noFill/>
          <a:ln/>
        </p:spPr>
        <p:txBody>
          <a:bodyPr wrap="square" lIns="0" tIns="0" rIns="0" bIns="0" rtlCol="0" anchor="t"/>
          <a:lstStyle/>
          <a:p>
            <a:pPr indent="0" marL="0">
              <a:buNone/>
            </a:pPr>
            <a:r>
              <a:rPr lang="en-US" sz="1250" dirty="0">
                <a:solidFill>
                  <a:srgbClr val="6B7280"/>
                </a:solidFill>
              </a:rPr>
              <a:t>composite B-tree index vs sequential scan</a:t>
            </a:r>
            <a:endParaRPr lang="en-US" sz="1250" dirty="0"/>
          </a:p>
        </p:txBody>
      </p:sp>
      <p:sp>
        <p:nvSpPr>
          <p:cNvPr id="8" name="Text 5"/>
          <p:cNvSpPr txBox="1"/>
          <p:nvPr/>
        </p:nvSpPr>
        <p:spPr>
          <a:xfrm>
            <a:off x="7406640" y="2606040"/>
            <a:ext cx="4206240" cy="640080"/>
          </a:xfrm>
          <a:prstGeom prst="rect">
            <a:avLst/>
          </a:prstGeom>
          <a:noFill/>
          <a:ln/>
        </p:spPr>
        <p:txBody>
          <a:bodyPr wrap="square" lIns="0" tIns="0" rIns="0" bIns="0" rtlCol="0" anchor="ctr"/>
          <a:lstStyle/>
          <a:p>
            <a:pPr indent="0" marL="0">
              <a:buNone/>
            </a:pPr>
            <a:r>
              <a:rPr lang="en-US" sz="3600" b="1" dirty="0">
                <a:solidFill>
                  <a:srgbClr val="0F766E"/>
                </a:solidFill>
                <a:latin typeface="Cambria" pitchFamily="34" charset="0"/>
                <a:ea typeface="Cambria" pitchFamily="34" charset="-122"/>
                <a:cs typeface="Cambria" pitchFamily="34" charset="-120"/>
              </a:rPr>
              <a:t>26× smaller</a:t>
            </a:r>
            <a:endParaRPr lang="en-US" sz="3600" dirty="0"/>
          </a:p>
        </p:txBody>
      </p:sp>
      <p:sp>
        <p:nvSpPr>
          <p:cNvPr id="9" name="Text 6"/>
          <p:cNvSpPr txBox="1"/>
          <p:nvPr/>
        </p:nvSpPr>
        <p:spPr>
          <a:xfrm>
            <a:off x="7406640" y="3264408"/>
            <a:ext cx="4206240" cy="457200"/>
          </a:xfrm>
          <a:prstGeom prst="rect">
            <a:avLst/>
          </a:prstGeom>
          <a:noFill/>
          <a:ln/>
        </p:spPr>
        <p:txBody>
          <a:bodyPr wrap="square" lIns="0" tIns="0" rIns="0" bIns="0" rtlCol="0" anchor="t"/>
          <a:lstStyle/>
          <a:p>
            <a:pPr indent="0" marL="0">
              <a:buNone/>
            </a:pPr>
            <a:r>
              <a:rPr lang="en-US" sz="1250" dirty="0">
                <a:solidFill>
                  <a:srgbClr val="6B7280"/>
                </a:solidFill>
              </a:rPr>
              <a:t>partial index (176 KB) vs full index (4,488 KB)</a:t>
            </a:r>
            <a:endParaRPr lang="en-US" sz="1250" dirty="0"/>
          </a:p>
        </p:txBody>
      </p:sp>
      <p:sp>
        <p:nvSpPr>
          <p:cNvPr id="10" name="Text 7"/>
          <p:cNvSpPr txBox="1"/>
          <p:nvPr/>
        </p:nvSpPr>
        <p:spPr>
          <a:xfrm>
            <a:off x="7406640" y="3886200"/>
            <a:ext cx="4206240" cy="640080"/>
          </a:xfrm>
          <a:prstGeom prst="rect">
            <a:avLst/>
          </a:prstGeom>
          <a:noFill/>
          <a:ln/>
        </p:spPr>
        <p:txBody>
          <a:bodyPr wrap="square" lIns="0" tIns="0" rIns="0" bIns="0" rtlCol="0" anchor="ctr"/>
          <a:lstStyle/>
          <a:p>
            <a:pPr indent="0" marL="0">
              <a:buNone/>
            </a:pPr>
            <a:r>
              <a:rPr lang="en-US" sz="3000" b="1" dirty="0">
                <a:solidFill>
                  <a:srgbClr val="C2410C"/>
                </a:solidFill>
                <a:latin typeface="Cambria" pitchFamily="34" charset="0"/>
                <a:ea typeface="Cambria" pitchFamily="34" charset="-122"/>
                <a:cs typeface="Cambria" pitchFamily="34" charset="-120"/>
              </a:rPr>
              <a:t>3 vs 4,383 blocks</a:t>
            </a:r>
            <a:endParaRPr lang="en-US" sz="3000" dirty="0"/>
          </a:p>
        </p:txBody>
      </p:sp>
      <p:sp>
        <p:nvSpPr>
          <p:cNvPr id="11" name="Text 8"/>
          <p:cNvSpPr txBox="1"/>
          <p:nvPr/>
        </p:nvSpPr>
        <p:spPr>
          <a:xfrm>
            <a:off x="7406640" y="4544568"/>
            <a:ext cx="4206240" cy="457200"/>
          </a:xfrm>
          <a:prstGeom prst="rect">
            <a:avLst/>
          </a:prstGeom>
          <a:noFill/>
          <a:ln/>
        </p:spPr>
        <p:txBody>
          <a:bodyPr wrap="square" lIns="0" tIns="0" rIns="0" bIns="0" rtlCol="0" anchor="t"/>
          <a:lstStyle/>
          <a:p>
            <a:pPr indent="0" marL="0">
              <a:buNone/>
            </a:pPr>
            <a:r>
              <a:rPr lang="en-US" sz="1250" dirty="0">
                <a:solidFill>
                  <a:srgbClr val="6B7280"/>
                </a:solidFill>
              </a:rPr>
              <a:t>leading-column rule: filter on status alone cannot seek the (job_id, status) index</a:t>
            </a:r>
            <a:endParaRPr lang="en-US" sz="1250" dirty="0"/>
          </a:p>
        </p:txBody>
      </p:sp>
      <p:sp>
        <p:nvSpPr>
          <p:cNvPr id="12" name="Text 9"/>
          <p:cNvSpPr txBox="1"/>
          <p:nvPr/>
        </p:nvSpPr>
        <p:spPr>
          <a:xfrm>
            <a:off x="7406640" y="5349240"/>
            <a:ext cx="4206240" cy="457200"/>
          </a:xfrm>
          <a:prstGeom prst="rect">
            <a:avLst/>
          </a:prstGeom>
          <a:noFill/>
          <a:ln/>
        </p:spPr>
        <p:txBody>
          <a:bodyPr wrap="square" lIns="0" tIns="0" rIns="0" bIns="0" rtlCol="0" anchor="ctr"/>
          <a:lstStyle/>
          <a:p>
            <a:pPr indent="0" marL="0">
              <a:buNone/>
            </a:pPr>
            <a:r>
              <a:rPr lang="en-US" sz="1200" i="1" dirty="0">
                <a:solidFill>
                  <a:srgbClr val="6B7280"/>
                </a:solidFill>
              </a:rPr>
              <a:t>Measured with EXPLAIN (ANALYZE, BUFFERS) by tests TC-PRF-01 to 03.</a:t>
            </a:r>
            <a:endParaRPr lang="en-US" sz="12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144000" cy="731520"/>
          </a:xfrm>
          <a:prstGeom prst="rect">
            <a:avLst/>
          </a:prstGeom>
          <a:noFill/>
          <a:ln/>
        </p:spPr>
        <p:txBody>
          <a:bodyPr wrap="square" lIns="0" tIns="0" rIns="0" bIns="0" rtlCol="0" anchor="ctr"/>
          <a:lstStyle/>
          <a:p>
            <a:pPr algn="l" indent="0" marL="0">
              <a:buNone/>
            </a:pPr>
            <a:r>
              <a:rPr lang="en-US" sz="3000" b="1" dirty="0">
                <a:solidFill>
                  <a:srgbClr val="111827"/>
                </a:solidFill>
                <a:latin typeface="Cambria" pitchFamily="34" charset="0"/>
                <a:ea typeface="Cambria" pitchFamily="34" charset="-122"/>
                <a:cs typeface="Cambria" pitchFamily="34" charset="-120"/>
              </a:rPr>
              <a:t>Security and testing</a:t>
            </a:r>
            <a:endParaRPr lang="en-US" sz="3000" dirty="0"/>
          </a:p>
        </p:txBody>
      </p:sp>
      <p:sp>
        <p:nvSpPr>
          <p:cNvPr id="3" name="speaker-chip"/>
          <p:cNvSpPr/>
          <p:nvPr/>
        </p:nvSpPr>
        <p:spPr>
          <a:xfrm>
            <a:off x="9921240" y="457200"/>
            <a:ext cx="1737360" cy="402336"/>
          </a:xfrm>
          <a:prstGeom prst="roundRect">
            <a:avLst>
              <a:gd name="adj" fmla="val 50000"/>
            </a:avLst>
          </a:prstGeom>
          <a:solidFill>
            <a:srgbClr val="EEF0FF"/>
          </a:solidFill>
          <a:ln w="12700">
            <a:solidFill>
              <a:srgbClr val="EEF0FF"/>
            </a:solidFill>
            <a:prstDash val="solid"/>
          </a:ln>
        </p:spPr>
      </p:sp>
      <p:sp>
        <p:nvSpPr>
          <p:cNvPr id="4" name="Text 2"/>
          <p:cNvSpPr txBox="1"/>
          <p:nvPr/>
        </p:nvSpPr>
        <p:spPr>
          <a:xfrm>
            <a:off x="9921240" y="457200"/>
            <a:ext cx="1737360" cy="402336"/>
          </a:xfrm>
          <a:prstGeom prst="rect">
            <a:avLst/>
          </a:prstGeom>
          <a:noFill/>
          <a:ln/>
        </p:spPr>
        <p:txBody>
          <a:bodyPr wrap="square" lIns="0" tIns="0" rIns="0" bIns="0" rtlCol="0" anchor="ctr"/>
          <a:lstStyle/>
          <a:p>
            <a:pPr algn="ctr" indent="0" marL="0">
              <a:buNone/>
            </a:pPr>
            <a:r>
              <a:rPr lang="en-US" sz="1200" b="1" dirty="0">
                <a:solidFill>
                  <a:srgbClr val="4F46E5"/>
                </a:solidFill>
              </a:rPr>
              <a:t>M4  </a:t>
            </a:r>
            <a:pPr algn="ctr" indent="0" marL="0">
              <a:buNone/>
            </a:pPr>
            <a:r>
              <a:rPr lang="en-US" sz="1200" dirty="0">
                <a:solidFill>
                  <a:srgbClr val="312E81"/>
                </a:solidFill>
              </a:rPr>
              <a:t>[Member 4]</a:t>
            </a:r>
            <a:endParaRPr lang="en-US" sz="1200" dirty="0"/>
          </a:p>
        </p:txBody>
      </p:sp>
      <p:sp>
        <p:nvSpPr>
          <p:cNvPr id="5" name="Shape 3"/>
          <p:cNvSpPr/>
          <p:nvPr/>
        </p:nvSpPr>
        <p:spPr>
          <a:xfrm>
            <a:off x="548640" y="1325880"/>
            <a:ext cx="5394960" cy="4663440"/>
          </a:xfrm>
          <a:prstGeom prst="roundRect">
            <a:avLst>
              <a:gd name="adj" fmla="val 1961"/>
            </a:avLst>
          </a:prstGeom>
          <a:solidFill>
            <a:srgbClr val="F6F7FB"/>
          </a:solidFill>
          <a:ln w="12700">
            <a:solidFill>
              <a:srgbClr val="E5E7EB"/>
            </a:solidFill>
            <a:prstDash val="solid"/>
          </a:ln>
        </p:spPr>
      </p:sp>
      <p:sp>
        <p:nvSpPr>
          <p:cNvPr id="6" name="Text 4"/>
          <p:cNvSpPr txBox="1"/>
          <p:nvPr/>
        </p:nvSpPr>
        <p:spPr>
          <a:xfrm>
            <a:off x="777240" y="1463040"/>
            <a:ext cx="5029200" cy="365760"/>
          </a:xfrm>
          <a:prstGeom prst="rect">
            <a:avLst/>
          </a:prstGeom>
          <a:noFill/>
          <a:ln/>
        </p:spPr>
        <p:txBody>
          <a:bodyPr wrap="square" lIns="0" tIns="0" rIns="0" bIns="0" rtlCol="0" anchor="ctr"/>
          <a:lstStyle/>
          <a:p>
            <a:pPr indent="0" marL="0">
              <a:buNone/>
            </a:pPr>
            <a:r>
              <a:rPr lang="en-US" sz="1500" b="1" dirty="0">
                <a:solidFill>
                  <a:srgbClr val="1F2937"/>
                </a:solidFill>
              </a:rPr>
              <a:t>SQL injection, same input  x' OR '1'='1</a:t>
            </a:r>
            <a:endParaRPr lang="en-US" sz="1500" dirty="0"/>
          </a:p>
        </p:txBody>
      </p:sp>
      <p:sp>
        <p:nvSpPr>
          <p:cNvPr id="7" name="Text 5"/>
          <p:cNvSpPr txBox="1"/>
          <p:nvPr/>
        </p:nvSpPr>
        <p:spPr>
          <a:xfrm>
            <a:off x="777240" y="1965960"/>
            <a:ext cx="2377440" cy="640080"/>
          </a:xfrm>
          <a:prstGeom prst="rect">
            <a:avLst/>
          </a:prstGeom>
          <a:noFill/>
          <a:ln/>
        </p:spPr>
        <p:txBody>
          <a:bodyPr wrap="square" lIns="0" tIns="0" rIns="0" bIns="0" rtlCol="0" anchor="ctr"/>
          <a:lstStyle/>
          <a:p>
            <a:pPr indent="0" marL="0">
              <a:buNone/>
            </a:pPr>
            <a:r>
              <a:rPr lang="en-US" sz="4800" b="1" dirty="0">
                <a:solidFill>
                  <a:srgbClr val="DC2626"/>
                </a:solidFill>
                <a:latin typeface="Cambria" pitchFamily="34" charset="0"/>
                <a:ea typeface="Cambria" pitchFamily="34" charset="-122"/>
                <a:cs typeface="Cambria" pitchFamily="34" charset="-120"/>
              </a:rPr>
              <a:t>180</a:t>
            </a:r>
            <a:endParaRPr lang="en-US" sz="4800" dirty="0"/>
          </a:p>
        </p:txBody>
      </p:sp>
      <p:sp>
        <p:nvSpPr>
          <p:cNvPr id="8" name="Text 6"/>
          <p:cNvSpPr txBox="1"/>
          <p:nvPr/>
        </p:nvSpPr>
        <p:spPr>
          <a:xfrm>
            <a:off x="777240" y="2624328"/>
            <a:ext cx="2377440" cy="457200"/>
          </a:xfrm>
          <a:prstGeom prst="rect">
            <a:avLst/>
          </a:prstGeom>
          <a:noFill/>
          <a:ln/>
        </p:spPr>
        <p:txBody>
          <a:bodyPr wrap="square" lIns="0" tIns="0" rIns="0" bIns="0" rtlCol="0" anchor="t"/>
          <a:lstStyle/>
          <a:p>
            <a:pPr indent="0" marL="0">
              <a:buNone/>
            </a:pPr>
            <a:r>
              <a:rPr lang="en-US" sz="1250" dirty="0">
                <a:solidFill>
                  <a:srgbClr val="6B7280"/>
                </a:solidFill>
              </a:rPr>
              <a:t>rows leaked: string concatenation</a:t>
            </a:r>
            <a:endParaRPr lang="en-US" sz="1250" dirty="0"/>
          </a:p>
        </p:txBody>
      </p:sp>
      <p:sp>
        <p:nvSpPr>
          <p:cNvPr id="9" name="Text 7"/>
          <p:cNvSpPr txBox="1"/>
          <p:nvPr/>
        </p:nvSpPr>
        <p:spPr>
          <a:xfrm>
            <a:off x="3291840" y="1965960"/>
            <a:ext cx="2377440" cy="640080"/>
          </a:xfrm>
          <a:prstGeom prst="rect">
            <a:avLst/>
          </a:prstGeom>
          <a:noFill/>
          <a:ln/>
        </p:spPr>
        <p:txBody>
          <a:bodyPr wrap="square" lIns="0" tIns="0" rIns="0" bIns="0" rtlCol="0" anchor="ctr"/>
          <a:lstStyle/>
          <a:p>
            <a:pPr indent="0" marL="0">
              <a:buNone/>
            </a:pPr>
            <a:r>
              <a:rPr lang="en-US" sz="4800" b="1" dirty="0">
                <a:solidFill>
                  <a:srgbClr val="0F766E"/>
                </a:solidFill>
                <a:latin typeface="Cambria" pitchFamily="34" charset="0"/>
                <a:ea typeface="Cambria" pitchFamily="34" charset="-122"/>
                <a:cs typeface="Cambria" pitchFamily="34" charset="-120"/>
              </a:rPr>
              <a:t>0</a:t>
            </a:r>
            <a:endParaRPr lang="en-US" sz="4800" dirty="0"/>
          </a:p>
        </p:txBody>
      </p:sp>
      <p:sp>
        <p:nvSpPr>
          <p:cNvPr id="10" name="Text 8"/>
          <p:cNvSpPr txBox="1"/>
          <p:nvPr/>
        </p:nvSpPr>
        <p:spPr>
          <a:xfrm>
            <a:off x="3291840" y="2624328"/>
            <a:ext cx="2377440" cy="457200"/>
          </a:xfrm>
          <a:prstGeom prst="rect">
            <a:avLst/>
          </a:prstGeom>
          <a:noFill/>
          <a:ln/>
        </p:spPr>
        <p:txBody>
          <a:bodyPr wrap="square" lIns="0" tIns="0" rIns="0" bIns="0" rtlCol="0" anchor="t"/>
          <a:lstStyle/>
          <a:p>
            <a:pPr indent="0" marL="0">
              <a:buNone/>
            </a:pPr>
            <a:r>
              <a:rPr lang="en-US" sz="1250" dirty="0">
                <a:solidFill>
                  <a:srgbClr val="6B7280"/>
                </a:solidFill>
              </a:rPr>
              <a:t>rows: bound parameter ($1)</a:t>
            </a:r>
            <a:endParaRPr lang="en-US" sz="1250" dirty="0"/>
          </a:p>
        </p:txBody>
      </p:sp>
      <p:sp>
        <p:nvSpPr>
          <p:cNvPr id="11" name="Text 9"/>
          <p:cNvSpPr txBox="1"/>
          <p:nvPr/>
        </p:nvSpPr>
        <p:spPr>
          <a:xfrm>
            <a:off x="777240" y="3291840"/>
            <a:ext cx="4983480" cy="2560320"/>
          </a:xfrm>
          <a:prstGeom prst="rect">
            <a:avLst/>
          </a:prstGeom>
          <a:noFill/>
          <a:ln/>
        </p:spPr>
        <p:txBody>
          <a:bodyPr wrap="square" lIns="0" tIns="0" rIns="0" bIns="0" rtlCol="0" anchor="t"/>
          <a:lstStyle/>
          <a:p>
            <a:pPr marL="342900" indent="-342900">
              <a:spcAft>
                <a:spcPts val="800"/>
              </a:spcAft>
              <a:buSzPct val="100000"/>
              <a:buChar char="•"/>
            </a:pPr>
            <a:r>
              <a:rPr lang="en-US" sz="1350" dirty="0">
                <a:solidFill>
                  <a:srgbClr val="374151"/>
                </a:solidFill>
              </a:rPr>
              <a:t>Defence in depth: the unsafe path runs as role placeiq_readonly (GRANT SELECT on 2 tables) in a READ ONLY transaction</a:t>
            </a:r>
            <a:endParaRPr lang="en-US" sz="1350" dirty="0"/>
          </a:p>
          <a:p>
            <a:pPr marL="342900" indent="-342900">
              <a:spcAft>
                <a:spcPts val="800"/>
              </a:spcAft>
              <a:buSzPct val="100000"/>
              <a:buChar char="•"/>
            </a:pPr>
            <a:r>
              <a:rPr lang="en-US" sz="1350" dirty="0">
                <a:solidFill>
                  <a:srgbClr val="374151"/>
                </a:solidFill>
              </a:rPr>
              <a:t>DROP TABLE payload → SQLSTATE 25006; pg_read_file → 42501 (permission denied)</a:t>
            </a:r>
            <a:endParaRPr lang="en-US" sz="1350" dirty="0"/>
          </a:p>
          <a:p>
            <a:pPr marL="342900" indent="-342900">
              <a:spcAft>
                <a:spcPts val="800"/>
              </a:spcAft>
              <a:buSzPct val="100000"/>
              <a:buChar char="•"/>
            </a:pPr>
            <a:r>
              <a:rPr lang="en-US" sz="1350" dirty="0">
                <a:solidFill>
                  <a:srgbClr val="374151"/>
                </a:solidFill>
              </a:rPr>
              <a:t>Every other query in the app uses parameters</a:t>
            </a:r>
            <a:endParaRPr lang="en-US" sz="1350" dirty="0"/>
          </a:p>
        </p:txBody>
      </p:sp>
      <p:sp>
        <p:nvSpPr>
          <p:cNvPr id="12" name="Text 10"/>
          <p:cNvSpPr txBox="1"/>
          <p:nvPr/>
        </p:nvSpPr>
        <p:spPr>
          <a:xfrm>
            <a:off x="6309360" y="1280160"/>
            <a:ext cx="2377440" cy="777240"/>
          </a:xfrm>
          <a:prstGeom prst="rect">
            <a:avLst/>
          </a:prstGeom>
          <a:noFill/>
          <a:ln/>
        </p:spPr>
        <p:txBody>
          <a:bodyPr wrap="square" lIns="0" tIns="0" rIns="0" bIns="0" rtlCol="0" anchor="ctr"/>
          <a:lstStyle/>
          <a:p>
            <a:pPr indent="0" marL="0">
              <a:buNone/>
            </a:pPr>
            <a:r>
              <a:rPr lang="en-US" sz="4400" b="1" dirty="0">
                <a:solidFill>
                  <a:srgbClr val="0F766E"/>
                </a:solidFill>
                <a:latin typeface="Cambria" pitchFamily="34" charset="0"/>
                <a:ea typeface="Cambria" pitchFamily="34" charset="-122"/>
                <a:cs typeface="Cambria" pitchFamily="34" charset="-120"/>
              </a:rPr>
              <a:t>91 / 91</a:t>
            </a:r>
            <a:endParaRPr lang="en-US" sz="4400" dirty="0"/>
          </a:p>
        </p:txBody>
      </p:sp>
      <p:sp>
        <p:nvSpPr>
          <p:cNvPr id="13" name="Text 11"/>
          <p:cNvSpPr txBox="1"/>
          <p:nvPr/>
        </p:nvSpPr>
        <p:spPr>
          <a:xfrm>
            <a:off x="8595360" y="1417320"/>
            <a:ext cx="3063240" cy="640080"/>
          </a:xfrm>
          <a:prstGeom prst="rect">
            <a:avLst/>
          </a:prstGeom>
          <a:noFill/>
          <a:ln/>
        </p:spPr>
        <p:txBody>
          <a:bodyPr wrap="square" lIns="0" tIns="0" rIns="0" bIns="0" rtlCol="0" anchor="ctr"/>
          <a:lstStyle/>
          <a:p>
            <a:pPr indent="0" marL="0">
              <a:buNone/>
            </a:pPr>
            <a:r>
              <a:rPr lang="en-US" sz="1300" dirty="0">
                <a:solidFill>
                  <a:srgbClr val="6B7280"/>
                </a:solidFill>
              </a:rPr>
              <a:t>automated tests passed (pytest, real database)</a:t>
            </a:r>
            <a:endParaRPr lang="en-US" sz="1300" dirty="0"/>
          </a:p>
        </p:txBody>
      </p:sp>
      <p:graphicFrame>
        <p:nvGraphicFramePr>
          <p:cNvPr id="14" name="Chart 0" descr=""/>
          <p:cNvGraphicFramePr/>
          <p:nvPr/>
        </p:nvGraphicFramePr>
        <p:xfrm>
          <a:off x="6309360" y="2148840"/>
          <a:ext cx="5349240" cy="3840480"/>
        </p:xfrm>
        <a:graphic xmlns:a="http://schemas.openxmlformats.org/drawingml/2006/main">
          <a:graphicData uri="http://schemas.openxmlformats.org/drawingml/2006/chart">
            <c:chart xmlns:c="http://schemas.openxmlformats.org/drawingml/2006/chart" r:id="rId1"/>
          </a:graphicData>
        </a:graphic>
      </p:graphicFrame>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640080" y="411480"/>
            <a:ext cx="8229600" cy="73152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What we learned</a:t>
            </a:r>
            <a:endParaRPr lang="en-US" sz="3200" dirty="0"/>
          </a:p>
        </p:txBody>
      </p:sp>
      <p:sp>
        <p:nvSpPr>
          <p:cNvPr id="3" name="Shape 1"/>
          <p:cNvSpPr/>
          <p:nvPr/>
        </p:nvSpPr>
        <p:spPr>
          <a:xfrm>
            <a:off x="640080" y="1417320"/>
            <a:ext cx="2606040" cy="3108960"/>
          </a:xfrm>
          <a:prstGeom prst="roundRect">
            <a:avLst>
              <a:gd name="adj" fmla="val 3509"/>
            </a:avLst>
          </a:prstGeom>
          <a:solidFill>
            <a:srgbClr val="1F2937"/>
          </a:solidFill>
          <a:ln w="12700">
            <a:solidFill>
              <a:srgbClr val="374151"/>
            </a:solidFill>
            <a:prstDash val="solid"/>
          </a:ln>
        </p:spPr>
      </p:sp>
      <p:sp>
        <p:nvSpPr>
          <p:cNvPr id="4" name="Text 2"/>
          <p:cNvSpPr txBox="1"/>
          <p:nvPr/>
        </p:nvSpPr>
        <p:spPr>
          <a:xfrm>
            <a:off x="822960" y="1572768"/>
            <a:ext cx="2286000" cy="365760"/>
          </a:xfrm>
          <a:prstGeom prst="rect">
            <a:avLst/>
          </a:prstGeom>
          <a:noFill/>
          <a:ln/>
        </p:spPr>
        <p:txBody>
          <a:bodyPr wrap="square" lIns="0" tIns="0" rIns="0" bIns="0" rtlCol="0" anchor="ctr"/>
          <a:lstStyle/>
          <a:p>
            <a:pPr indent="0" marL="0">
              <a:buNone/>
            </a:pPr>
            <a:r>
              <a:rPr lang="en-US" sz="1400" b="1" dirty="0">
                <a:solidFill>
                  <a:srgbClr val="A5B4FC"/>
                </a:solidFill>
              </a:rPr>
              <a:t>M1  </a:t>
            </a:r>
            <a:pPr indent="0" marL="0">
              <a:buNone/>
            </a:pPr>
            <a:r>
              <a:rPr lang="en-US" sz="1400" b="1" dirty="0">
                <a:solidFill>
                  <a:srgbClr val="FFFFFF"/>
                </a:solidFill>
              </a:rPr>
              <a:t>Ekta Sharma</a:t>
            </a:r>
            <a:endParaRPr lang="en-US" sz="1400" dirty="0"/>
          </a:p>
        </p:txBody>
      </p:sp>
      <p:sp>
        <p:nvSpPr>
          <p:cNvPr id="5" name="Text 3"/>
          <p:cNvSpPr txBox="1"/>
          <p:nvPr/>
        </p:nvSpPr>
        <p:spPr>
          <a:xfrm>
            <a:off x="822960" y="2057400"/>
            <a:ext cx="2286000" cy="2377440"/>
          </a:xfrm>
          <a:prstGeom prst="rect">
            <a:avLst/>
          </a:prstGeom>
          <a:noFill/>
          <a:ln/>
        </p:spPr>
        <p:txBody>
          <a:bodyPr wrap="square" lIns="0" tIns="0" rIns="0" bIns="0" rtlCol="0" anchor="t"/>
          <a:lstStyle/>
          <a:p>
            <a:pPr indent="0" marL="0">
              <a:buNone/>
            </a:pPr>
            <a:r>
              <a:rPr lang="en-US" sz="1400" dirty="0">
                <a:solidFill>
                  <a:srgbClr val="CBD5E1"/>
                </a:solidFill>
              </a:rPr>
              <a:t>Modelling decides everything downstream: treating the application as an aggregation is what made interview and offer integrity enforceable.</a:t>
            </a:r>
            <a:endParaRPr lang="en-US" sz="1400" dirty="0"/>
          </a:p>
        </p:txBody>
      </p:sp>
      <p:sp>
        <p:nvSpPr>
          <p:cNvPr id="6" name="Shape 4"/>
          <p:cNvSpPr/>
          <p:nvPr/>
        </p:nvSpPr>
        <p:spPr>
          <a:xfrm>
            <a:off x="3401568" y="1417320"/>
            <a:ext cx="2606040" cy="3108960"/>
          </a:xfrm>
          <a:prstGeom prst="roundRect">
            <a:avLst>
              <a:gd name="adj" fmla="val 3509"/>
            </a:avLst>
          </a:prstGeom>
          <a:solidFill>
            <a:srgbClr val="1F2937"/>
          </a:solidFill>
          <a:ln w="12700">
            <a:solidFill>
              <a:srgbClr val="374151"/>
            </a:solidFill>
            <a:prstDash val="solid"/>
          </a:ln>
        </p:spPr>
      </p:sp>
      <p:sp>
        <p:nvSpPr>
          <p:cNvPr id="7" name="Text 5"/>
          <p:cNvSpPr txBox="1"/>
          <p:nvPr/>
        </p:nvSpPr>
        <p:spPr>
          <a:xfrm>
            <a:off x="3584448" y="1572768"/>
            <a:ext cx="2286000" cy="365760"/>
          </a:xfrm>
          <a:prstGeom prst="rect">
            <a:avLst/>
          </a:prstGeom>
          <a:noFill/>
          <a:ln/>
        </p:spPr>
        <p:txBody>
          <a:bodyPr wrap="square" lIns="0" tIns="0" rIns="0" bIns="0" rtlCol="0" anchor="ctr"/>
          <a:lstStyle/>
          <a:p>
            <a:pPr indent="0" marL="0">
              <a:buNone/>
            </a:pPr>
            <a:r>
              <a:rPr lang="en-US" sz="1400" b="1" dirty="0">
                <a:solidFill>
                  <a:srgbClr val="A5B4FC"/>
                </a:solidFill>
              </a:rPr>
              <a:t>M2  </a:t>
            </a:r>
            <a:pPr indent="0" marL="0">
              <a:buNone/>
            </a:pPr>
            <a:r>
              <a:rPr lang="en-US" sz="1400" b="1" dirty="0">
                <a:solidFill>
                  <a:srgbClr val="FFFFFF"/>
                </a:solidFill>
              </a:rPr>
              <a:t>[Member 2]</a:t>
            </a:r>
            <a:endParaRPr lang="en-US" sz="1400" dirty="0"/>
          </a:p>
        </p:txBody>
      </p:sp>
      <p:sp>
        <p:nvSpPr>
          <p:cNvPr id="8" name="Text 6"/>
          <p:cNvSpPr txBox="1"/>
          <p:nvPr/>
        </p:nvSpPr>
        <p:spPr>
          <a:xfrm>
            <a:off x="3584448" y="2057400"/>
            <a:ext cx="2286000" cy="2377440"/>
          </a:xfrm>
          <a:prstGeom prst="rect">
            <a:avLst/>
          </a:prstGeom>
          <a:noFill/>
          <a:ln/>
        </p:spPr>
        <p:txBody>
          <a:bodyPr wrap="square" lIns="0" tIns="0" rIns="0" bIns="0" rtlCol="0" anchor="t"/>
          <a:lstStyle/>
          <a:p>
            <a:pPr indent="0" marL="0">
              <a:buNone/>
            </a:pPr>
            <a:r>
              <a:rPr lang="en-US" sz="1400" dirty="0">
                <a:solidFill>
                  <a:srgbClr val="CBD5E1"/>
                </a:solidFill>
              </a:rPr>
              <a:t>Normalization is a proof: writing every FD exposed the transitive dependency hiding in min_cgpa.</a:t>
            </a:r>
            <a:endParaRPr lang="en-US" sz="1400" dirty="0"/>
          </a:p>
        </p:txBody>
      </p:sp>
      <p:sp>
        <p:nvSpPr>
          <p:cNvPr id="9" name="Shape 7"/>
          <p:cNvSpPr/>
          <p:nvPr/>
        </p:nvSpPr>
        <p:spPr>
          <a:xfrm>
            <a:off x="6163056" y="1417320"/>
            <a:ext cx="2606040" cy="3108960"/>
          </a:xfrm>
          <a:prstGeom prst="roundRect">
            <a:avLst>
              <a:gd name="adj" fmla="val 3509"/>
            </a:avLst>
          </a:prstGeom>
          <a:solidFill>
            <a:srgbClr val="1F2937"/>
          </a:solidFill>
          <a:ln w="12700">
            <a:solidFill>
              <a:srgbClr val="374151"/>
            </a:solidFill>
            <a:prstDash val="solid"/>
          </a:ln>
        </p:spPr>
      </p:sp>
      <p:sp>
        <p:nvSpPr>
          <p:cNvPr id="10" name="Text 8"/>
          <p:cNvSpPr txBox="1"/>
          <p:nvPr/>
        </p:nvSpPr>
        <p:spPr>
          <a:xfrm>
            <a:off x="6345936" y="1572768"/>
            <a:ext cx="2286000" cy="365760"/>
          </a:xfrm>
          <a:prstGeom prst="rect">
            <a:avLst/>
          </a:prstGeom>
          <a:noFill/>
          <a:ln/>
        </p:spPr>
        <p:txBody>
          <a:bodyPr wrap="square" lIns="0" tIns="0" rIns="0" bIns="0" rtlCol="0" anchor="ctr"/>
          <a:lstStyle/>
          <a:p>
            <a:pPr indent="0" marL="0">
              <a:buNone/>
            </a:pPr>
            <a:r>
              <a:rPr lang="en-US" sz="1400" b="1" dirty="0">
                <a:solidFill>
                  <a:srgbClr val="A5B4FC"/>
                </a:solidFill>
              </a:rPr>
              <a:t>M3  </a:t>
            </a:r>
            <a:pPr indent="0" marL="0">
              <a:buNone/>
            </a:pPr>
            <a:r>
              <a:rPr lang="en-US" sz="1400" b="1" dirty="0">
                <a:solidFill>
                  <a:srgbClr val="FFFFFF"/>
                </a:solidFill>
              </a:rPr>
              <a:t>[Member 3]</a:t>
            </a:r>
            <a:endParaRPr lang="en-US" sz="1400" dirty="0"/>
          </a:p>
        </p:txBody>
      </p:sp>
      <p:sp>
        <p:nvSpPr>
          <p:cNvPr id="11" name="Text 9"/>
          <p:cNvSpPr txBox="1"/>
          <p:nvPr/>
        </p:nvSpPr>
        <p:spPr>
          <a:xfrm>
            <a:off x="6345936" y="2057400"/>
            <a:ext cx="2286000" cy="2377440"/>
          </a:xfrm>
          <a:prstGeom prst="rect">
            <a:avLst/>
          </a:prstGeom>
          <a:noFill/>
          <a:ln/>
        </p:spPr>
        <p:txBody>
          <a:bodyPr wrap="square" lIns="0" tIns="0" rIns="0" bIns="0" rtlCol="0" anchor="t"/>
          <a:lstStyle/>
          <a:p>
            <a:pPr indent="0" marL="0">
              <a:buNone/>
            </a:pPr>
            <a:r>
              <a:rPr lang="en-US" sz="1400" dirty="0">
                <a:solidFill>
                  <a:srgbClr val="CBD5E1"/>
                </a:solidFill>
              </a:rPr>
              <a:t>Declare before you code: CHECK, composite FKs and EXCLUDE reject bad data even if the app is bypassed.</a:t>
            </a:r>
            <a:endParaRPr lang="en-US" sz="1400" dirty="0"/>
          </a:p>
        </p:txBody>
      </p:sp>
      <p:sp>
        <p:nvSpPr>
          <p:cNvPr id="12" name="Shape 10"/>
          <p:cNvSpPr/>
          <p:nvPr/>
        </p:nvSpPr>
        <p:spPr>
          <a:xfrm>
            <a:off x="8924544" y="1417320"/>
            <a:ext cx="2606040" cy="3108960"/>
          </a:xfrm>
          <a:prstGeom prst="roundRect">
            <a:avLst>
              <a:gd name="adj" fmla="val 3509"/>
            </a:avLst>
          </a:prstGeom>
          <a:solidFill>
            <a:srgbClr val="1F2937"/>
          </a:solidFill>
          <a:ln w="12700">
            <a:solidFill>
              <a:srgbClr val="374151"/>
            </a:solidFill>
            <a:prstDash val="solid"/>
          </a:ln>
        </p:spPr>
      </p:sp>
      <p:sp>
        <p:nvSpPr>
          <p:cNvPr id="13" name="Text 11"/>
          <p:cNvSpPr txBox="1"/>
          <p:nvPr/>
        </p:nvSpPr>
        <p:spPr>
          <a:xfrm>
            <a:off x="9107424" y="1572768"/>
            <a:ext cx="2286000" cy="365760"/>
          </a:xfrm>
          <a:prstGeom prst="rect">
            <a:avLst/>
          </a:prstGeom>
          <a:noFill/>
          <a:ln/>
        </p:spPr>
        <p:txBody>
          <a:bodyPr wrap="square" lIns="0" tIns="0" rIns="0" bIns="0" rtlCol="0" anchor="ctr"/>
          <a:lstStyle/>
          <a:p>
            <a:pPr indent="0" marL="0">
              <a:buNone/>
            </a:pPr>
            <a:r>
              <a:rPr lang="en-US" sz="1400" b="1" dirty="0">
                <a:solidFill>
                  <a:srgbClr val="A5B4FC"/>
                </a:solidFill>
              </a:rPr>
              <a:t>M4  </a:t>
            </a:r>
            <a:pPr indent="0" marL="0">
              <a:buNone/>
            </a:pPr>
            <a:r>
              <a:rPr lang="en-US" sz="1400" b="1" dirty="0">
                <a:solidFill>
                  <a:srgbClr val="FFFFFF"/>
                </a:solidFill>
              </a:rPr>
              <a:t>[Member 4]</a:t>
            </a:r>
            <a:endParaRPr lang="en-US" sz="1400" dirty="0"/>
          </a:p>
        </p:txBody>
      </p:sp>
      <p:sp>
        <p:nvSpPr>
          <p:cNvPr id="14" name="Text 12"/>
          <p:cNvSpPr txBox="1"/>
          <p:nvPr/>
        </p:nvSpPr>
        <p:spPr>
          <a:xfrm>
            <a:off x="9107424" y="2057400"/>
            <a:ext cx="2286000" cy="2377440"/>
          </a:xfrm>
          <a:prstGeom prst="rect">
            <a:avLst/>
          </a:prstGeom>
          <a:noFill/>
          <a:ln/>
        </p:spPr>
        <p:txBody>
          <a:bodyPr wrap="square" lIns="0" tIns="0" rIns="0" bIns="0" rtlCol="0" anchor="t"/>
          <a:lstStyle/>
          <a:p>
            <a:pPr indent="0" marL="0">
              <a:buNone/>
            </a:pPr>
            <a:r>
              <a:rPr lang="en-US" sz="1400" dirty="0">
                <a:solidFill>
                  <a:srgbClr val="CBD5E1"/>
                </a:solidFill>
              </a:rPr>
              <a:t>Concurrency bugs stay invisible until tested: lock order turned a possible deadlock into a clean queue.</a:t>
            </a:r>
            <a:endParaRPr lang="en-US" sz="1400" dirty="0"/>
          </a:p>
        </p:txBody>
      </p:sp>
      <p:sp>
        <p:nvSpPr>
          <p:cNvPr id="15" name="Text 13"/>
          <p:cNvSpPr txBox="1"/>
          <p:nvPr/>
        </p:nvSpPr>
        <p:spPr>
          <a:xfrm>
            <a:off x="640080" y="4892040"/>
            <a:ext cx="7315200" cy="731520"/>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Thank you. Questions?</a:t>
            </a:r>
            <a:endParaRPr lang="en-US" sz="3600" dirty="0"/>
          </a:p>
        </p:txBody>
      </p:sp>
      <p:sp>
        <p:nvSpPr>
          <p:cNvPr id="16" name="Text 14"/>
          <p:cNvSpPr txBox="1"/>
          <p:nvPr/>
        </p:nvSpPr>
        <p:spPr>
          <a:xfrm>
            <a:off x="640080" y="5669280"/>
            <a:ext cx="10058400" cy="365760"/>
          </a:xfrm>
          <a:prstGeom prst="rect">
            <a:avLst/>
          </a:prstGeom>
          <a:noFill/>
          <a:ln/>
        </p:spPr>
        <p:txBody>
          <a:bodyPr wrap="square" lIns="0" tIns="0" rIns="0" bIns="0" rtlCol="0" anchor="ctr"/>
          <a:lstStyle/>
          <a:p>
            <a:pPr indent="0" marL="0">
              <a:buNone/>
            </a:pPr>
            <a:r>
              <a:rPr lang="en-US" sz="1400" dirty="0">
                <a:solidFill>
                  <a:srgbClr val="94A3B8"/>
                </a:solidFill>
              </a:rPr>
              <a:t>github.com/EktaSharma-github/placeiq   ·   schema, data, queries, tests and the web UI</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PGDBA Batch 12, IIM Calcutta</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PlaceIQ: Campus Placement &amp; Recruitment Database</dc:title>
  <dc:subject>PptxGenJS Presentation</dc:subject>
  <dc:creator>Ekta Sharma, [Member 2], [Member 3], [Member 4]</dc:creator>
  <cp:lastModifiedBy>Ekta Sharma, [Member 2], [Member 3], [Member 4]</cp:lastModifiedBy>
  <cp:revision>1</cp:revision>
  <dcterms:created xsi:type="dcterms:W3CDTF">2026-10-28T17:58:24Z</dcterms:created>
  <dcterms:modified xsi:type="dcterms:W3CDTF">2026-10-28T17:58:24Z</dcterms:modified>
</cp:coreProperties>
</file>