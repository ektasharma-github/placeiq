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1 · Problem &amp; EER" id="{179c017e-989a-5a9c-04b5-1fa9b290b639}">
          <p14:sldIdLst>
            <p14:sldId id="256"/>
            <p14:sldId id="257"/>
            <p14:sldId id="258"/>
            <p14:sldId id="259"/>
            <p14:sldId id="260"/>
          </p14:sldIdLst>
        </p14:section>
        <p14:section name="M2 · Schema, normalization &amp; DDL" id="{288c2316-e9f2-6cac-13bc-51ab232f4a65}">
          <p14:sldIdLst>
            <p14:sldId id="261"/>
            <p14:sldId id="262"/>
            <p14:sldId id="263"/>
            <p14:sldId id="264"/>
          </p14:sldIdLst>
        </p14:section>
        <p14:section name="M3 · SQL queries &amp; rules" id="{77e3e346-f023-9a8c-8d18-b0a6e572fe1b}">
          <p14:sldIdLst>
            <p14:sldId id="265"/>
            <p14:sldId id="266"/>
            <p14:sldId id="267"/>
            <p14:sldId id="268"/>
            <p14:sldId id="269"/>
          </p14:sldIdLst>
        </p14:section>
        <p14:section name="M4 · Analytics &amp; performance" id="{35b3a5b1-97b5-351d-14c9-52cbd1b40292}">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mn-lt"/>
              </a:defRPr>
            </a:pPr>
            <a:r>
              <a:rPr sz="1300" b="0" i="0" u="none" strike="noStrike">
                <a:solidFill>
                  <a:srgbClr val="1F2937"/>
                </a:solidFill>
                <a:latin typeface="+mn-lt"/>
              </a:rPr>
              <a:t>Q4: cumulative % of batch placed (SUM() OVER)</a:t>
            </a:r>
          </a:p>
        </c:rich>
      </c:tx>
      <c:layout/>
      <c:overlay val="0"/>
    </c:title>
    <c:autoTitleDeleted val="0"/>
    <c:plotArea>
      <c:layout/>
      <c:lineChart>
        <c:varyColors val="0"/>
        <c:ser>
          <c:idx val="0"/>
          <c:order val="0"/>
          <c:tx>
            <c:strRef>
              <c:f>Sheet1!$B$1</c:f>
              <c:strCache>
                <c:ptCount val="1"/>
                <c:pt idx="0">
                  <c:v>PGDBA</c:v>
                </c:pt>
              </c:strCache>
            </c:strRef>
          </c:tx>
          <c:spPr>
            <a:solidFill>
              <a:srgbClr val="4F46E5"/>
            </a:solidFill>
            <a:ln w="31750" cap="flat">
              <a:solidFill>
                <a:srgbClr val="4F46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F46E5"/>
              </a:solidFill>
              <a:ln w="9525" cap="flat">
                <a:solidFill>
                  <a:srgbClr val="4F46E5"/>
                </a:solidFill>
                <a:prstDash val="solid"/>
                <a:round/>
              </a:ln>
              <a:effectLst/>
            </c:spPr>
          </c:marker>
          <c:cat>
            <c:multiLvlStrRef>
              <c:f>Sheet1!$A$2:$A$12</c:f>
              <c:multiLvlStrCache>
                <c:ptCount val="11"/>
                <c:lvl>
                  <c:pt idx="0">
                    <c:v>18 Oct</c:v>
                  </c:pt>
                  <c:pt idx="1">
                    <c:v>19 Oct</c:v>
                  </c:pt>
                  <c:pt idx="2">
                    <c:v>20 Oct</c:v>
                  </c:pt>
                  <c:pt idx="3">
                    <c:v>21 Oct</c:v>
                  </c:pt>
                  <c:pt idx="4">
                    <c:v>22 Oct</c:v>
                  </c:pt>
                  <c:pt idx="5">
                    <c:v>23 Oct</c:v>
                  </c:pt>
                  <c:pt idx="6">
                    <c:v>24 Oct</c:v>
                  </c:pt>
                  <c:pt idx="7">
                    <c:v>25 Oct</c:v>
                  </c:pt>
                  <c:pt idx="8">
                    <c:v>26 Oct</c:v>
                  </c:pt>
                  <c:pt idx="9">
                    <c:v>27 Oct</c:v>
                  </c:pt>
                  <c:pt idx="10">
                    <c:v>28 Oct</c:v>
                  </c:pt>
                </c:lvl>
              </c:multiLvlStrCache>
            </c:multiLvlStrRef>
          </c:cat>
          <c:val>
            <c:numRef>
              <c:f>Sheet1!$B$2:$B$12</c:f>
              <c:numCache>
                <c:formatCode>General</c:formatCode>
                <c:ptCount val="11"/>
                <c:pt idx="0">
                  <c:v>0</c:v>
                </c:pt>
                <c:pt idx="1">
                  <c:v>1.7</c:v>
                </c:pt>
                <c:pt idx="2">
                  <c:v>3.4</c:v>
                </c:pt>
                <c:pt idx="3">
                  <c:v>6.8</c:v>
                </c:pt>
                <c:pt idx="4">
                  <c:v>11.9</c:v>
                </c:pt>
                <c:pt idx="5">
                  <c:v>11.9</c:v>
                </c:pt>
                <c:pt idx="6">
                  <c:v>15.3</c:v>
                </c:pt>
                <c:pt idx="7">
                  <c:v>16.9</c:v>
                </c:pt>
                <c:pt idx="8">
                  <c:v>20.3</c:v>
                </c:pt>
                <c:pt idx="9">
                  <c:v>20.3</c:v>
                </c:pt>
                <c:pt idx="10">
                  <c:v>20.3</c:v>
                </c:pt>
              </c:numCache>
            </c:numRef>
          </c:val>
          <c:smooth val="0"/>
        </c:ser>
        <c:ser>
          <c:idx val="1"/>
          <c:order val="1"/>
          <c:tx>
            <c:strRef>
              <c:f>Sheet1!$C$1</c:f>
              <c:strCache>
                <c:ptCount val="1"/>
                <c:pt idx="0">
                  <c:v>PGP</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Sheet1!$A$2:$A$12</c:f>
              <c:multiLvlStrCache>
                <c:ptCount val="11"/>
                <c:lvl>
                  <c:pt idx="0">
                    <c:v>18 Oct</c:v>
                  </c:pt>
                  <c:pt idx="1">
                    <c:v>19 Oct</c:v>
                  </c:pt>
                  <c:pt idx="2">
                    <c:v>20 Oct</c:v>
                  </c:pt>
                  <c:pt idx="3">
                    <c:v>21 Oct</c:v>
                  </c:pt>
                  <c:pt idx="4">
                    <c:v>22 Oct</c:v>
                  </c:pt>
                  <c:pt idx="5">
                    <c:v>23 Oct</c:v>
                  </c:pt>
                  <c:pt idx="6">
                    <c:v>24 Oct</c:v>
                  </c:pt>
                  <c:pt idx="7">
                    <c:v>25 Oct</c:v>
                  </c:pt>
                  <c:pt idx="8">
                    <c:v>26 Oct</c:v>
                  </c:pt>
                  <c:pt idx="9">
                    <c:v>27 Oct</c:v>
                  </c:pt>
                  <c:pt idx="10">
                    <c:v>28 Oct</c:v>
                  </c:pt>
                </c:lvl>
              </c:multiLvlStrCache>
            </c:multiLvlStrRef>
          </c:cat>
          <c:val>
            <c:numRef>
              <c:f>Sheet1!$C$2:$C$12</c:f>
              <c:numCache>
                <c:formatCode>General</c:formatCode>
                <c:ptCount val="11"/>
                <c:pt idx="0">
                  <c:v>0</c:v>
                </c:pt>
                <c:pt idx="1">
                  <c:v>3.4</c:v>
                </c:pt>
                <c:pt idx="2">
                  <c:v>5.6</c:v>
                </c:pt>
                <c:pt idx="3">
                  <c:v>7.9</c:v>
                </c:pt>
                <c:pt idx="4">
                  <c:v>10.1</c:v>
                </c:pt>
                <c:pt idx="5">
                  <c:v>11.2</c:v>
                </c:pt>
                <c:pt idx="6">
                  <c:v>11.2</c:v>
                </c:pt>
                <c:pt idx="7">
                  <c:v>11.2</c:v>
                </c:pt>
                <c:pt idx="8">
                  <c:v>11.2</c:v>
                </c:pt>
                <c:pt idx="9">
                  <c:v>13.5</c:v>
                </c:pt>
                <c:pt idx="10">
                  <c:v>18</c:v>
                </c:pt>
              </c:numCache>
            </c:numRef>
          </c:val>
          <c:smooth val="0"/>
        </c:ser>
        <c:ser>
          <c:idx val="2"/>
          <c:order val="2"/>
          <c:tx>
            <c:strRef>
              <c:f>Sheet1!$D$1</c:f>
              <c:strCache>
                <c:ptCount val="1"/>
                <c:pt idx="0">
                  <c:v>PGPEX</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Sheet1!$A$2:$A$12</c:f>
              <c:multiLvlStrCache>
                <c:ptCount val="11"/>
                <c:lvl>
                  <c:pt idx="0">
                    <c:v>18 Oct</c:v>
                  </c:pt>
                  <c:pt idx="1">
                    <c:v>19 Oct</c:v>
                  </c:pt>
                  <c:pt idx="2">
                    <c:v>20 Oct</c:v>
                  </c:pt>
                  <c:pt idx="3">
                    <c:v>21 Oct</c:v>
                  </c:pt>
                  <c:pt idx="4">
                    <c:v>22 Oct</c:v>
                  </c:pt>
                  <c:pt idx="5">
                    <c:v>23 Oct</c:v>
                  </c:pt>
                  <c:pt idx="6">
                    <c:v>24 Oct</c:v>
                  </c:pt>
                  <c:pt idx="7">
                    <c:v>25 Oct</c:v>
                  </c:pt>
                  <c:pt idx="8">
                    <c:v>26 Oct</c:v>
                  </c:pt>
                  <c:pt idx="9">
                    <c:v>27 Oct</c:v>
                  </c:pt>
                  <c:pt idx="10">
                    <c:v>28 Oct</c:v>
                  </c:pt>
                </c:lvl>
              </c:multiLvlStrCache>
            </c:multiLvlStrRef>
          </c:cat>
          <c:val>
            <c:numRef>
              <c:f>Sheet1!$D$2:$D$12</c:f>
              <c:numCache>
                <c:formatCode>General</c:formatCode>
                <c:ptCount val="11"/>
                <c:pt idx="0">
                  <c:v>0</c:v>
                </c:pt>
                <c:pt idx="1">
                  <c:v>0</c:v>
                </c:pt>
                <c:pt idx="2">
                  <c:v>3.4</c:v>
                </c:pt>
                <c:pt idx="3">
                  <c:v>3.4</c:v>
                </c:pt>
                <c:pt idx="4">
                  <c:v>6.9</c:v>
                </c:pt>
                <c:pt idx="5">
                  <c:v>6.9</c:v>
                </c:pt>
                <c:pt idx="6">
                  <c:v>6.9</c:v>
                </c:pt>
                <c:pt idx="7">
                  <c:v>6.9</c:v>
                </c:pt>
                <c:pt idx="8">
                  <c:v>6.9</c:v>
                </c:pt>
                <c:pt idx="9">
                  <c:v>6.9</c:v>
                </c:pt>
                <c:pt idx="10">
                  <c:v>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mn-lt"/>
              </a:defRPr>
            </a:pPr>
            <a:r>
              <a:rPr sz="1300" b="0" i="0" u="none" strike="noStrike">
                <a:solidFill>
                  <a:srgbClr val="1F2937"/>
                </a:solidFill>
                <a:latin typeface="+mn-lt"/>
              </a:rPr>
              <a:t>A2: % placed in final cycle, by CGPA band</a:t>
            </a:r>
          </a:p>
        </c:rich>
      </c:tx>
      <c:layout/>
      <c:overlay val="0"/>
    </c:title>
    <c:autoTitleDeleted val="0"/>
    <c:plotArea>
      <c:layout/>
      <c:barChart>
        <c:barDir val="col"/>
        <c:grouping val="clustered"/>
        <c:varyColors val="0"/>
        <c:ser>
          <c:idx val="0"/>
          <c:order val="0"/>
          <c:tx>
            <c:strRef>
              <c:f>Sheet1!$B$1</c:f>
              <c:strCache>
                <c:ptCount val="1"/>
                <c:pt idx="0">
                  <c:v>% placed</c:v>
                </c:pt>
              </c:strCache>
            </c:strRef>
          </c:tx>
          <c:spPr>
            <a:solidFill>
              <a:srgbClr val="4F46E5"/>
            </a:solidFill>
            <a:effectLst/>
          </c:spPr>
          <c:invertIfNegative val="0"/>
          <c:dLbls>
            <c:numFmt formatCode="0&quot;%&quot;"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6.0 - 7.0</c:v>
                  </c:pt>
                  <c:pt idx="1">
                    <c:v>7.0 - 8.0</c:v>
                  </c:pt>
                  <c:pt idx="2">
                    <c:v>8.0 - 9.0</c:v>
                  </c:pt>
                  <c:pt idx="3">
                    <c:v>9.0 - 10.0</c:v>
                  </c:pt>
                </c:lvl>
              </c:multiLvlStrCache>
            </c:multiLvlStrRef>
          </c:cat>
          <c:val>
            <c:numRef>
              <c:f>Sheet1!$B$2:$B$5</c:f>
              <c:numCache>
                <c:formatCode>General</c:formatCode>
                <c:ptCount val="4"/>
                <c:pt idx="0">
                  <c:v>0</c:v>
                </c:pt>
                <c:pt idx="1">
                  <c:v>6.3</c:v>
                </c:pt>
                <c:pt idx="2">
                  <c:v>27.8</c:v>
                </c:pt>
                <c:pt idx="3">
                  <c:v>55.6</c:v>
                </c:pt>
              </c:numCache>
            </c:numRef>
          </c:val>
        </c:ser>
        <c:dLbls>
          <c:numFmt formatCode="0&quot;%&quot;"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70"/>
        </c:scaling>
        <c:delete val="0"/>
        <c:axPos val="l"/>
        <c:majorGridlines>
          <c:spPr>
            <a:ln w="9525"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F2937"/>
                </a:solidFill>
                <a:latin typeface="+mn-lt"/>
              </a:defRPr>
            </a:pPr>
            <a:r>
              <a:rPr sz="1250" b="0" i="0" u="none" strike="noStrike">
                <a:solidFill>
                  <a:srgbClr val="1F2937"/>
                </a:solidFill>
                <a:latin typeface="+mn-lt"/>
              </a:rPr>
              <a:t>Same query, 600,000 rows, ms (log)</a:t>
            </a:r>
          </a:p>
        </c:rich>
      </c:tx>
      <c:layout/>
      <c:overlay val="0"/>
    </c:title>
    <c:autoTitleDeleted val="0"/>
    <c:plotArea>
      <c:layout/>
      <c:barChart>
        <c:barDir val="col"/>
        <c:grouping val="clustered"/>
        <c:varyColors val="0"/>
        <c:ser>
          <c:idx val="0"/>
          <c:order val="0"/>
          <c:tx>
            <c:strRef>
              <c:f>Sheet1!$B$1</c:f>
              <c:strCache>
                <c:ptCount val="1"/>
                <c:pt idx="0">
                  <c:v>Execution time (ms)</c:v>
                </c:pt>
              </c:strCache>
            </c:strRef>
          </c:tx>
          <c:spPr>
            <a:solidFill>
              <a:srgbClr val="DC2626"/>
            </a:solidFill>
            <a:effectLst/>
          </c:spPr>
          <c:invertIfNegative val="0"/>
          <c:dLbls>
            <c:numFmt formatCode="0.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4F46E5"/>
              </a:solidFill>
              <a:effectLst/>
            </c:spPr>
          </c:dPt>
          <c:dPt>
            <c:idx val="2"/>
            <c:invertIfNegative val="0"/>
            <c:bubble3D val="0"/>
            <c:spPr>
              <a:solidFill>
                <a:srgbClr val="0F766E"/>
              </a:solidFill>
              <a:effectLst/>
            </c:spPr>
          </c:dPt>
          <c:cat>
            <c:multiLvlStrRef>
              <c:f>Sheet1!$A$2:$A$4</c:f>
              <c:multiLvlStrCache>
                <c:ptCount val="3"/>
                <c:lvl>
                  <c:pt idx="0">
                    <c:v>No index</c:v>
                  </c:pt>
                  <c:pt idx="1">
                    <c:v>Composite</c:v>
                  </c:pt>
                  <c:pt idx="2">
                    <c:v>Partial</c:v>
                  </c:pt>
                </c:lvl>
              </c:multiLvlStrCache>
            </c:multiLvlStrRef>
          </c:cat>
          <c:val>
            <c:numRef>
              <c:f>Sheet1!$B$2:$B$4</c:f>
              <c:numCache>
                <c:formatCode>General</c:formatCode>
                <c:ptCount val="3"/>
                <c:pt idx="0">
                  <c:v>60.839</c:v>
                </c:pt>
                <c:pt idx="1">
                  <c:v>0.025</c:v>
                </c:pt>
                <c:pt idx="2">
                  <c:v>0.018</c:v>
                </c:pt>
              </c:numCache>
            </c:numRef>
          </c:val>
        </c:ser>
        <c:dLbls>
          <c:numFmt formatCode="0.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2"/>
        <c:crossesAt val="0.01"/>
        <c:auto val="1"/>
        <c:lblAlgn val="ctr"/>
        <c:noMultiLvlLbl val="1"/>
      </c:catAx>
      <c:valAx>
        <c:axId val="2094734552"/>
        <c:scaling>
          <c:logBase val="10"/>
          <c:orientation val="minMax"/>
          <c:max val="1000"/>
          <c:min val="0.01"/>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 Ekta Sharma · 0:00–0:25]
Good morning. We are presenting PlaceIQ, a database for campus placements.
The one-line idea: today the placement committee runs recruitment from spreadsheets, and spreadsheets cannot stop anyone from breaking the rules or answer analytical questions. We moved the rules into the database itself, and then used the same database to analyse which students the process serves badly.
Each of the four of us will present one part: design, normalization, SQL and rules, and finally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 Ekta Sharma · 0:25–0:45]
Here is how the 15 minutes are split. I will cover the problem and the conceptual model. [Member 2] turns it into a normalized schema and DDL. [Member 3] shows the data, our queries and the triggers, live. [Member 4] shows what the data tells us: statistics in SQL and k-means clustering, then indexing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 Ekta Sharma · 0:45–1:40]
Why this problem? All four of us are going through placements, so we know the data and the pain first-hand, and placement data is a rich mix: people, jobs, a multi-stage process, and outcomes we can analyse.
This is what the committee's sheet looks like: one row per student, per company, per interview round.
Look at the red header columns: Northbridge, Mumbai, the role and the pay repeat on every row. That causes the three classic anomalies.
Update: if the company changes its HQ we must edit every row. Insertion: we cannot even record a new job until someone applies, because roll number is part of the key. Deletion: delete the only applicant and the job vanishes with them.
Beyond anomalies, a file system cannot enforce rules. So we listed 15 business rules, on the right, and every one of them is enforced inside PostgreSQL: by constraints, triggers or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 Ekta Sharma · 1:40–2:25]
Our EER model is split in two views for readability. This one covers people.
PERSON is a superclass with an OVERLAPPING, PARTIAL specialization (the 'o' circle) into STUDENT, COMMITTEE_MEMBER, ALUMNUS and RECRUITER: overlapping because a student can also sit on the placement committee; partial because a guest speaker is just a person.
Note the attribute types: person_id is the key, name is composite, skills is multi-valued (double oval), and placement_status is derived (dashed oval) — we never store it.
On the right is the rarest EER construct: a CATEGORY or union type. SPONSOR is a subset of COMPANY UNION ALUMNUS: two superclasses of different types sharing one role. Double lines mark total participation, for example every student must be enrolled in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 Ekta Sharma · 2:25–3:15]
The second view is the recruitment pipeline. STUDENT APPLIES_TO JOB_ROLE is many-to-many with attributes, status and applied_at.
The key modelling decision is AGGREGATION, the purple box. You do not interview a student in general; you interview an application, a student for a specific job. So the whole APPLIES_TO relationship is treated as an entity that participates in EVALUATED_IN with INTERVIEW_ROUND, and in RESULTS_IN with OFFER.
INTERVIEW_ROUND is a WEAK entity, 'round 2' means nothing without its job, so it is identified through the double-diamond HAS_ROUND, with round_no as its partial key.
JOB_ROLE has a DISJOINT, TOTAL specialization into internship and full-time: a stipend and a CTC are different attributes, and every job is exactly one of the two.
I now hand over to [Member 2], who will turn this model into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 [Member 2] · 3:15–4:05]
Thank you. We mapped the EER model with the standard Elmasri–Navathe steps, shown on the left. Strong entities became tables; the weak entity's primary key is its owner's key plus its partial key; many-to-many relationships became bridge tables; the multi-valued skills attribute became its own table; each subclass got its own table sharing the superclass key; and the union type got a surrogate sponsor_id.
The result is 22 tables.
On the right, keys. A super key is any identifying set. Candidate keys are the minimal ones — placement_cycle actually has three. We pick one as primary and keep natural keys as UNIQUE alternate keys, so introducing surrogate ids loses no rule. And we have 30 foreign keys, including composite ones that enforce cross-table rules, which I will show in the DDL.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 [Member 2] · 4:05–5:20]
We started from the spreadsheet you saw, the UNF relation in red, and wrote down its functional dependencies. For example: roll_no determines name, email, program and CGPA; prog_code determines prog_name; company determines sector and city; a job, identified by company, cycle and title, determines its pay.
1NF: skills was a list, not atomic, so it moves to its own relation.
2NF: the key is roll_no, job and round. Many attributes depend on only part of it — student details on roll_no, company details on company — so we split those out.
3NF: two transitive dependencies remain. roll_no determines prog_code which determines prog_name, so PROGRAM separates. And min_cgpa really depends on the job and the program, not on the application, so ELIGIBILITY separates.
Every split is on a functional dependency whose left side becomes a key, so by Heath's theorem it is lossless, and every FD still lives inside one table, so it is dependency-preserving.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 [Member 2] · 5:20–6:10]
To prove BCNF we checked, for every relation, that every determinant is a super key. The interesting row is student: email determines roll_no and roll_no determines email. That looks suspicious, but both are candidate keys, so BCNF holds.
We also made deliberate decisions not to store redundant data, listed bottom-left. For example, the offer does not copy the CTC: offer determines job, job determines CTC, so copying it would create a transitive dependency.
On the right is the classic trap we discussed as a team. If each recruiter interviewed for only one job, a Panel relation would be in 3NF but not BCNF, and decomposing it would lose a dependency. We avoided it at the requirements level: the business does not need that rule.
Now, how the schema is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 · [Member 2] · 6:10–7:00]
Our principle in the DDL was: if a rule can be declared, declare it. On the left are two examples.
First, the disjoint specialization. Each subtype table carries a role_type column fixed by a CHECK to its own type, and a composite foreign key to (job_id, role_type) in job_role. So a full-time job simply cannot get an internship row — the foreign key has nothing to match. No trigger, no application code.
Second, an EXCLUDE constraint with a GiST index: no two interview rows for the same student may have overlapping time ranges. A UNIQUE constraint cannot express 'overlapping', this can.
On the right are the totals straight from the system catalog: 45 CHECK constraints, 30 foreign keys, 17 unique alternate keys, and the ON DELETE action we chose for each relationship.
Over to [Member 3] for the data and the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 [Member 3] · 7:00–7:30]
Thank you. What kind of data is this? Real placement records are confidential, so we simulated a season that behaves like one: CGPA drives shortlisting, programs drive skills, and every step follows the committee's rules. We say clearly that it is simulated.
To test the design we needed realistic data: 180 students, 16 companies, 1,184 applications, 1,057 interview slots and 96 offers.
Two points matter. First, it is seeded, so every rebuild produces exactly the same data and our query outputs are reproducible — our test suite even checks this with a fingerprint.
Second, we did not bypass our own rules: the triggers are installed before the data, and a simulation drives the whole recruitment process through them in one transaction. So the dataset itself is evidence that the rules are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 [Member 3] · 7:30–8:10]
Each query answers a real question the committee asks. Q1 finds the most selective recruiters using HAVING compared against a scalar subquery — Meridian Insurance makes offers to only 8.6 percent of applicants. Q2 is relational division. Q3 and Q4 use window functions. Q5 uses a correlated subquery to find strong students who keep failing interviews, so the committee can coach them. Let me zoom into two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 [Member 3] · 8:10–9:00]
Q2 is relational division, which SQL has no operator for. We express 'holds every required skill' as a double negation: there is no required skill that the student does not have. The algebra is shown below the code. To be sure it is right, our tests compare it with the other classic formulation, division by counting, for all 25 jobs, and they agree.
On the right is Q4. A window function — SUM OVER partitioned by program and ordered by day — gives a running total without collapsing the rows, and generate_series builds a calendar so that days with zero placements still appear. This is the committee's daily progress chart.
Queries read the data; now, the rules that guard every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 [Member 3] · 9:00–9:35]
Some rules span several tables, so a CHECK cannot express them. The most important is the one-offer policy.
A student accepts through the stored procedure sp_accept_offer. It first locks the student's row, then re-reads the offer to make sure it is still pending. The UPDATE fires two triggers. The BEFORE trigger is the guard: deadline not passed, no other accepted offer in this cycle. The AFTER trigger is the cascade, in green: it declines the student's other pending offers, withdraws their open applications, frees their interview slots and writes an audit log.
Crucially, all of this happens in one transaction: either every step commits, or none does. And because the procedure locks the student's row first, two simultaneous acceptances queue up instead of both succeeding; our tests run exactly that with two real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 [Member 3] · 9:35–10:30 · LIVE DEMO, about 55 seconds]
(Switch to the browser, http://127.0.0.1:8000. Press 'Reset demo data' beforehand.)
1. Jobs → Monsoon Foods (job 21) → 'Make offer' for PGP62-084. Dev now holds two pending offers.
2. Students → PGP62-084 → Accept on the DataSutra row → confirm.
3. Point at the toast: one offer auto-declined, one application withdrawn. Point at the table: Declined, Withdrawn. The final-placement card now says Placed — that status comes from the view.
4. In 'Apply for a job', choose job 25 → Apply: refused, 'already accepted an offer in this placement cycle'.
If anything fails, play the backup video, which shows exactly these steps.
(Back to the slides.) [Member 4] will now show what the data tells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 [Member 4] · 10:30–11:20]
Thank you. The last part answers: what can the committee LEARN from this data? Analytics means decisions based on data, and the first pass is plain statistics, done inside the database.
The chart is query A2: students grouped into CGPA bands with width_bucket, joined to the placement view. Nobody below a CGPA of 7 is placed yet; 56 percent of those above 9 are. So CGPA is a strong feature. But look at the 8 to 9 band: most of them are still unplaced, so CGPA cannot be the whole story.
On the right: CGPA is symmetric, mean 7.88 and median 7.87, and an ANOVA shows the programs do not differ in CGPA. The funnel shows students drop out after the interview, not at CV screening. And SQL is the scarcest skill relative to demand.
The point for this course: the DBMS answers these with GROUP BY. We never loaded the raw tables into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 [Member 4] · 11:20–12:10]
Before any algorithm, feature engineering: translate the problem into data, using domain knowledge. We chose five things a committee can see early in the season: CGPA, technical skills, business skills, how many roles the student applies to, and what share of those reach an interview.
All five are computed by one SQL view over six tables. Notice what is NOT a feature: offers. If we clustered on offers, "students with offers do well" would be true by construction. So we cluster on profile and judge on outcome.
k-means measures distance, so we standardize first. To choose k we ran k from 2 to 8: the elbow and the silhouette both point at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 [Member 4] · 12:10–13:10]
These are the four segments. Each panel shows how far the segment's centre sits from the average student, in standard deviations.
Generalists and Tech Specialists are doing well, 41 and 36 percent with an accepted offer. At-Risk is what you would expect: low CGPA, few applications, rarely shortlisted.
The interesting one is Selective Appliers, third panel. Their CGPA is average, so a CGPA cut-off would never flag them. They get to interview 88 percent of the time, yet apply to only about 3 roles, and 0 percent of them have an accepted offer. Their CVs work; they just apply too narrowly.
Remember, offers were never an input. The chi-square test shows segment and outcome are strongly associated, p about 0.000011. So the clusters capture something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 [Member 4] · 13:10–13:55]
The labels do not stay in a notebook. We write them back into two BCNF tables with foreign keys, in one transaction, and from then on SQL can query them like any other data.
Query S2 turns the analysis into a list: every student without an accepted offer in a segment that places below the campus average, with one suggested action. 52 students. Most of them simply need to apply to more roles, which costs the committee nothing.
Query S1 shows why segments beat programs: PGP students are spread across 4 segments, so one workshop for "all PGP" would miss most of the at-risk ones.
Finally, the threshold trade-off from class: with a logistic model of P(offer), flagging below 0.6 catches 89 percent of the students who end up with no offer. A missed student costs more than a spare workshop seat, so we prefer high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 [Member 4] · 13:55–14:35]
Three quick results. Indexing: on a 600,000-row archive, a composite B-tree index makes the same query about 2,434 times faster than a sequential scan, and a partial index covering only open applications is 26 times smaller. We measured this with EXPLAIN ANALYZE rather than assuming it.
Security: pasting user input into SQL leaks all 180 students for the classic OR '1'='1' payload; a bound parameter returns zero. Even the deliberately unsafe path runs as a read-only role.
And 91 automated tests run against the real database; 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 14:35–15:00, then Q&amp;A]
Each of us closes with one sentence (read your own card).
Then: "Thank you. We are happy to take questions." Each member answers questions on their own section: M1 modelling, M2 keys, normalization and DDL, M3 queries, triggers and transactions, M4 statistics, k-means, indexing, security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rtlCol="0"/>
          <a:lstStyle>
            <a:lvl1pPr algn="l" indent="0" marL="0">
              <a:buNone/>
              <a:defRPr lang="en-US" sz="3000" b="1" dirty="0">
                <a:solidFill>
                  <a:srgbClr val="111827"/>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PlaceIQ  ·  Fundamentals of Database Systems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82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914400"/>
            <a:ext cx="5669280" cy="320040"/>
          </a:xfrm>
          <a:prstGeom prst="rect">
            <a:avLst/>
          </a:prstGeom>
          <a:noFill/>
          <a:ln/>
        </p:spPr>
        <p:txBody>
          <a:bodyPr wrap="square" lIns="0" tIns="0" rIns="0" bIns="0" rtlCol="0" anchor="ctr"/>
          <a:lstStyle/>
          <a:p>
            <a:pPr indent="0" marL="0">
              <a:buNone/>
            </a:pPr>
            <a:r>
              <a:rPr lang="en-US" sz="1200" b="1" spc="200" kern="0" dirty="0">
                <a:solidFill>
                  <a:srgbClr val="FDBA74"/>
                </a:solidFill>
              </a:rPr>
              <a:t>FDS COURSE PROJECT  ·  PGDBA BATCH 12  ·  IIM CALCUTTA</a:t>
            </a:r>
            <a:endParaRPr lang="en-US" sz="1200" dirty="0"/>
          </a:p>
        </p:txBody>
      </p:sp>
      <p:sp>
        <p:nvSpPr>
          <p:cNvPr id="3" name="Text 1"/>
          <p:cNvSpPr txBox="1"/>
          <p:nvPr/>
        </p:nvSpPr>
        <p:spPr>
          <a:xfrm>
            <a:off x="640080" y="1325880"/>
            <a:ext cx="5486400" cy="109728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PlaceIQ</a:t>
            </a:r>
            <a:endParaRPr lang="en-US" sz="6400" dirty="0"/>
          </a:p>
        </p:txBody>
      </p:sp>
      <p:sp>
        <p:nvSpPr>
          <p:cNvPr id="4" name="Text 2"/>
          <p:cNvSpPr txBox="1"/>
          <p:nvPr/>
        </p:nvSpPr>
        <p:spPr>
          <a:xfrm>
            <a:off x="640080" y="2514600"/>
            <a:ext cx="5303520" cy="914400"/>
          </a:xfrm>
          <a:prstGeom prst="rect">
            <a:avLst/>
          </a:prstGeom>
          <a:noFill/>
          <a:ln/>
        </p:spPr>
        <p:txBody>
          <a:bodyPr wrap="square" lIns="0" tIns="0" rIns="0" bIns="0" rtlCol="0" anchor="t"/>
          <a:lstStyle/>
          <a:p>
            <a:pPr indent="0" marL="0">
              <a:buNone/>
            </a:pPr>
            <a:r>
              <a:rPr lang="en-US" sz="2200" dirty="0">
                <a:solidFill>
                  <a:srgbClr val="CBD5E1"/>
                </a:solidFill>
              </a:rPr>
              <a:t>A campus placement &amp; recruitment database that enforces its own rules</a:t>
            </a:r>
            <a:endParaRPr lang="en-US" sz="2200" dirty="0"/>
          </a:p>
        </p:txBody>
      </p:sp>
      <p:sp>
        <p:nvSpPr>
          <p:cNvPr id="5" name="Text 3"/>
          <p:cNvSpPr txBox="1"/>
          <p:nvPr/>
        </p:nvSpPr>
        <p:spPr>
          <a:xfrm>
            <a:off x="640080" y="3657600"/>
            <a:ext cx="5486400" cy="365760"/>
          </a:xfrm>
          <a:prstGeom prst="rect">
            <a:avLst/>
          </a:prstGeom>
          <a:noFill/>
          <a:ln/>
        </p:spPr>
        <p:txBody>
          <a:bodyPr wrap="square" lIns="0" tIns="0" rIns="0" bIns="0" rtlCol="0" anchor="ctr"/>
          <a:lstStyle/>
          <a:p>
            <a:pPr indent="0" marL="0">
              <a:buNone/>
            </a:pPr>
            <a:r>
              <a:rPr lang="en-US" sz="1400" dirty="0">
                <a:solidFill>
                  <a:srgbClr val="94A3B8"/>
                </a:solidFill>
              </a:rPr>
              <a:t>Fundamentals of Database Systems  ·  Prof. Debapriyay Mukhopadhyay</a:t>
            </a:r>
            <a:endParaRPr lang="en-US" sz="1400" dirty="0"/>
          </a:p>
        </p:txBody>
      </p:sp>
      <p:sp>
        <p:nvSpPr>
          <p:cNvPr id="6" name="Shape 4"/>
          <p:cNvSpPr/>
          <p:nvPr/>
        </p:nvSpPr>
        <p:spPr>
          <a:xfrm>
            <a:off x="640080" y="4297680"/>
            <a:ext cx="2560320" cy="457200"/>
          </a:xfrm>
          <a:prstGeom prst="roundRect">
            <a:avLst>
              <a:gd name="adj" fmla="val 50000"/>
            </a:avLst>
          </a:prstGeom>
          <a:solidFill>
            <a:srgbClr val="1F2937"/>
          </a:solidFill>
          <a:ln w="12700">
            <a:solidFill>
              <a:srgbClr val="374151"/>
            </a:solidFill>
            <a:prstDash val="solid"/>
          </a:ln>
        </p:spPr>
      </p:sp>
      <p:sp>
        <p:nvSpPr>
          <p:cNvPr id="7" name="Text 5"/>
          <p:cNvSpPr txBox="1"/>
          <p:nvPr/>
        </p:nvSpPr>
        <p:spPr>
          <a:xfrm>
            <a:off x="640080" y="4297680"/>
            <a:ext cx="2560320" cy="457200"/>
          </a:xfrm>
          <a:prstGeom prst="rect">
            <a:avLst/>
          </a:prstGeom>
          <a:noFill/>
          <a:ln/>
        </p:spPr>
        <p:txBody>
          <a:bodyPr wrap="square" lIns="0" tIns="0" rIns="0" bIns="0" rtlCol="0" anchor="ctr"/>
          <a:lstStyle/>
          <a:p>
            <a:pPr algn="ctr" indent="0" marL="0">
              <a:buNone/>
            </a:pPr>
            <a:r>
              <a:rPr lang="en-US" sz="1400" b="1" dirty="0">
                <a:solidFill>
                  <a:srgbClr val="A5B4FC"/>
                </a:solidFill>
              </a:rPr>
              <a:t>M1  </a:t>
            </a:r>
            <a:pPr algn="ctr" indent="0" marL="0">
              <a:buNone/>
            </a:pPr>
            <a:r>
              <a:rPr lang="en-US" sz="1400" dirty="0">
                <a:solidFill>
                  <a:srgbClr val="FFFFFF"/>
                </a:solidFill>
              </a:rPr>
              <a:t>Ekta Sharma</a:t>
            </a:r>
            <a:endParaRPr lang="en-US" sz="1400" dirty="0"/>
          </a:p>
        </p:txBody>
      </p:sp>
      <p:sp>
        <p:nvSpPr>
          <p:cNvPr id="8" name="Shape 6"/>
          <p:cNvSpPr/>
          <p:nvPr/>
        </p:nvSpPr>
        <p:spPr>
          <a:xfrm>
            <a:off x="3337560" y="4297680"/>
            <a:ext cx="2560320" cy="457200"/>
          </a:xfrm>
          <a:prstGeom prst="roundRect">
            <a:avLst>
              <a:gd name="adj" fmla="val 50000"/>
            </a:avLst>
          </a:prstGeom>
          <a:solidFill>
            <a:srgbClr val="1F2937"/>
          </a:solidFill>
          <a:ln w="12700">
            <a:solidFill>
              <a:srgbClr val="374151"/>
            </a:solidFill>
            <a:prstDash val="solid"/>
          </a:ln>
        </p:spPr>
      </p:sp>
      <p:sp>
        <p:nvSpPr>
          <p:cNvPr id="9" name="Text 7"/>
          <p:cNvSpPr txBox="1"/>
          <p:nvPr/>
        </p:nvSpPr>
        <p:spPr>
          <a:xfrm>
            <a:off x="3337560" y="4297680"/>
            <a:ext cx="2560320" cy="457200"/>
          </a:xfrm>
          <a:prstGeom prst="rect">
            <a:avLst/>
          </a:prstGeom>
          <a:noFill/>
          <a:ln/>
        </p:spPr>
        <p:txBody>
          <a:bodyPr wrap="square" lIns="0" tIns="0" rIns="0" bIns="0" rtlCol="0" anchor="ctr"/>
          <a:lstStyle/>
          <a:p>
            <a:pPr algn="ctr" indent="0" marL="0">
              <a:buNone/>
            </a:pPr>
            <a:r>
              <a:rPr lang="en-US" sz="1400" b="1" dirty="0">
                <a:solidFill>
                  <a:srgbClr val="A5B4FC"/>
                </a:solidFill>
              </a:rPr>
              <a:t>M2  </a:t>
            </a:r>
            <a:pPr algn="ctr" indent="0" marL="0">
              <a:buNone/>
            </a:pPr>
            <a:r>
              <a:rPr lang="en-US" sz="1400" dirty="0">
                <a:solidFill>
                  <a:srgbClr val="FFFFFF"/>
                </a:solidFill>
              </a:rPr>
              <a:t>[Member 2]</a:t>
            </a:r>
            <a:endParaRPr lang="en-US" sz="1400" dirty="0"/>
          </a:p>
        </p:txBody>
      </p:sp>
      <p:sp>
        <p:nvSpPr>
          <p:cNvPr id="10" name="Shape 8"/>
          <p:cNvSpPr/>
          <p:nvPr/>
        </p:nvSpPr>
        <p:spPr>
          <a:xfrm>
            <a:off x="640080" y="4864608"/>
            <a:ext cx="2560320" cy="457200"/>
          </a:xfrm>
          <a:prstGeom prst="roundRect">
            <a:avLst>
              <a:gd name="adj" fmla="val 50000"/>
            </a:avLst>
          </a:prstGeom>
          <a:solidFill>
            <a:srgbClr val="1F2937"/>
          </a:solidFill>
          <a:ln w="12700">
            <a:solidFill>
              <a:srgbClr val="374151"/>
            </a:solidFill>
            <a:prstDash val="solid"/>
          </a:ln>
        </p:spPr>
      </p:sp>
      <p:sp>
        <p:nvSpPr>
          <p:cNvPr id="11" name="Text 9"/>
          <p:cNvSpPr txBox="1"/>
          <p:nvPr/>
        </p:nvSpPr>
        <p:spPr>
          <a:xfrm>
            <a:off x="640080" y="4864608"/>
            <a:ext cx="2560320" cy="457200"/>
          </a:xfrm>
          <a:prstGeom prst="rect">
            <a:avLst/>
          </a:prstGeom>
          <a:noFill/>
          <a:ln/>
        </p:spPr>
        <p:txBody>
          <a:bodyPr wrap="square" lIns="0" tIns="0" rIns="0" bIns="0" rtlCol="0" anchor="ctr"/>
          <a:lstStyle/>
          <a:p>
            <a:pPr algn="ctr" indent="0" marL="0">
              <a:buNone/>
            </a:pPr>
            <a:r>
              <a:rPr lang="en-US" sz="1400" b="1" dirty="0">
                <a:solidFill>
                  <a:srgbClr val="A5B4FC"/>
                </a:solidFill>
              </a:rPr>
              <a:t>M3  </a:t>
            </a:r>
            <a:pPr algn="ctr" indent="0" marL="0">
              <a:buNone/>
            </a:pPr>
            <a:r>
              <a:rPr lang="en-US" sz="1400" dirty="0">
                <a:solidFill>
                  <a:srgbClr val="FFFFFF"/>
                </a:solidFill>
              </a:rPr>
              <a:t>[Member 3]</a:t>
            </a:r>
            <a:endParaRPr lang="en-US" sz="1400" dirty="0"/>
          </a:p>
        </p:txBody>
      </p:sp>
      <p:sp>
        <p:nvSpPr>
          <p:cNvPr id="12" name="Shape 10"/>
          <p:cNvSpPr/>
          <p:nvPr/>
        </p:nvSpPr>
        <p:spPr>
          <a:xfrm>
            <a:off x="3337560" y="4864608"/>
            <a:ext cx="2560320" cy="457200"/>
          </a:xfrm>
          <a:prstGeom prst="roundRect">
            <a:avLst>
              <a:gd name="adj" fmla="val 50000"/>
            </a:avLst>
          </a:prstGeom>
          <a:solidFill>
            <a:srgbClr val="1F2937"/>
          </a:solidFill>
          <a:ln w="12700">
            <a:solidFill>
              <a:srgbClr val="374151"/>
            </a:solidFill>
            <a:prstDash val="solid"/>
          </a:ln>
        </p:spPr>
      </p:sp>
      <p:sp>
        <p:nvSpPr>
          <p:cNvPr id="13" name="Text 11"/>
          <p:cNvSpPr txBox="1"/>
          <p:nvPr/>
        </p:nvSpPr>
        <p:spPr>
          <a:xfrm>
            <a:off x="3337560" y="4864608"/>
            <a:ext cx="2560320" cy="457200"/>
          </a:xfrm>
          <a:prstGeom prst="rect">
            <a:avLst/>
          </a:prstGeom>
          <a:noFill/>
          <a:ln/>
        </p:spPr>
        <p:txBody>
          <a:bodyPr wrap="square" lIns="0" tIns="0" rIns="0" bIns="0" rtlCol="0" anchor="ctr"/>
          <a:lstStyle/>
          <a:p>
            <a:pPr algn="ctr" indent="0" marL="0">
              <a:buNone/>
            </a:pPr>
            <a:r>
              <a:rPr lang="en-US" sz="1400" b="1" dirty="0">
                <a:solidFill>
                  <a:srgbClr val="A5B4FC"/>
                </a:solidFill>
              </a:rPr>
              <a:t>M4  </a:t>
            </a:r>
            <a:pPr algn="ctr" indent="0" marL="0">
              <a:buNone/>
            </a:pPr>
            <a:r>
              <a:rPr lang="en-US" sz="1400" dirty="0">
                <a:solidFill>
                  <a:srgbClr val="FFFFFF"/>
                </a:solidFill>
              </a:rPr>
              <a:t>[Member 4]</a:t>
            </a:r>
            <a:endParaRPr lang="en-US" sz="1400" dirty="0"/>
          </a:p>
        </p:txBody>
      </p:sp>
      <p:sp>
        <p:nvSpPr>
          <p:cNvPr id="14" name="Text 12"/>
          <p:cNvSpPr txBox="1"/>
          <p:nvPr/>
        </p:nvSpPr>
        <p:spPr>
          <a:xfrm>
            <a:off x="640080" y="6035040"/>
            <a:ext cx="2743200" cy="320040"/>
          </a:xfrm>
          <a:prstGeom prst="rect">
            <a:avLst/>
          </a:prstGeom>
          <a:noFill/>
          <a:ln/>
        </p:spPr>
        <p:txBody>
          <a:bodyPr wrap="square" lIns="0" tIns="0" rIns="0" bIns="0" rtlCol="0" anchor="ctr"/>
          <a:lstStyle/>
          <a:p>
            <a:pPr indent="0" marL="0">
              <a:buNone/>
            </a:pPr>
            <a:r>
              <a:rPr lang="en-US" sz="1200" dirty="0">
                <a:solidFill>
                  <a:srgbClr val="94A3B8"/>
                </a:solidFill>
              </a:rPr>
              <a:t>November 2026</a:t>
            </a:r>
            <a:endParaRPr lang="en-US" sz="1200" dirty="0"/>
          </a:p>
        </p:txBody>
      </p:sp>
      <p:pic>
        <p:nvPicPr>
          <p:cNvPr id="15" name="Image 0" descr="C:\Users\bhavy\Downloads\DBMS-20261028T151751Z-1-001\DBMS\Project\docs\screenshots\dashboard.png">    </p:cNvPr>
          <p:cNvPicPr>
            <a:picLocks noChangeAspect="1"/>
          </p:cNvPicPr>
          <p:nvPr/>
        </p:nvPicPr>
        <p:blipFill>
          <a:blip r:embed="rId1"/>
          <a:stretch>
            <a:fillRect/>
          </a:stretch>
        </p:blipFill>
        <p:spPr>
          <a:xfrm>
            <a:off x="6400800" y="914400"/>
            <a:ext cx="5257800" cy="4306824"/>
          </a:xfrm>
          <a:prstGeom prst="rect">
            <a:avLst/>
          </a:prstGeom>
          <a:effectLst>
            <a:outerShdw sx="100000" sy="100000" kx="0" ky="0" algn="bl" rotWithShape="0" blurRad="152400" dist="50800" dir="5400000">
              <a:srgbClr val="000000">
                <a:alpha val="45000"/>
              </a:srgbClr>
            </a:outerShdw>
          </a:effectLst>
        </p:spPr>
      </p:pic>
      <p:sp>
        <p:nvSpPr>
          <p:cNvPr id="16" name="Text 13"/>
          <p:cNvSpPr txBox="1"/>
          <p:nvPr/>
        </p:nvSpPr>
        <p:spPr>
          <a:xfrm>
            <a:off x="6400800" y="5349240"/>
            <a:ext cx="5257800" cy="365760"/>
          </a:xfrm>
          <a:prstGeom prst="rect">
            <a:avLst/>
          </a:prstGeom>
          <a:noFill/>
          <a:ln/>
        </p:spPr>
        <p:txBody>
          <a:bodyPr wrap="square" lIns="0" tIns="0" rIns="0" bIns="0" rtlCol="0" anchor="ctr"/>
          <a:lstStyle/>
          <a:p>
            <a:pPr indent="0" marL="0">
              <a:buNone/>
            </a:pPr>
            <a:r>
              <a:rPr lang="en-US" sz="1200" i="1" dirty="0">
                <a:solidFill>
                  <a:srgbClr val="94A3B8"/>
                </a:solidFill>
              </a:rPr>
              <a:t>Live web UI over PostgreSQL 18: every number on screen is computed by SQL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Four parts, four presenters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M1  </a:t>
            </a:r>
            <a:pPr algn="ctr" indent="0" marL="0">
              <a:buNone/>
            </a:pPr>
            <a:r>
              <a:rPr lang="en-US" sz="1200" dirty="0">
                <a:solidFill>
                  <a:srgbClr val="312E81"/>
                </a:solidFill>
              </a:rPr>
              <a:t>Ekta Sharma</a:t>
            </a:r>
            <a:endParaRPr lang="en-US" sz="1200" dirty="0"/>
          </a:p>
        </p:txBody>
      </p:sp>
      <p:sp>
        <p:nvSpPr>
          <p:cNvPr id="5" name="Shape 3"/>
          <p:cNvSpPr/>
          <p:nvPr/>
        </p:nvSpPr>
        <p:spPr>
          <a:xfrm>
            <a:off x="548640" y="1417320"/>
            <a:ext cx="2633472" cy="3977640"/>
          </a:xfrm>
          <a:prstGeom prst="roundRect">
            <a:avLst>
              <a:gd name="adj" fmla="val 3472"/>
            </a:avLst>
          </a:prstGeom>
          <a:solidFill>
            <a:srgbClr val="F6F7FB"/>
          </a:solidFill>
          <a:ln w="12700">
            <a:solidFill>
              <a:srgbClr val="E5E7EB"/>
            </a:solidFill>
            <a:prstDash val="solid"/>
          </a:ln>
        </p:spPr>
      </p:sp>
      <p:sp>
        <p:nvSpPr>
          <p:cNvPr id="6" name="Shape 4"/>
          <p:cNvSpPr/>
          <p:nvPr/>
        </p:nvSpPr>
        <p:spPr>
          <a:xfrm>
            <a:off x="777240" y="1645920"/>
            <a:ext cx="566928" cy="566928"/>
          </a:xfrm>
          <a:prstGeom prst="ellipse">
            <a:avLst/>
          </a:prstGeom>
          <a:solidFill>
            <a:srgbClr val="4F46E5"/>
          </a:solidFill>
          <a:ln w="12700">
            <a:solidFill>
              <a:srgbClr val="4F46E5"/>
            </a:solidFill>
            <a:prstDash val="solid"/>
          </a:ln>
        </p:spPr>
      </p:sp>
      <p:sp>
        <p:nvSpPr>
          <p:cNvPr id="7" name="Text 5"/>
          <p:cNvSpPr txBox="1"/>
          <p:nvPr/>
        </p:nvSpPr>
        <p:spPr>
          <a:xfrm>
            <a:off x="777240" y="1645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M1</a:t>
            </a:r>
            <a:endParaRPr lang="en-US" sz="1500" dirty="0"/>
          </a:p>
        </p:txBody>
      </p:sp>
      <p:sp>
        <p:nvSpPr>
          <p:cNvPr id="8" name="Text 6"/>
          <p:cNvSpPr txBox="1"/>
          <p:nvPr/>
        </p:nvSpPr>
        <p:spPr>
          <a:xfrm>
            <a:off x="777240" y="2331720"/>
            <a:ext cx="2194560" cy="365760"/>
          </a:xfrm>
          <a:prstGeom prst="rect">
            <a:avLst/>
          </a:prstGeom>
          <a:noFill/>
          <a:ln/>
        </p:spPr>
        <p:txBody>
          <a:bodyPr wrap="square" lIns="0" tIns="0" rIns="0" bIns="0" rtlCol="0" anchor="ctr"/>
          <a:lstStyle/>
          <a:p>
            <a:pPr indent="0" marL="0">
              <a:buNone/>
            </a:pPr>
            <a:r>
              <a:rPr lang="en-US" sz="1700" b="1" dirty="0">
                <a:solidFill>
                  <a:srgbClr val="1F2937"/>
                </a:solidFill>
              </a:rPr>
              <a:t>Ekta Sharma</a:t>
            </a:r>
            <a:endParaRPr lang="en-US" sz="1700" dirty="0"/>
          </a:p>
        </p:txBody>
      </p:sp>
      <p:sp>
        <p:nvSpPr>
          <p:cNvPr id="9" name="Text 7"/>
          <p:cNvSpPr txBox="1"/>
          <p:nvPr/>
        </p:nvSpPr>
        <p:spPr>
          <a:xfrm>
            <a:off x="777240" y="2697480"/>
            <a:ext cx="2240280" cy="548640"/>
          </a:xfrm>
          <a:prstGeom prst="rect">
            <a:avLst/>
          </a:prstGeom>
          <a:noFill/>
          <a:ln/>
        </p:spPr>
        <p:txBody>
          <a:bodyPr wrap="square" lIns="0" tIns="0" rIns="0" bIns="0" rtlCol="0" anchor="t"/>
          <a:lstStyle/>
          <a:p>
            <a:pPr indent="0" marL="0">
              <a:buNone/>
            </a:pPr>
            <a:r>
              <a:rPr lang="en-US" sz="1400" b="1" dirty="0">
                <a:solidFill>
                  <a:srgbClr val="4F46E5"/>
                </a:solidFill>
              </a:rPr>
              <a:t>Problem &amp; EER</a:t>
            </a:r>
            <a:endParaRPr lang="en-US" sz="1400" dirty="0"/>
          </a:p>
        </p:txBody>
      </p:sp>
      <p:sp>
        <p:nvSpPr>
          <p:cNvPr id="10" name="Text 8"/>
          <p:cNvSpPr txBox="1"/>
          <p:nvPr/>
        </p:nvSpPr>
        <p:spPr>
          <a:xfrm>
            <a:off x="777240" y="3246120"/>
            <a:ext cx="2194560" cy="320040"/>
          </a:xfrm>
          <a:prstGeom prst="rect">
            <a:avLst/>
          </a:prstGeom>
          <a:noFill/>
          <a:ln/>
        </p:spPr>
        <p:txBody>
          <a:bodyPr wrap="square" lIns="0" tIns="0" rIns="0" bIns="0" rtlCol="0" anchor="ctr"/>
          <a:lstStyle/>
          <a:p>
            <a:pPr indent="0" marL="0">
              <a:buNone/>
            </a:pPr>
            <a:r>
              <a:rPr lang="en-US" sz="1300" dirty="0">
                <a:solidFill>
                  <a:srgbClr val="6B7280"/>
                </a:solidFill>
              </a:rPr>
              <a:t>0:00 – 3:15</a:t>
            </a:r>
            <a:endParaRPr lang="en-US" sz="1300" dirty="0"/>
          </a:p>
        </p:txBody>
      </p:sp>
      <p:sp>
        <p:nvSpPr>
          <p:cNvPr id="11" name="Text 9"/>
          <p:cNvSpPr txBox="1"/>
          <p:nvPr/>
        </p:nvSpPr>
        <p:spPr>
          <a:xfrm>
            <a:off x="731520" y="3657600"/>
            <a:ext cx="22860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74151"/>
                </a:solidFill>
              </a:rPr>
              <a:t>Problem &amp; anomalies</a:t>
            </a:r>
            <a:endParaRPr lang="en-US" sz="1350" dirty="0"/>
          </a:p>
          <a:p>
            <a:pPr marL="342900" indent="-342900">
              <a:spcAft>
                <a:spcPts val="600"/>
              </a:spcAft>
              <a:buSzPct val="100000"/>
              <a:buChar char="•"/>
            </a:pPr>
            <a:r>
              <a:rPr lang="en-US" sz="1350" dirty="0">
                <a:solidFill>
                  <a:srgbClr val="374151"/>
                </a:solidFill>
              </a:rPr>
              <a:t>Business rules</a:t>
            </a:r>
            <a:endParaRPr lang="en-US" sz="1350" dirty="0"/>
          </a:p>
          <a:p>
            <a:pPr marL="342900" indent="-342900">
              <a:spcAft>
                <a:spcPts val="600"/>
              </a:spcAft>
              <a:buSzPct val="100000"/>
              <a:buChar char="•"/>
            </a:pPr>
            <a:r>
              <a:rPr lang="en-US" sz="1350" dirty="0">
                <a:solidFill>
                  <a:srgbClr val="374151"/>
                </a:solidFill>
              </a:rPr>
              <a:t>EER model: specialization, weak entity, aggregation, union type</a:t>
            </a:r>
            <a:endParaRPr lang="en-US" sz="1350" dirty="0"/>
          </a:p>
        </p:txBody>
      </p:sp>
      <p:sp>
        <p:nvSpPr>
          <p:cNvPr id="12" name="Shape 10"/>
          <p:cNvSpPr/>
          <p:nvPr/>
        </p:nvSpPr>
        <p:spPr>
          <a:xfrm>
            <a:off x="3364992" y="1417320"/>
            <a:ext cx="2633472" cy="3977640"/>
          </a:xfrm>
          <a:prstGeom prst="roundRect">
            <a:avLst>
              <a:gd name="adj" fmla="val 3472"/>
            </a:avLst>
          </a:prstGeom>
          <a:solidFill>
            <a:srgbClr val="FFFFFF"/>
          </a:solidFill>
          <a:ln w="12700">
            <a:solidFill>
              <a:srgbClr val="E5E7EB"/>
            </a:solidFill>
            <a:prstDash val="solid"/>
          </a:ln>
        </p:spPr>
      </p:sp>
      <p:sp>
        <p:nvSpPr>
          <p:cNvPr id="13" name="Shape 11"/>
          <p:cNvSpPr/>
          <p:nvPr/>
        </p:nvSpPr>
        <p:spPr>
          <a:xfrm>
            <a:off x="3593592" y="1645920"/>
            <a:ext cx="566928" cy="566928"/>
          </a:xfrm>
          <a:prstGeom prst="ellipse">
            <a:avLst/>
          </a:prstGeom>
          <a:solidFill>
            <a:srgbClr val="4F46E5"/>
          </a:solidFill>
          <a:ln w="12700">
            <a:solidFill>
              <a:srgbClr val="4F46E5"/>
            </a:solidFill>
            <a:prstDash val="solid"/>
          </a:ln>
        </p:spPr>
      </p:sp>
      <p:sp>
        <p:nvSpPr>
          <p:cNvPr id="14" name="Text 12"/>
          <p:cNvSpPr txBox="1"/>
          <p:nvPr/>
        </p:nvSpPr>
        <p:spPr>
          <a:xfrm>
            <a:off x="3593592" y="1645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M2</a:t>
            </a:r>
            <a:endParaRPr lang="en-US" sz="1500" dirty="0"/>
          </a:p>
        </p:txBody>
      </p:sp>
      <p:sp>
        <p:nvSpPr>
          <p:cNvPr id="15" name="Text 13"/>
          <p:cNvSpPr txBox="1"/>
          <p:nvPr/>
        </p:nvSpPr>
        <p:spPr>
          <a:xfrm>
            <a:off x="3593592" y="2331720"/>
            <a:ext cx="2194560" cy="365760"/>
          </a:xfrm>
          <a:prstGeom prst="rect">
            <a:avLst/>
          </a:prstGeom>
          <a:noFill/>
          <a:ln/>
        </p:spPr>
        <p:txBody>
          <a:bodyPr wrap="square" lIns="0" tIns="0" rIns="0" bIns="0" rtlCol="0" anchor="ctr"/>
          <a:lstStyle/>
          <a:p>
            <a:pPr indent="0" marL="0">
              <a:buNone/>
            </a:pPr>
            <a:r>
              <a:rPr lang="en-US" sz="1700" b="1" dirty="0">
                <a:solidFill>
                  <a:srgbClr val="1F2937"/>
                </a:solidFill>
              </a:rPr>
              <a:t>[Member 2]</a:t>
            </a:r>
            <a:endParaRPr lang="en-US" sz="1700" dirty="0"/>
          </a:p>
        </p:txBody>
      </p:sp>
      <p:sp>
        <p:nvSpPr>
          <p:cNvPr id="16" name="Text 14"/>
          <p:cNvSpPr txBox="1"/>
          <p:nvPr/>
        </p:nvSpPr>
        <p:spPr>
          <a:xfrm>
            <a:off x="3593592" y="2697480"/>
            <a:ext cx="2240280" cy="548640"/>
          </a:xfrm>
          <a:prstGeom prst="rect">
            <a:avLst/>
          </a:prstGeom>
          <a:noFill/>
          <a:ln/>
        </p:spPr>
        <p:txBody>
          <a:bodyPr wrap="square" lIns="0" tIns="0" rIns="0" bIns="0" rtlCol="0" anchor="t"/>
          <a:lstStyle/>
          <a:p>
            <a:pPr indent="0" marL="0">
              <a:buNone/>
            </a:pPr>
            <a:r>
              <a:rPr lang="en-US" sz="1400" b="1" dirty="0">
                <a:solidFill>
                  <a:srgbClr val="4F46E5"/>
                </a:solidFill>
              </a:rPr>
              <a:t>Schema, normalization &amp; DDL</a:t>
            </a:r>
            <a:endParaRPr lang="en-US" sz="1400" dirty="0"/>
          </a:p>
        </p:txBody>
      </p:sp>
      <p:sp>
        <p:nvSpPr>
          <p:cNvPr id="17" name="Text 15"/>
          <p:cNvSpPr txBox="1"/>
          <p:nvPr/>
        </p:nvSpPr>
        <p:spPr>
          <a:xfrm>
            <a:off x="3593592" y="3246120"/>
            <a:ext cx="2194560" cy="320040"/>
          </a:xfrm>
          <a:prstGeom prst="rect">
            <a:avLst/>
          </a:prstGeom>
          <a:noFill/>
          <a:ln/>
        </p:spPr>
        <p:txBody>
          <a:bodyPr wrap="square" lIns="0" tIns="0" rIns="0" bIns="0" rtlCol="0" anchor="ctr"/>
          <a:lstStyle/>
          <a:p>
            <a:pPr indent="0" marL="0">
              <a:buNone/>
            </a:pPr>
            <a:r>
              <a:rPr lang="en-US" sz="1300" dirty="0">
                <a:solidFill>
                  <a:srgbClr val="6B7280"/>
                </a:solidFill>
              </a:rPr>
              <a:t>3:15 – 7:00</a:t>
            </a:r>
            <a:endParaRPr lang="en-US" sz="1300" dirty="0"/>
          </a:p>
        </p:txBody>
      </p:sp>
      <p:sp>
        <p:nvSpPr>
          <p:cNvPr id="18" name="Text 16"/>
          <p:cNvSpPr txBox="1"/>
          <p:nvPr/>
        </p:nvSpPr>
        <p:spPr>
          <a:xfrm>
            <a:off x="3547872" y="3657600"/>
            <a:ext cx="22860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74151"/>
                </a:solidFill>
              </a:rPr>
              <a:t>EER → relational mapping, keys</a:t>
            </a:r>
            <a:endParaRPr lang="en-US" sz="1350" dirty="0"/>
          </a:p>
          <a:p>
            <a:pPr marL="342900" indent="-342900">
              <a:spcAft>
                <a:spcPts val="600"/>
              </a:spcAft>
              <a:buSzPct val="100000"/>
              <a:buChar char="•"/>
            </a:pPr>
            <a:r>
              <a:rPr lang="en-US" sz="1350" dirty="0">
                <a:solidFill>
                  <a:srgbClr val="374151"/>
                </a:solidFill>
              </a:rPr>
              <a:t>FDs, 1NF → BCNF, lossless &amp; dependency-preserving</a:t>
            </a:r>
            <a:endParaRPr lang="en-US" sz="1350" dirty="0"/>
          </a:p>
          <a:p>
            <a:pPr marL="342900" indent="-342900">
              <a:spcAft>
                <a:spcPts val="600"/>
              </a:spcAft>
              <a:buSzPct val="100000"/>
              <a:buChar char="•"/>
            </a:pPr>
            <a:r>
              <a:rPr lang="en-US" sz="1350" dirty="0">
                <a:solidFill>
                  <a:srgbClr val="374151"/>
                </a:solidFill>
              </a:rPr>
              <a:t>DDL: constraints as rules</a:t>
            </a:r>
            <a:endParaRPr lang="en-US" sz="1350" dirty="0"/>
          </a:p>
        </p:txBody>
      </p:sp>
      <p:sp>
        <p:nvSpPr>
          <p:cNvPr id="19" name="Shape 17"/>
          <p:cNvSpPr/>
          <p:nvPr/>
        </p:nvSpPr>
        <p:spPr>
          <a:xfrm>
            <a:off x="6181344" y="1417320"/>
            <a:ext cx="2633472" cy="3977640"/>
          </a:xfrm>
          <a:prstGeom prst="roundRect">
            <a:avLst>
              <a:gd name="adj" fmla="val 3472"/>
            </a:avLst>
          </a:prstGeom>
          <a:solidFill>
            <a:srgbClr val="F6F7FB"/>
          </a:solidFill>
          <a:ln w="12700">
            <a:solidFill>
              <a:srgbClr val="E5E7EB"/>
            </a:solidFill>
            <a:prstDash val="solid"/>
          </a:ln>
        </p:spPr>
      </p:sp>
      <p:sp>
        <p:nvSpPr>
          <p:cNvPr id="20" name="Shape 18"/>
          <p:cNvSpPr/>
          <p:nvPr/>
        </p:nvSpPr>
        <p:spPr>
          <a:xfrm>
            <a:off x="6409944" y="1645920"/>
            <a:ext cx="566928" cy="566928"/>
          </a:xfrm>
          <a:prstGeom prst="ellipse">
            <a:avLst/>
          </a:prstGeom>
          <a:solidFill>
            <a:srgbClr val="4F46E5"/>
          </a:solidFill>
          <a:ln w="12700">
            <a:solidFill>
              <a:srgbClr val="4F46E5"/>
            </a:solidFill>
            <a:prstDash val="solid"/>
          </a:ln>
        </p:spPr>
      </p:sp>
      <p:sp>
        <p:nvSpPr>
          <p:cNvPr id="21" name="Text 19"/>
          <p:cNvSpPr txBox="1"/>
          <p:nvPr/>
        </p:nvSpPr>
        <p:spPr>
          <a:xfrm>
            <a:off x="6409944" y="1645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M3</a:t>
            </a:r>
            <a:endParaRPr lang="en-US" sz="1500" dirty="0"/>
          </a:p>
        </p:txBody>
      </p:sp>
      <p:sp>
        <p:nvSpPr>
          <p:cNvPr id="22" name="Text 20"/>
          <p:cNvSpPr txBox="1"/>
          <p:nvPr/>
        </p:nvSpPr>
        <p:spPr>
          <a:xfrm>
            <a:off x="6409944" y="2331720"/>
            <a:ext cx="2194560" cy="365760"/>
          </a:xfrm>
          <a:prstGeom prst="rect">
            <a:avLst/>
          </a:prstGeom>
          <a:noFill/>
          <a:ln/>
        </p:spPr>
        <p:txBody>
          <a:bodyPr wrap="square" lIns="0" tIns="0" rIns="0" bIns="0" rtlCol="0" anchor="ctr"/>
          <a:lstStyle/>
          <a:p>
            <a:pPr indent="0" marL="0">
              <a:buNone/>
            </a:pPr>
            <a:r>
              <a:rPr lang="en-US" sz="1700" b="1" dirty="0">
                <a:solidFill>
                  <a:srgbClr val="1F2937"/>
                </a:solidFill>
              </a:rPr>
              <a:t>[Member 3]</a:t>
            </a:r>
            <a:endParaRPr lang="en-US" sz="1700" dirty="0"/>
          </a:p>
        </p:txBody>
      </p:sp>
      <p:sp>
        <p:nvSpPr>
          <p:cNvPr id="23" name="Text 21"/>
          <p:cNvSpPr txBox="1"/>
          <p:nvPr/>
        </p:nvSpPr>
        <p:spPr>
          <a:xfrm>
            <a:off x="6409944" y="2697480"/>
            <a:ext cx="2240280" cy="548640"/>
          </a:xfrm>
          <a:prstGeom prst="rect">
            <a:avLst/>
          </a:prstGeom>
          <a:noFill/>
          <a:ln/>
        </p:spPr>
        <p:txBody>
          <a:bodyPr wrap="square" lIns="0" tIns="0" rIns="0" bIns="0" rtlCol="0" anchor="t"/>
          <a:lstStyle/>
          <a:p>
            <a:pPr indent="0" marL="0">
              <a:buNone/>
            </a:pPr>
            <a:r>
              <a:rPr lang="en-US" sz="1400" b="1" dirty="0">
                <a:solidFill>
                  <a:srgbClr val="4F46E5"/>
                </a:solidFill>
              </a:rPr>
              <a:t>SQL queries &amp; rules</a:t>
            </a:r>
            <a:endParaRPr lang="en-US" sz="1400" dirty="0"/>
          </a:p>
        </p:txBody>
      </p:sp>
      <p:sp>
        <p:nvSpPr>
          <p:cNvPr id="24" name="Text 22"/>
          <p:cNvSpPr txBox="1"/>
          <p:nvPr/>
        </p:nvSpPr>
        <p:spPr>
          <a:xfrm>
            <a:off x="6409944" y="3246120"/>
            <a:ext cx="2194560" cy="320040"/>
          </a:xfrm>
          <a:prstGeom prst="rect">
            <a:avLst/>
          </a:prstGeom>
          <a:noFill/>
          <a:ln/>
        </p:spPr>
        <p:txBody>
          <a:bodyPr wrap="square" lIns="0" tIns="0" rIns="0" bIns="0" rtlCol="0" anchor="ctr"/>
          <a:lstStyle/>
          <a:p>
            <a:pPr indent="0" marL="0">
              <a:buNone/>
            </a:pPr>
            <a:r>
              <a:rPr lang="en-US" sz="1300" dirty="0">
                <a:solidFill>
                  <a:srgbClr val="6B7280"/>
                </a:solidFill>
              </a:rPr>
              <a:t>7:00 – 10:30</a:t>
            </a:r>
            <a:endParaRPr lang="en-US" sz="1300" dirty="0"/>
          </a:p>
        </p:txBody>
      </p:sp>
      <p:sp>
        <p:nvSpPr>
          <p:cNvPr id="25" name="Text 23"/>
          <p:cNvSpPr txBox="1"/>
          <p:nvPr/>
        </p:nvSpPr>
        <p:spPr>
          <a:xfrm>
            <a:off x="6364224" y="3657600"/>
            <a:ext cx="22860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74151"/>
                </a:solidFill>
              </a:rPr>
              <a:t>Seeded, reproducible data</a:t>
            </a:r>
            <a:endParaRPr lang="en-US" sz="1350" dirty="0"/>
          </a:p>
          <a:p>
            <a:pPr marL="342900" indent="-342900">
              <a:spcAft>
                <a:spcPts val="600"/>
              </a:spcAft>
              <a:buSzPct val="100000"/>
              <a:buChar char="•"/>
            </a:pPr>
            <a:r>
              <a:rPr lang="en-US" sz="1350" dirty="0">
                <a:solidFill>
                  <a:srgbClr val="374151"/>
                </a:solidFill>
              </a:rPr>
              <a:t>Five queries: division, windows, HAVING</a:t>
            </a:r>
            <a:endParaRPr lang="en-US" sz="1350" dirty="0"/>
          </a:p>
          <a:p>
            <a:pPr marL="342900" indent="-342900">
              <a:spcAft>
                <a:spcPts val="600"/>
              </a:spcAft>
              <a:buSzPct val="100000"/>
              <a:buChar char="•"/>
            </a:pPr>
            <a:r>
              <a:rPr lang="en-US" sz="1350" dirty="0">
                <a:solidFill>
                  <a:srgbClr val="374151"/>
                </a:solidFill>
              </a:rPr>
              <a:t>Triggers &amp; live demo</a:t>
            </a:r>
            <a:endParaRPr lang="en-US" sz="1350" dirty="0"/>
          </a:p>
        </p:txBody>
      </p:sp>
      <p:sp>
        <p:nvSpPr>
          <p:cNvPr id="26" name="Shape 24"/>
          <p:cNvSpPr/>
          <p:nvPr/>
        </p:nvSpPr>
        <p:spPr>
          <a:xfrm>
            <a:off x="8997696" y="1417320"/>
            <a:ext cx="2633472" cy="3977640"/>
          </a:xfrm>
          <a:prstGeom prst="roundRect">
            <a:avLst>
              <a:gd name="adj" fmla="val 3472"/>
            </a:avLst>
          </a:prstGeom>
          <a:solidFill>
            <a:srgbClr val="FFFFFF"/>
          </a:solidFill>
          <a:ln w="12700">
            <a:solidFill>
              <a:srgbClr val="E5E7EB"/>
            </a:solidFill>
            <a:prstDash val="solid"/>
          </a:ln>
        </p:spPr>
      </p:sp>
      <p:sp>
        <p:nvSpPr>
          <p:cNvPr id="27" name="Shape 25"/>
          <p:cNvSpPr/>
          <p:nvPr/>
        </p:nvSpPr>
        <p:spPr>
          <a:xfrm>
            <a:off x="9226296" y="1645920"/>
            <a:ext cx="566928" cy="566928"/>
          </a:xfrm>
          <a:prstGeom prst="ellipse">
            <a:avLst/>
          </a:prstGeom>
          <a:solidFill>
            <a:srgbClr val="4F46E5"/>
          </a:solidFill>
          <a:ln w="12700">
            <a:solidFill>
              <a:srgbClr val="4F46E5"/>
            </a:solidFill>
            <a:prstDash val="solid"/>
          </a:ln>
        </p:spPr>
      </p:sp>
      <p:sp>
        <p:nvSpPr>
          <p:cNvPr id="28" name="Text 26"/>
          <p:cNvSpPr txBox="1"/>
          <p:nvPr/>
        </p:nvSpPr>
        <p:spPr>
          <a:xfrm>
            <a:off x="9226296" y="16459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M4</a:t>
            </a:r>
            <a:endParaRPr lang="en-US" sz="1500" dirty="0"/>
          </a:p>
        </p:txBody>
      </p:sp>
      <p:sp>
        <p:nvSpPr>
          <p:cNvPr id="29" name="Text 27"/>
          <p:cNvSpPr txBox="1"/>
          <p:nvPr/>
        </p:nvSpPr>
        <p:spPr>
          <a:xfrm>
            <a:off x="9226296" y="2331720"/>
            <a:ext cx="2194560" cy="365760"/>
          </a:xfrm>
          <a:prstGeom prst="rect">
            <a:avLst/>
          </a:prstGeom>
          <a:noFill/>
          <a:ln/>
        </p:spPr>
        <p:txBody>
          <a:bodyPr wrap="square" lIns="0" tIns="0" rIns="0" bIns="0" rtlCol="0" anchor="ctr"/>
          <a:lstStyle/>
          <a:p>
            <a:pPr indent="0" marL="0">
              <a:buNone/>
            </a:pPr>
            <a:r>
              <a:rPr lang="en-US" sz="1700" b="1" dirty="0">
                <a:solidFill>
                  <a:srgbClr val="1F2937"/>
                </a:solidFill>
              </a:rPr>
              <a:t>[Member 4]</a:t>
            </a:r>
            <a:endParaRPr lang="en-US" sz="1700" dirty="0"/>
          </a:p>
        </p:txBody>
      </p:sp>
      <p:sp>
        <p:nvSpPr>
          <p:cNvPr id="30" name="Text 28"/>
          <p:cNvSpPr txBox="1"/>
          <p:nvPr/>
        </p:nvSpPr>
        <p:spPr>
          <a:xfrm>
            <a:off x="9226296" y="2697480"/>
            <a:ext cx="2240280" cy="548640"/>
          </a:xfrm>
          <a:prstGeom prst="rect">
            <a:avLst/>
          </a:prstGeom>
          <a:noFill/>
          <a:ln/>
        </p:spPr>
        <p:txBody>
          <a:bodyPr wrap="square" lIns="0" tIns="0" rIns="0" bIns="0" rtlCol="0" anchor="t"/>
          <a:lstStyle/>
          <a:p>
            <a:pPr indent="0" marL="0">
              <a:buNone/>
            </a:pPr>
            <a:r>
              <a:rPr lang="en-US" sz="1400" b="1" dirty="0">
                <a:solidFill>
                  <a:srgbClr val="4F46E5"/>
                </a:solidFill>
              </a:rPr>
              <a:t>Analytics &amp; performance</a:t>
            </a:r>
            <a:endParaRPr lang="en-US" sz="1400" dirty="0"/>
          </a:p>
        </p:txBody>
      </p:sp>
      <p:sp>
        <p:nvSpPr>
          <p:cNvPr id="31" name="Text 29"/>
          <p:cNvSpPr txBox="1"/>
          <p:nvPr/>
        </p:nvSpPr>
        <p:spPr>
          <a:xfrm>
            <a:off x="9226296" y="3246120"/>
            <a:ext cx="2194560" cy="320040"/>
          </a:xfrm>
          <a:prstGeom prst="rect">
            <a:avLst/>
          </a:prstGeom>
          <a:noFill/>
          <a:ln/>
        </p:spPr>
        <p:txBody>
          <a:bodyPr wrap="square" lIns="0" tIns="0" rIns="0" bIns="0" rtlCol="0" anchor="ctr"/>
          <a:lstStyle/>
          <a:p>
            <a:pPr indent="0" marL="0">
              <a:buNone/>
            </a:pPr>
            <a:r>
              <a:rPr lang="en-US" sz="1300" dirty="0">
                <a:solidFill>
                  <a:srgbClr val="6B7280"/>
                </a:solidFill>
              </a:rPr>
              <a:t>10:30 – 15:00</a:t>
            </a:r>
            <a:endParaRPr lang="en-US" sz="1300" dirty="0"/>
          </a:p>
        </p:txBody>
      </p:sp>
      <p:sp>
        <p:nvSpPr>
          <p:cNvPr id="32" name="Text 30"/>
          <p:cNvSpPr txBox="1"/>
          <p:nvPr/>
        </p:nvSpPr>
        <p:spPr>
          <a:xfrm>
            <a:off x="9180576" y="3657600"/>
            <a:ext cx="22860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74151"/>
                </a:solidFill>
              </a:rPr>
              <a:t>Statistics in SQL</a:t>
            </a:r>
            <a:endParaRPr lang="en-US" sz="1350" dirty="0"/>
          </a:p>
          <a:p>
            <a:pPr marL="342900" indent="-342900">
              <a:spcAft>
                <a:spcPts val="600"/>
              </a:spcAft>
              <a:buSzPct val="100000"/>
              <a:buChar char="•"/>
            </a:pPr>
            <a:r>
              <a:rPr lang="en-US" sz="1350" dirty="0">
                <a:solidFill>
                  <a:srgbClr val="374151"/>
                </a:solidFill>
              </a:rPr>
              <a:t>Feature engineering, k-means</a:t>
            </a:r>
            <a:endParaRPr lang="en-US" sz="1350" dirty="0"/>
          </a:p>
          <a:p>
            <a:pPr marL="342900" indent="-342900">
              <a:spcAft>
                <a:spcPts val="600"/>
              </a:spcAft>
              <a:buSzPct val="100000"/>
              <a:buChar char="•"/>
            </a:pPr>
            <a:r>
              <a:rPr lang="en-US" sz="1350" dirty="0">
                <a:solidFill>
                  <a:srgbClr val="374151"/>
                </a:solidFill>
              </a:rPr>
              <a:t>Segments back in the DB; indexing, security</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One spreadsheet, three anomalies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M1  </a:t>
            </a:r>
            <a:pPr algn="ctr" indent="0" marL="0">
              <a:buNone/>
            </a:pPr>
            <a:r>
              <a:rPr lang="en-US" sz="1200" dirty="0">
                <a:solidFill>
                  <a:srgbClr val="312E81"/>
                </a:solidFill>
              </a:rPr>
              <a:t>Ekta Sharma</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1005840"/>
                <a:gridCol w="1051560"/>
                <a:gridCol w="868680"/>
                <a:gridCol w="1325880"/>
                <a:gridCol w="685800"/>
                <a:gridCol w="777240"/>
                <a:gridCol w="8686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roll_no</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company</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hq_city</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pay</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round</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C2626"/>
                    </a:solidFill>
                  </a:tcPr>
                </a:tc>
              </a:tr>
              <a:tr h="310896">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DBA12-007</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Northbridge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Mumbai</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Assoc. Consultant</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34 LPA</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1 CASE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CLEARED</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DBA12-007</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Northbridge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Mumbai</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Assoc. Consultant</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34 LPA</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2 CASE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SCHEDULED</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310896">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DBA12-019</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Northbridge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Mumbai</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Assoc. Consultant</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34 LPA</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REJECTED</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PGP62-003</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Northbridge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Mumbai</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Assoc. Consultant</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34 LPA</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1 CASE</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150" dirty="0">
                          <a:solidFill>
                            <a:srgbClr val="374151"/>
                          </a:solidFill>
                          <a:latin typeface="Calibri" pitchFamily="34" charset="0"/>
                          <a:ea typeface="Calibri" pitchFamily="34" charset="-122"/>
                          <a:cs typeface="Calibri" pitchFamily="34" charset="-120"/>
                        </a:rPr>
                        <a:t>CLEARED</a:t>
                      </a:r>
                      <a:endParaRPr lang="en-US" sz="11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bl>
          </a:graphicData>
        </a:graphic>
      </p:graphicFrame>
      <p:sp>
        <p:nvSpPr>
          <p:cNvPr id="6" name="Text 3"/>
          <p:cNvSpPr txBox="1"/>
          <p:nvPr/>
        </p:nvSpPr>
        <p:spPr>
          <a:xfrm>
            <a:off x="548640" y="3017520"/>
            <a:ext cx="6583680" cy="274320"/>
          </a:xfrm>
          <a:prstGeom prst="rect">
            <a:avLst/>
          </a:prstGeom>
          <a:noFill/>
          <a:ln/>
        </p:spPr>
        <p:txBody>
          <a:bodyPr wrap="square" lIns="0" tIns="0" rIns="0" bIns="0" rtlCol="0" anchor="ctr"/>
          <a:lstStyle/>
          <a:p>
            <a:pPr indent="0" marL="0">
              <a:buNone/>
            </a:pPr>
            <a:r>
              <a:rPr lang="en-US" sz="1200" i="1" dirty="0">
                <a:solidFill>
                  <a:srgbClr val="6B7280"/>
                </a:solidFill>
              </a:rPr>
              <a:t>Company, city, role and pay repeat on every applicant × round row</a:t>
            </a:r>
            <a:endParaRPr lang="en-US" sz="1200" dirty="0"/>
          </a:p>
        </p:txBody>
      </p:sp>
      <p:sp>
        <p:nvSpPr>
          <p:cNvPr id="7" name="Shape 4"/>
          <p:cNvSpPr/>
          <p:nvPr/>
        </p:nvSpPr>
        <p:spPr>
          <a:xfrm>
            <a:off x="548640" y="3474720"/>
            <a:ext cx="2103120" cy="2148840"/>
          </a:xfrm>
          <a:prstGeom prst="roundRect">
            <a:avLst>
              <a:gd name="adj" fmla="val 4348"/>
            </a:avLst>
          </a:prstGeom>
          <a:solidFill>
            <a:srgbClr val="FDECEA"/>
          </a:solidFill>
          <a:ln w="12700">
            <a:solidFill>
              <a:srgbClr val="F5C2BF"/>
            </a:solidFill>
            <a:prstDash val="solid"/>
          </a:ln>
        </p:spPr>
      </p:sp>
      <p:sp>
        <p:nvSpPr>
          <p:cNvPr id="8" name="Text 5"/>
          <p:cNvSpPr txBox="1"/>
          <p:nvPr/>
        </p:nvSpPr>
        <p:spPr>
          <a:xfrm>
            <a:off x="713232" y="3584448"/>
            <a:ext cx="1773936" cy="1929384"/>
          </a:xfrm>
          <a:prstGeom prst="rect">
            <a:avLst/>
          </a:prstGeom>
          <a:noFill/>
          <a:ln/>
        </p:spPr>
        <p:txBody>
          <a:bodyPr wrap="square" lIns="0" tIns="0" rIns="0" bIns="0" rtlCol="0" anchor="t"/>
          <a:lstStyle/>
          <a:p>
            <a:pPr indent="0" marL="0">
              <a:spcAft>
                <a:spcPts val="400"/>
              </a:spcAft>
              <a:buNone/>
            </a:pPr>
            <a:r>
              <a:rPr lang="en-US" sz="1500" b="1" dirty="0">
                <a:solidFill>
                  <a:srgbClr val="B91C1C"/>
                </a:solidFill>
                <a:latin typeface="Calibri" pitchFamily="34" charset="0"/>
                <a:ea typeface="Calibri" pitchFamily="34" charset="-122"/>
                <a:cs typeface="Calibri" pitchFamily="34" charset="-120"/>
              </a:rPr>
              <a:t>Update anomaly</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Northbridge moves HQ: edit every row, miss one and the data contradicts itself.</a:t>
            </a:r>
            <a:endParaRPr lang="en-US" sz="1500" dirty="0"/>
          </a:p>
        </p:txBody>
      </p:sp>
      <p:sp>
        <p:nvSpPr>
          <p:cNvPr id="9" name="Shape 6"/>
          <p:cNvSpPr/>
          <p:nvPr/>
        </p:nvSpPr>
        <p:spPr>
          <a:xfrm>
            <a:off x="2788920" y="3474720"/>
            <a:ext cx="2103120" cy="2148840"/>
          </a:xfrm>
          <a:prstGeom prst="roundRect">
            <a:avLst>
              <a:gd name="adj" fmla="val 4348"/>
            </a:avLst>
          </a:prstGeom>
          <a:solidFill>
            <a:srgbClr val="FDECEA"/>
          </a:solidFill>
          <a:ln w="12700">
            <a:solidFill>
              <a:srgbClr val="F5C2BF"/>
            </a:solidFill>
            <a:prstDash val="solid"/>
          </a:ln>
        </p:spPr>
      </p:sp>
      <p:sp>
        <p:nvSpPr>
          <p:cNvPr id="10" name="Text 7"/>
          <p:cNvSpPr txBox="1"/>
          <p:nvPr/>
        </p:nvSpPr>
        <p:spPr>
          <a:xfrm>
            <a:off x="2953512" y="3584448"/>
            <a:ext cx="1773936" cy="1929384"/>
          </a:xfrm>
          <a:prstGeom prst="rect">
            <a:avLst/>
          </a:prstGeom>
          <a:noFill/>
          <a:ln/>
        </p:spPr>
        <p:txBody>
          <a:bodyPr wrap="square" lIns="0" tIns="0" rIns="0" bIns="0" rtlCol="0" anchor="t"/>
          <a:lstStyle/>
          <a:p>
            <a:pPr indent="0" marL="0">
              <a:spcAft>
                <a:spcPts val="400"/>
              </a:spcAft>
              <a:buNone/>
            </a:pPr>
            <a:r>
              <a:rPr lang="en-US" sz="1500" b="1" dirty="0">
                <a:solidFill>
                  <a:srgbClr val="B91C1C"/>
                </a:solidFill>
                <a:latin typeface="Calibri" pitchFamily="34" charset="0"/>
                <a:ea typeface="Calibri" pitchFamily="34" charset="-122"/>
                <a:cs typeface="Calibri" pitchFamily="34" charset="-120"/>
              </a:rPr>
              <a:t>Insertion anomaly</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A new job cannot be recorded until a student applies (roll_no is part of the key).</a:t>
            </a:r>
            <a:endParaRPr lang="en-US" sz="1500" dirty="0"/>
          </a:p>
        </p:txBody>
      </p:sp>
      <p:sp>
        <p:nvSpPr>
          <p:cNvPr id="11" name="Shape 8"/>
          <p:cNvSpPr/>
          <p:nvPr/>
        </p:nvSpPr>
        <p:spPr>
          <a:xfrm>
            <a:off x="5029200" y="3474720"/>
            <a:ext cx="2103120" cy="2148840"/>
          </a:xfrm>
          <a:prstGeom prst="roundRect">
            <a:avLst>
              <a:gd name="adj" fmla="val 4348"/>
            </a:avLst>
          </a:prstGeom>
          <a:solidFill>
            <a:srgbClr val="FDECEA"/>
          </a:solidFill>
          <a:ln w="12700">
            <a:solidFill>
              <a:srgbClr val="F5C2BF"/>
            </a:solidFill>
            <a:prstDash val="solid"/>
          </a:ln>
        </p:spPr>
      </p:sp>
      <p:sp>
        <p:nvSpPr>
          <p:cNvPr id="12" name="Text 9"/>
          <p:cNvSpPr txBox="1"/>
          <p:nvPr/>
        </p:nvSpPr>
        <p:spPr>
          <a:xfrm>
            <a:off x="5193792" y="3584448"/>
            <a:ext cx="1773936" cy="1929384"/>
          </a:xfrm>
          <a:prstGeom prst="rect">
            <a:avLst/>
          </a:prstGeom>
          <a:noFill/>
          <a:ln/>
        </p:spPr>
        <p:txBody>
          <a:bodyPr wrap="square" lIns="0" tIns="0" rIns="0" bIns="0" rtlCol="0" anchor="t"/>
          <a:lstStyle/>
          <a:p>
            <a:pPr indent="0" marL="0">
              <a:spcAft>
                <a:spcPts val="400"/>
              </a:spcAft>
              <a:buNone/>
            </a:pPr>
            <a:r>
              <a:rPr lang="en-US" sz="1500" b="1" dirty="0">
                <a:solidFill>
                  <a:srgbClr val="B91C1C"/>
                </a:solidFill>
                <a:latin typeface="Calibri" pitchFamily="34" charset="0"/>
                <a:ea typeface="Calibri" pitchFamily="34" charset="-122"/>
                <a:cs typeface="Calibri" pitchFamily="34" charset="-120"/>
              </a:rPr>
              <a:t>Deletion anomaly</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Delete the only applicant and the job's pay, cut-off and rounds disappear too.</a:t>
            </a:r>
            <a:endParaRPr lang="en-US" sz="1500" dirty="0"/>
          </a:p>
        </p:txBody>
      </p:sp>
      <p:sp>
        <p:nvSpPr>
          <p:cNvPr id="13" name="Shape 10"/>
          <p:cNvSpPr/>
          <p:nvPr/>
        </p:nvSpPr>
        <p:spPr>
          <a:xfrm>
            <a:off x="7498080" y="1371600"/>
            <a:ext cx="4160520" cy="4617720"/>
          </a:xfrm>
          <a:prstGeom prst="roundRect">
            <a:avLst>
              <a:gd name="adj" fmla="val 2198"/>
            </a:avLst>
          </a:prstGeom>
          <a:solidFill>
            <a:srgbClr val="EEF0FF"/>
          </a:solidFill>
          <a:ln w="12700">
            <a:solidFill>
              <a:srgbClr val="EEF0FF"/>
            </a:solidFill>
            <a:prstDash val="solid"/>
          </a:ln>
        </p:spPr>
      </p:sp>
      <p:sp>
        <p:nvSpPr>
          <p:cNvPr id="14" name="Text 11"/>
          <p:cNvSpPr txBox="1"/>
          <p:nvPr/>
        </p:nvSpPr>
        <p:spPr>
          <a:xfrm>
            <a:off x="7772400" y="1554480"/>
            <a:ext cx="1828800" cy="914400"/>
          </a:xfrm>
          <a:prstGeom prst="rect">
            <a:avLst/>
          </a:prstGeom>
          <a:noFill/>
          <a:ln/>
        </p:spPr>
        <p:txBody>
          <a:bodyPr wrap="square" lIns="0" tIns="0" rIns="0" bIns="0" rtlCol="0" anchor="ctr"/>
          <a:lstStyle/>
          <a:p>
            <a:pPr indent="0" marL="0">
              <a:buNone/>
            </a:pPr>
            <a:r>
              <a:rPr lang="en-US" sz="6000" b="1" dirty="0">
                <a:solidFill>
                  <a:srgbClr val="4F46E5"/>
                </a:solidFill>
                <a:latin typeface="Cambria" pitchFamily="34" charset="0"/>
                <a:ea typeface="Cambria" pitchFamily="34" charset="-122"/>
                <a:cs typeface="Cambria" pitchFamily="34" charset="-120"/>
              </a:rPr>
              <a:t>15</a:t>
            </a:r>
            <a:endParaRPr lang="en-US" sz="6000" dirty="0"/>
          </a:p>
        </p:txBody>
      </p:sp>
      <p:sp>
        <p:nvSpPr>
          <p:cNvPr id="15" name="Text 12"/>
          <p:cNvSpPr txBox="1"/>
          <p:nvPr/>
        </p:nvSpPr>
        <p:spPr>
          <a:xfrm>
            <a:off x="7772400" y="2514600"/>
            <a:ext cx="3657600" cy="640080"/>
          </a:xfrm>
          <a:prstGeom prst="rect">
            <a:avLst/>
          </a:prstGeom>
          <a:noFill/>
          <a:ln/>
        </p:spPr>
        <p:txBody>
          <a:bodyPr wrap="square" lIns="0" tIns="0" rIns="0" bIns="0" rtlCol="0" anchor="t"/>
          <a:lstStyle/>
          <a:p>
            <a:pPr indent="0" marL="0">
              <a:buNone/>
            </a:pPr>
            <a:r>
              <a:rPr lang="en-US" sz="1500" b="1" dirty="0">
                <a:solidFill>
                  <a:srgbClr val="312E81"/>
                </a:solidFill>
              </a:rPr>
              <a:t>business rules, each enforced by the database, not by people</a:t>
            </a:r>
            <a:endParaRPr lang="en-US" sz="1500" dirty="0"/>
          </a:p>
        </p:txBody>
      </p:sp>
      <p:sp>
        <p:nvSpPr>
          <p:cNvPr id="16" name="Text 13"/>
          <p:cNvSpPr txBox="1"/>
          <p:nvPr/>
        </p:nvSpPr>
        <p:spPr>
          <a:xfrm>
            <a:off x="7772400" y="3291840"/>
            <a:ext cx="37033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74151"/>
                </a:solidFill>
              </a:rPr>
              <a:t>Eligibility: program, CGPA cut-off, backlogs, deadline</a:t>
            </a:r>
            <a:endParaRPr lang="en-US" sz="1400" dirty="0"/>
          </a:p>
          <a:p>
            <a:pPr marL="342900" indent="-342900">
              <a:spcAft>
                <a:spcPts val="600"/>
              </a:spcAft>
              <a:buSzPct val="100000"/>
              <a:buChar char="•"/>
            </a:pPr>
            <a:r>
              <a:rPr lang="en-US" sz="1400" dirty="0">
                <a:solidFill>
                  <a:srgbClr val="374151"/>
                </a:solidFill>
              </a:rPr>
              <a:t>No overlapping interview slots</a:t>
            </a:r>
            <a:endParaRPr lang="en-US" sz="1400" dirty="0"/>
          </a:p>
          <a:p>
            <a:pPr marL="342900" indent="-342900">
              <a:spcAft>
                <a:spcPts val="600"/>
              </a:spcAft>
              <a:buSzPct val="100000"/>
              <a:buChar char="•"/>
            </a:pPr>
            <a:r>
              <a:rPr lang="en-US" sz="1400" dirty="0">
                <a:solidFill>
                  <a:srgbClr val="374151"/>
                </a:solidFill>
              </a:rPr>
              <a:t>One accepted offer per cycle, with automatic withdrawal elsewhere</a:t>
            </a:r>
            <a:endParaRPr lang="en-US" sz="1400" dirty="0"/>
          </a:p>
          <a:p>
            <a:pPr marL="342900" indent="-342900">
              <a:spcAft>
                <a:spcPts val="600"/>
              </a:spcAft>
              <a:buSzPct val="100000"/>
              <a:buChar char="•"/>
            </a:pPr>
            <a:r>
              <a:rPr lang="en-US" sz="1400" dirty="0">
                <a:solidFill>
                  <a:srgbClr val="374151"/>
                </a:solidFill>
              </a:rPr>
              <a:t>Placed status derived, never typed in</a:t>
            </a:r>
            <a:endParaRPr lang="en-US" sz="1400" dirty="0"/>
          </a:p>
          <a:p>
            <a:pPr marL="342900" indent="-342900">
              <a:spcAft>
                <a:spcPts val="600"/>
              </a:spcAft>
              <a:buSzPct val="100000"/>
              <a:buChar char="•"/>
            </a:pPr>
            <a:r>
              <a:rPr lang="en-US" sz="1400" dirty="0">
                <a:solidFill>
                  <a:srgbClr val="374151"/>
                </a:solidFill>
              </a:rPr>
              <a:t>A student holding an offer cannot be deleted</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EER model (1/2): people, programs and sponsors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M1  </a:t>
            </a:r>
            <a:pPr algn="ctr" indent="0" marL="0">
              <a:buNone/>
            </a:pPr>
            <a:r>
              <a:rPr lang="en-US" sz="1200" dirty="0">
                <a:solidFill>
                  <a:srgbClr val="312E81"/>
                </a:solidFill>
              </a:rPr>
              <a:t>Ekta Sharma</a:t>
            </a:r>
            <a:endParaRPr lang="en-US" sz="1200" dirty="0"/>
          </a:p>
        </p:txBody>
      </p:sp>
      <p:sp>
        <p:nvSpPr>
          <p:cNvPr id="5" name="Shape 3"/>
          <p:cNvSpPr/>
          <p:nvPr/>
        </p:nvSpPr>
        <p:spPr>
          <a:xfrm>
            <a:off x="1243584" y="1197864"/>
            <a:ext cx="9720072" cy="5129784"/>
          </a:xfrm>
          <a:prstGeom prst="roundRect">
            <a:avLst>
              <a:gd name="adj" fmla="val 891"/>
            </a:avLst>
          </a:prstGeom>
          <a:solidFill>
            <a:srgbClr val="FFFFFF"/>
          </a:solidFill>
          <a:ln w="12700">
            <a:solidFill>
              <a:srgbClr val="E5E7EB"/>
            </a:solidFill>
            <a:prstDash val="solid"/>
          </a:ln>
        </p:spPr>
      </p:sp>
      <p:pic>
        <p:nvPicPr>
          <p:cNvPr id="6" name="Image 0" descr="C:\Users\bhavy\Downloads\DBMS-20261028T151751Z-1-001\DBMS\Project\deliverables\diagrams\eer_people.png">    </p:cNvPr>
          <p:cNvPicPr>
            <a:picLocks noChangeAspect="1"/>
          </p:cNvPicPr>
          <p:nvPr/>
        </p:nvPicPr>
        <p:blipFill>
          <a:blip r:embed="rId1"/>
          <a:stretch>
            <a:fillRect/>
          </a:stretch>
        </p:blipFill>
        <p:spPr>
          <a:xfrm>
            <a:off x="1280160" y="1234440"/>
            <a:ext cx="9646920" cy="5056632"/>
          </a:xfrm>
          <a:prstGeom prst="rect">
            <a:avLst/>
          </a:prstGeom>
        </p:spPr>
      </p:pic>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EER model (2/2): the recruitment pipeline</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M1  </a:t>
            </a:r>
            <a:pPr algn="ctr" indent="0" marL="0">
              <a:buNone/>
            </a:pPr>
            <a:r>
              <a:rPr lang="en-US" sz="1200" dirty="0">
                <a:solidFill>
                  <a:srgbClr val="312E81"/>
                </a:solidFill>
              </a:rPr>
              <a:t>Ekta Sharma</a:t>
            </a:r>
            <a:endParaRPr lang="en-US" sz="1200" dirty="0"/>
          </a:p>
        </p:txBody>
      </p:sp>
      <p:sp>
        <p:nvSpPr>
          <p:cNvPr id="5" name="Shape 3"/>
          <p:cNvSpPr/>
          <p:nvPr/>
        </p:nvSpPr>
        <p:spPr>
          <a:xfrm>
            <a:off x="512064" y="1197864"/>
            <a:ext cx="8531352" cy="4718304"/>
          </a:xfrm>
          <a:prstGeom prst="roundRect">
            <a:avLst>
              <a:gd name="adj" fmla="val 969"/>
            </a:avLst>
          </a:prstGeom>
          <a:solidFill>
            <a:srgbClr val="FFFFFF"/>
          </a:solidFill>
          <a:ln w="12700">
            <a:solidFill>
              <a:srgbClr val="E5E7EB"/>
            </a:solidFill>
            <a:prstDash val="solid"/>
          </a:ln>
        </p:spPr>
      </p:sp>
      <p:pic>
        <p:nvPicPr>
          <p:cNvPr id="6" name="Image 0" descr="C:\Users\bhavy\Downloads\DBMS-20261028T151751Z-1-001\DBMS\Project\deliverables\diagrams\eer_pipeline.png">    </p:cNvPr>
          <p:cNvPicPr>
            <a:picLocks noChangeAspect="1"/>
          </p:cNvPicPr>
          <p:nvPr/>
        </p:nvPicPr>
        <p:blipFill>
          <a:blip r:embed="rId1"/>
          <a:stretch>
            <a:fillRect/>
          </a:stretch>
        </p:blipFill>
        <p:spPr>
          <a:xfrm>
            <a:off x="548640" y="1234440"/>
            <a:ext cx="8458200" cy="4645152"/>
          </a:xfrm>
          <a:prstGeom prst="rect">
            <a:avLst/>
          </a:prstGeom>
        </p:spPr>
      </p:pic>
      <p:sp>
        <p:nvSpPr>
          <p:cNvPr id="7" name="Shape 4"/>
          <p:cNvSpPr/>
          <p:nvPr/>
        </p:nvSpPr>
        <p:spPr>
          <a:xfrm>
            <a:off x="9235440" y="1234440"/>
            <a:ext cx="2423160" cy="1463040"/>
          </a:xfrm>
          <a:prstGeom prst="roundRect">
            <a:avLst>
              <a:gd name="adj" fmla="val 6250"/>
            </a:avLst>
          </a:prstGeom>
          <a:solidFill>
            <a:srgbClr val="F5F3FF"/>
          </a:solidFill>
          <a:ln w="12700">
            <a:solidFill>
              <a:srgbClr val="DDD6FE"/>
            </a:solidFill>
            <a:prstDash val="solid"/>
          </a:ln>
        </p:spPr>
      </p:sp>
      <p:sp>
        <p:nvSpPr>
          <p:cNvPr id="8" name="Text 5"/>
          <p:cNvSpPr txBox="1"/>
          <p:nvPr/>
        </p:nvSpPr>
        <p:spPr>
          <a:xfrm>
            <a:off x="9400032" y="1344168"/>
            <a:ext cx="2093976" cy="1243584"/>
          </a:xfrm>
          <a:prstGeom prst="rect">
            <a:avLst/>
          </a:prstGeom>
          <a:noFill/>
          <a:ln/>
        </p:spPr>
        <p:txBody>
          <a:bodyPr wrap="square" lIns="0" tIns="0" rIns="0" bIns="0" rtlCol="0" anchor="t"/>
          <a:lstStyle/>
          <a:p>
            <a:pPr indent="0" marL="0">
              <a:spcAft>
                <a:spcPts val="400"/>
              </a:spcAft>
              <a:buNone/>
            </a:pPr>
            <a:r>
              <a:rPr lang="en-US" sz="1400" b="1" dirty="0">
                <a:solidFill>
                  <a:srgbClr val="6D28D9"/>
                </a:solidFill>
                <a:latin typeface="Calibri" pitchFamily="34" charset="0"/>
                <a:ea typeface="Calibri" pitchFamily="34" charset="-122"/>
                <a:cs typeface="Calibri" pitchFamily="34" charset="-120"/>
              </a:rPr>
              <a:t>Aggregation</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APPLIES_TO is treated as an entity: interviews and offers attach to an application, not to a student.</a:t>
            </a:r>
            <a:endParaRPr lang="en-US" sz="1400" dirty="0"/>
          </a:p>
        </p:txBody>
      </p:sp>
      <p:sp>
        <p:nvSpPr>
          <p:cNvPr id="9" name="Shape 6"/>
          <p:cNvSpPr/>
          <p:nvPr/>
        </p:nvSpPr>
        <p:spPr>
          <a:xfrm>
            <a:off x="9235440" y="2825496"/>
            <a:ext cx="2423160" cy="1463040"/>
          </a:xfrm>
          <a:prstGeom prst="roundRect">
            <a:avLst>
              <a:gd name="adj" fmla="val 6250"/>
            </a:avLst>
          </a:prstGeom>
          <a:solidFill>
            <a:srgbClr val="F6F7FB"/>
          </a:solidFill>
          <a:ln w="12700">
            <a:solidFill>
              <a:srgbClr val="E5E7EB"/>
            </a:solidFill>
            <a:prstDash val="solid"/>
          </a:ln>
        </p:spPr>
      </p:sp>
      <p:sp>
        <p:nvSpPr>
          <p:cNvPr id="10" name="Text 7"/>
          <p:cNvSpPr txBox="1"/>
          <p:nvPr/>
        </p:nvSpPr>
        <p:spPr>
          <a:xfrm>
            <a:off x="9400032" y="2935224"/>
            <a:ext cx="2093976" cy="1243584"/>
          </a:xfrm>
          <a:prstGeom prst="rect">
            <a:avLst/>
          </a:prstGeom>
          <a:noFill/>
          <a:ln/>
        </p:spPr>
        <p:txBody>
          <a:bodyPr wrap="square" lIns="0" tIns="0" rIns="0" bIns="0" rtlCol="0" anchor="t"/>
          <a:lstStyle/>
          <a:p>
            <a:pPr indent="0" marL="0">
              <a:spcAft>
                <a:spcPts val="400"/>
              </a:spcAft>
              <a:buNone/>
            </a:pPr>
            <a:r>
              <a:rPr lang="en-US" sz="1400" b="1" dirty="0">
                <a:solidFill>
                  <a:srgbClr val="1F2937"/>
                </a:solidFill>
                <a:latin typeface="Calibri" pitchFamily="34" charset="0"/>
                <a:ea typeface="Calibri" pitchFamily="34" charset="-122"/>
                <a:cs typeface="Calibri" pitchFamily="34" charset="-120"/>
              </a:rPr>
              <a:t>Weak entity</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INTERVIEW_ROUND is identified by (job_id, round_no) through HAS_ROUND.</a:t>
            </a:r>
            <a:endParaRPr lang="en-US" sz="1400" dirty="0"/>
          </a:p>
        </p:txBody>
      </p:sp>
      <p:sp>
        <p:nvSpPr>
          <p:cNvPr id="11" name="Shape 8"/>
          <p:cNvSpPr/>
          <p:nvPr/>
        </p:nvSpPr>
        <p:spPr>
          <a:xfrm>
            <a:off x="9235440" y="4416552"/>
            <a:ext cx="2423160" cy="1463040"/>
          </a:xfrm>
          <a:prstGeom prst="roundRect">
            <a:avLst>
              <a:gd name="adj" fmla="val 6250"/>
            </a:avLst>
          </a:prstGeom>
          <a:solidFill>
            <a:srgbClr val="F6F7FB"/>
          </a:solidFill>
          <a:ln w="12700">
            <a:solidFill>
              <a:srgbClr val="E5E7EB"/>
            </a:solidFill>
            <a:prstDash val="solid"/>
          </a:ln>
        </p:spPr>
      </p:sp>
      <p:sp>
        <p:nvSpPr>
          <p:cNvPr id="12" name="Text 9"/>
          <p:cNvSpPr txBox="1"/>
          <p:nvPr/>
        </p:nvSpPr>
        <p:spPr>
          <a:xfrm>
            <a:off x="9400032" y="4526280"/>
            <a:ext cx="2093976" cy="1243584"/>
          </a:xfrm>
          <a:prstGeom prst="rect">
            <a:avLst/>
          </a:prstGeom>
          <a:noFill/>
          <a:ln/>
        </p:spPr>
        <p:txBody>
          <a:bodyPr wrap="square" lIns="0" tIns="0" rIns="0" bIns="0" rtlCol="0" anchor="t"/>
          <a:lstStyle/>
          <a:p>
            <a:pPr indent="0" marL="0">
              <a:spcAft>
                <a:spcPts val="400"/>
              </a:spcAft>
              <a:buNone/>
            </a:pPr>
            <a:r>
              <a:rPr lang="en-US" sz="1400" b="1" dirty="0">
                <a:solidFill>
                  <a:srgbClr val="1F2937"/>
                </a:solidFill>
                <a:latin typeface="Calibri" pitchFamily="34" charset="0"/>
                <a:ea typeface="Calibri" pitchFamily="34" charset="-122"/>
                <a:cs typeface="Calibri" pitchFamily="34" charset="-120"/>
              </a:rPr>
              <a:t>Disjoint &amp; total</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Every job is exactly one of internship or full-time ('d', double line).</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From EER to 22 relations, and their keys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M2  </a:t>
            </a:r>
            <a:pPr algn="ctr" indent="0" marL="0">
              <a:buNone/>
            </a:pPr>
            <a:r>
              <a:rPr lang="en-US" sz="1200" dirty="0">
                <a:solidFill>
                  <a:srgbClr val="312E81"/>
                </a:solidFill>
              </a:rPr>
              <a:t>[Member 2]</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548640"/>
                <a:gridCol w="2926080"/>
                <a:gridCol w="32004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Step</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Mapping rule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Applied to</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Strong entity → table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program, person, company, job_role …</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Weak entity → PK = owner PK + partial key</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interview_round (job_id, round_no)</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3–4</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1:1 / 1:N → foreign key on the N side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student.program_id, offer → application</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M:N → bridge table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application, eligibility, interview</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Multi-valued attribute → own table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student_skill</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8A</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Specialization → table per subclass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 recruiter; internship_role …</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384048">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Category → surrogate key + FK in members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sponsor ← company, alumnus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6" name="Shape 3"/>
          <p:cNvSpPr/>
          <p:nvPr/>
        </p:nvSpPr>
        <p:spPr>
          <a:xfrm>
            <a:off x="7543800" y="1371600"/>
            <a:ext cx="4114800" cy="1078992"/>
          </a:xfrm>
          <a:prstGeom prst="roundRect">
            <a:avLst>
              <a:gd name="adj" fmla="val 8475"/>
            </a:avLst>
          </a:prstGeom>
          <a:solidFill>
            <a:srgbClr val="F6F7FB"/>
          </a:solidFill>
          <a:ln w="12700">
            <a:solidFill>
              <a:srgbClr val="E5E7EB"/>
            </a:solidFill>
            <a:prstDash val="solid"/>
          </a:ln>
        </p:spPr>
      </p:sp>
      <p:sp>
        <p:nvSpPr>
          <p:cNvPr id="7" name="Text 4"/>
          <p:cNvSpPr txBox="1"/>
          <p:nvPr/>
        </p:nvSpPr>
        <p:spPr>
          <a:xfrm>
            <a:off x="7708392" y="1481328"/>
            <a:ext cx="3785616" cy="859536"/>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Super key</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Any attribute set that identifies a row: (person_id, email)</a:t>
            </a:r>
            <a:endParaRPr lang="en-US" sz="1400" dirty="0"/>
          </a:p>
        </p:txBody>
      </p:sp>
      <p:sp>
        <p:nvSpPr>
          <p:cNvPr id="8" name="Shape 5"/>
          <p:cNvSpPr/>
          <p:nvPr/>
        </p:nvSpPr>
        <p:spPr>
          <a:xfrm>
            <a:off x="7543800" y="2560320"/>
            <a:ext cx="4114800" cy="1078992"/>
          </a:xfrm>
          <a:prstGeom prst="roundRect">
            <a:avLst>
              <a:gd name="adj" fmla="val 8475"/>
            </a:avLst>
          </a:prstGeom>
          <a:solidFill>
            <a:srgbClr val="F6F7FB"/>
          </a:solidFill>
          <a:ln w="12700">
            <a:solidFill>
              <a:srgbClr val="E5E7EB"/>
            </a:solidFill>
            <a:prstDash val="solid"/>
          </a:ln>
        </p:spPr>
      </p:sp>
      <p:sp>
        <p:nvSpPr>
          <p:cNvPr id="9" name="Text 6"/>
          <p:cNvSpPr txBox="1"/>
          <p:nvPr/>
        </p:nvSpPr>
        <p:spPr>
          <a:xfrm>
            <a:off x="7708392" y="2670048"/>
            <a:ext cx="3785616" cy="859536"/>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Candidate keys</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Minimal super keys. placement_cycle has three: cycle_id, cycle_name, (cycle_type, academic_year)</a:t>
            </a:r>
            <a:endParaRPr lang="en-US" sz="1400" dirty="0"/>
          </a:p>
        </p:txBody>
      </p:sp>
      <p:sp>
        <p:nvSpPr>
          <p:cNvPr id="10" name="Shape 7"/>
          <p:cNvSpPr/>
          <p:nvPr/>
        </p:nvSpPr>
        <p:spPr>
          <a:xfrm>
            <a:off x="7543800" y="3749040"/>
            <a:ext cx="4114800" cy="1078992"/>
          </a:xfrm>
          <a:prstGeom prst="roundRect">
            <a:avLst>
              <a:gd name="adj" fmla="val 8475"/>
            </a:avLst>
          </a:prstGeom>
          <a:solidFill>
            <a:srgbClr val="F6F7FB"/>
          </a:solidFill>
          <a:ln w="12700">
            <a:solidFill>
              <a:srgbClr val="E5E7EB"/>
            </a:solidFill>
            <a:prstDash val="solid"/>
          </a:ln>
        </p:spPr>
      </p:sp>
      <p:sp>
        <p:nvSpPr>
          <p:cNvPr id="11" name="Text 8"/>
          <p:cNvSpPr txBox="1"/>
          <p:nvPr/>
        </p:nvSpPr>
        <p:spPr>
          <a:xfrm>
            <a:off x="7708392" y="3858768"/>
            <a:ext cx="3785616" cy="859536"/>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Primary &amp; alternate</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job_id is primary; (company_id, cycle_id, title) stays UNIQUE as the alternate key</a:t>
            </a:r>
            <a:endParaRPr lang="en-US" sz="1400" dirty="0"/>
          </a:p>
        </p:txBody>
      </p:sp>
      <p:sp>
        <p:nvSpPr>
          <p:cNvPr id="12" name="Shape 9"/>
          <p:cNvSpPr/>
          <p:nvPr/>
        </p:nvSpPr>
        <p:spPr>
          <a:xfrm>
            <a:off x="7543800" y="4937760"/>
            <a:ext cx="4114800" cy="1078992"/>
          </a:xfrm>
          <a:prstGeom prst="roundRect">
            <a:avLst>
              <a:gd name="adj" fmla="val 8475"/>
            </a:avLst>
          </a:prstGeom>
          <a:solidFill>
            <a:srgbClr val="F6F7FB"/>
          </a:solidFill>
          <a:ln w="12700">
            <a:solidFill>
              <a:srgbClr val="E5E7EB"/>
            </a:solidFill>
            <a:prstDash val="solid"/>
          </a:ln>
        </p:spPr>
      </p:sp>
      <p:sp>
        <p:nvSpPr>
          <p:cNvPr id="13" name="Text 10"/>
          <p:cNvSpPr txBox="1"/>
          <p:nvPr/>
        </p:nvSpPr>
        <p:spPr>
          <a:xfrm>
            <a:off x="7708392" y="5047488"/>
            <a:ext cx="3785616" cy="859536"/>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Foreign keys</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30 FKs, some composite: (posted_by, company_id) → recruiter</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Normalization: spreadsheet → BCNF</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M2  </a:t>
            </a:r>
            <a:pPr algn="ctr" indent="0" marL="0">
              <a:buNone/>
            </a:pPr>
            <a:r>
              <a:rPr lang="en-US" sz="1200" dirty="0">
                <a:solidFill>
                  <a:srgbClr val="312E81"/>
                </a:solidFill>
              </a:rPr>
              <a:t>[Member 2]</a:t>
            </a:r>
            <a:endParaRPr lang="en-US" sz="1200" dirty="0"/>
          </a:p>
        </p:txBody>
      </p:sp>
      <p:sp>
        <p:nvSpPr>
          <p:cNvPr id="5" name="Shape 3"/>
          <p:cNvSpPr/>
          <p:nvPr/>
        </p:nvSpPr>
        <p:spPr>
          <a:xfrm>
            <a:off x="1197864" y="1197864"/>
            <a:ext cx="9765792" cy="4992624"/>
          </a:xfrm>
          <a:prstGeom prst="roundRect">
            <a:avLst>
              <a:gd name="adj" fmla="val 916"/>
            </a:avLst>
          </a:prstGeom>
          <a:solidFill>
            <a:srgbClr val="FFFFFF"/>
          </a:solidFill>
          <a:ln w="12700">
            <a:solidFill>
              <a:srgbClr val="E5E7EB"/>
            </a:solidFill>
            <a:prstDash val="solid"/>
          </a:ln>
        </p:spPr>
      </p:sp>
      <p:pic>
        <p:nvPicPr>
          <p:cNvPr id="6" name="Image 0" descr="C:\Users\bhavy\Downloads\DBMS-20261028T151751Z-1-001\DBMS\Project\deliverables\diagrams\normalization.png">    </p:cNvPr>
          <p:cNvPicPr>
            <a:picLocks noChangeAspect="1"/>
          </p:cNvPicPr>
          <p:nvPr/>
        </p:nvPicPr>
        <p:blipFill>
          <a:blip r:embed="rId1"/>
          <a:stretch>
            <a:fillRect/>
          </a:stretch>
        </p:blipFill>
        <p:spPr>
          <a:xfrm>
            <a:off x="1234440" y="1234440"/>
            <a:ext cx="9692640" cy="4919472"/>
          </a:xfrm>
          <a:prstGeom prst="rect">
            <a:avLst/>
          </a:prstGeom>
        </p:spPr>
      </p:pic>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Proving BCNF, and the trap we avoided</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M2  </a:t>
            </a:r>
            <a:pPr algn="ctr" indent="0" marL="0">
              <a:buNone/>
            </a:pPr>
            <a:r>
              <a:rPr lang="en-US" sz="1200" dirty="0">
                <a:solidFill>
                  <a:srgbClr val="312E81"/>
                </a:solidFill>
              </a:rPr>
              <a:t>[Member 2]</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914400"/>
        </p:xfrm>
        <a:graphic>
          <a:graphicData uri="http://schemas.openxmlformats.org/drawingml/2006/table">
            <a:tbl>
              <a:tblPr/>
              <a:tblGrid>
                <a:gridCol w="1600200"/>
                <a:gridCol w="2880360"/>
                <a:gridCol w="1920240"/>
              </a:tblGrid>
              <a:tr h="4114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Relation</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Non-trivial FDs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Determinants are keys?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r>
              <a:tr h="411480">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roll_no → all;  email → roll_no</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Yes: both are candidate keys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program</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prog_code → prog_name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411480">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eligibility</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(job, program) → min_cgpa</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interview_round</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(job, round_no) → round_type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411480">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interview</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 job, round) → slot, result</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placement_cycle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3 candidate keys, each → all</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bl>
          </a:graphicData>
        </a:graphic>
      </p:graphicFrame>
      <p:sp>
        <p:nvSpPr>
          <p:cNvPr id="6" name="Text 3"/>
          <p:cNvSpPr txBox="1"/>
          <p:nvPr/>
        </p:nvSpPr>
        <p:spPr>
          <a:xfrm>
            <a:off x="548640" y="4434840"/>
            <a:ext cx="6400800" cy="365760"/>
          </a:xfrm>
          <a:prstGeom prst="rect">
            <a:avLst/>
          </a:prstGeom>
          <a:noFill/>
          <a:ln/>
        </p:spPr>
        <p:txBody>
          <a:bodyPr wrap="square" lIns="0" tIns="0" rIns="0" bIns="0" rtlCol="0" anchor="ctr"/>
          <a:lstStyle/>
          <a:p>
            <a:pPr indent="0" marL="0">
              <a:buNone/>
            </a:pPr>
            <a:r>
              <a:rPr lang="en-US" sz="1500" b="1" dirty="0">
                <a:solidFill>
                  <a:srgbClr val="0F766E"/>
                </a:solidFill>
              </a:rPr>
              <a:t>All 22 relations: every determinant is a super key → BCNF</a:t>
            </a:r>
            <a:endParaRPr lang="en-US" sz="1500" dirty="0"/>
          </a:p>
        </p:txBody>
      </p:sp>
      <p:sp>
        <p:nvSpPr>
          <p:cNvPr id="7" name="Text 4"/>
          <p:cNvSpPr txBox="1"/>
          <p:nvPr/>
        </p:nvSpPr>
        <p:spPr>
          <a:xfrm>
            <a:off x="548640" y="4892040"/>
            <a:ext cx="6400800" cy="1097280"/>
          </a:xfrm>
          <a:prstGeom prst="rect">
            <a:avLst/>
          </a:prstGeom>
          <a:noFill/>
          <a:ln/>
        </p:spPr>
        <p:txBody>
          <a:bodyPr wrap="square" lIns="0" tIns="0" rIns="0" bIns="0" rtlCol="0" anchor="t"/>
          <a:lstStyle/>
          <a:p>
            <a:pPr indent="0" marL="0">
              <a:buNone/>
            </a:pPr>
            <a:r>
              <a:rPr lang="en-US" sz="1350" b="1" dirty="0">
                <a:solidFill>
                  <a:srgbClr val="1F2937"/>
                </a:solidFill>
              </a:rPr>
              <a:t>Deliberately not stored: </a:t>
            </a:r>
            <a:pPr indent="0" marL="0">
              <a:buNone/>
            </a:pPr>
            <a:r>
              <a:rPr lang="en-US" sz="1350" dirty="0">
                <a:solidFill>
                  <a:srgbClr val="374151"/>
                </a:solidFill>
              </a:rPr>
              <a:t>CTC on the offer (offer → job → ctc would be transitive), placement status (derived by a view), cycle on the application (job → cycle).</a:t>
            </a:r>
            <a:endParaRPr lang="en-US" sz="1350" dirty="0"/>
          </a:p>
        </p:txBody>
      </p:sp>
      <p:sp>
        <p:nvSpPr>
          <p:cNvPr id="8" name="Shape 5"/>
          <p:cNvSpPr/>
          <p:nvPr/>
        </p:nvSpPr>
        <p:spPr>
          <a:xfrm>
            <a:off x="7315200" y="1371600"/>
            <a:ext cx="4343400" cy="4617720"/>
          </a:xfrm>
          <a:prstGeom prst="roundRect">
            <a:avLst>
              <a:gd name="adj" fmla="val 2105"/>
            </a:avLst>
          </a:prstGeom>
          <a:solidFill>
            <a:srgbClr val="FFF4E6"/>
          </a:solidFill>
          <a:ln w="12700">
            <a:solidFill>
              <a:srgbClr val="FED7AA"/>
            </a:solidFill>
            <a:prstDash val="solid"/>
          </a:ln>
        </p:spPr>
      </p:sp>
      <p:sp>
        <p:nvSpPr>
          <p:cNvPr id="9" name="Text 6"/>
          <p:cNvSpPr txBox="1"/>
          <p:nvPr/>
        </p:nvSpPr>
        <p:spPr>
          <a:xfrm>
            <a:off x="7479792" y="1481328"/>
            <a:ext cx="4014216" cy="4398264"/>
          </a:xfrm>
          <a:prstGeom prst="rect">
            <a:avLst/>
          </a:prstGeom>
          <a:noFill/>
          <a:ln/>
        </p:spPr>
        <p:txBody>
          <a:bodyPr wrap="square" lIns="0" tIns="0" rIns="0" bIns="0" rtlCol="0" anchor="t"/>
          <a:lstStyle/>
          <a:p>
            <a:pPr indent="0" marL="0">
              <a:spcAft>
                <a:spcPts val="400"/>
              </a:spcAft>
              <a:buNone/>
            </a:pPr>
            <a:r>
              <a:rPr lang="en-US" sz="1500" b="1" dirty="0">
                <a:solidFill>
                  <a:srgbClr val="C2410C"/>
                </a:solidFill>
                <a:latin typeface="Calibri" pitchFamily="34" charset="0"/>
                <a:ea typeface="Calibri" pitchFamily="34" charset="-122"/>
                <a:cs typeface="Calibri" pitchFamily="34" charset="-120"/>
              </a:rPr>
              <a:t>The 3NF-but-not-BCNF trap</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Suppose: each recruiter interviews for exactly one job.</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Panel(student, job, recruiter) with  (student, job) → recruiter  and  recruiter → job.</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recruiter is not a super key → not BCNF. job is prime → still 3NF.</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BCNF split: (recruiter, job) + (student, recruiter) is lossless but NOT dependency-preserving.</a:t>
            </a:r>
            <a:endParaRPr lang="en-US" sz="1500" dirty="0"/>
          </a:p>
          <a:p>
            <a:pPr indent="0" marL="0">
              <a:spcAft>
                <a:spcPts val="300"/>
              </a:spcAft>
              <a:buNone/>
            </a:pPr>
            <a:r>
              <a:rPr lang="en-US" sz="1350" dirty="0">
                <a:solidFill>
                  <a:srgbClr val="374151"/>
                </a:solidFill>
                <a:latin typeface="Calibri" pitchFamily="34" charset="0"/>
                <a:ea typeface="Calibri" pitchFamily="34" charset="-122"/>
                <a:cs typeface="Calibri" pitchFamily="34" charset="-120"/>
              </a:rPr>
              <a:t>Our decision: the business does not need that rule, so we did not model it. The schema stays BCNF with nothing lost.</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Integrity lives in the schema</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M2  </a:t>
            </a:r>
            <a:pPr algn="ctr" indent="0" marL="0">
              <a:buNone/>
            </a:pPr>
            <a:r>
              <a:rPr lang="en-US" sz="1200" dirty="0">
                <a:solidFill>
                  <a:srgbClr val="312E81"/>
                </a:solidFill>
              </a:rPr>
              <a:t>[Member 2]</a:t>
            </a:r>
            <a:endParaRPr lang="en-US" sz="1200" dirty="0"/>
          </a:p>
        </p:txBody>
      </p:sp>
      <p:sp>
        <p:nvSpPr>
          <p:cNvPr id="5" name="Shape 3"/>
          <p:cNvSpPr/>
          <p:nvPr/>
        </p:nvSpPr>
        <p:spPr>
          <a:xfrm>
            <a:off x="548640" y="1371600"/>
            <a:ext cx="6035040" cy="4617720"/>
          </a:xfrm>
          <a:prstGeom prst="roundRect">
            <a:avLst>
              <a:gd name="adj" fmla="val 1584"/>
            </a:avLst>
          </a:prstGeom>
          <a:solidFill>
            <a:srgbClr val="0F172A"/>
          </a:solidFill>
          <a:ln w="12700">
            <a:solidFill>
              <a:srgbClr val="0F172A"/>
            </a:solidFill>
            <a:prstDash val="solid"/>
          </a:ln>
        </p:spPr>
      </p:sp>
      <p:sp>
        <p:nvSpPr>
          <p:cNvPr id="6" name="Text 4"/>
          <p:cNvSpPr txBox="1"/>
          <p:nvPr/>
        </p:nvSpPr>
        <p:spPr>
          <a:xfrm>
            <a:off x="731520" y="1508760"/>
            <a:ext cx="5669280" cy="4343400"/>
          </a:xfrm>
          <a:prstGeom prst="rect">
            <a:avLst/>
          </a:prstGeom>
          <a:noFill/>
          <a:ln/>
        </p:spPr>
        <p:txBody>
          <a:bodyPr wrap="square" lIns="0" tIns="0" rIns="0" bIns="0" rtlCol="0" anchor="t"/>
          <a:lstStyle/>
          <a:p>
            <a:pPr indent="0" marL="0">
              <a:buNone/>
            </a:pPr>
            <a:r>
              <a:rPr lang="en-US" sz="1250" dirty="0">
                <a:solidFill>
                  <a:srgbClr val="E2E8F0"/>
                </a:solidFill>
                <a:latin typeface="Courier New" pitchFamily="34" charset="0"/>
                <a:ea typeface="Courier New" pitchFamily="34" charset="-122"/>
                <a:cs typeface="Courier New" pitchFamily="34" charset="-120"/>
              </a:rPr>
              <a:t>-- Disjoint specialization, enforced declaratively</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CREATE TABLE internship_role (</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job_id     INT PRIMARY KEY,</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role_type  VARCHAR(10) DEFAULT 'INTERNSHIP'</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CHECK (role_type = 'INTERNSHIP'),</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stipend_monthly NUMERIC(10,2) NOT NULL,</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FOREIGN KEY (job_id, role_type)</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REFERENCES job_role (job_id, role_type)</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ON DELETE CASCADE</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buNone/>
            </a:pP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No student in two interviews at once</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CONSTRAINT excl_student_double_booking</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EXCLUDE USING gist (</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student_id WITH =,</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tstzrange(slot_start, slot_end) WITH &amp;&amp;)</a:t>
            </a:r>
            <a:endParaRPr lang="en-US" sz="1250" dirty="0"/>
          </a:p>
        </p:txBody>
      </p:sp>
      <p:sp>
        <p:nvSpPr>
          <p:cNvPr id="7" name="Text 5"/>
          <p:cNvSpPr txBox="1"/>
          <p:nvPr/>
        </p:nvSpPr>
        <p:spPr>
          <a:xfrm>
            <a:off x="6949440" y="1325880"/>
            <a:ext cx="2194560" cy="640080"/>
          </a:xfrm>
          <a:prstGeom prst="rect">
            <a:avLst/>
          </a:prstGeom>
          <a:noFill/>
          <a:ln/>
        </p:spPr>
        <p:txBody>
          <a:bodyPr wrap="square" lIns="0" tIns="0" rIns="0" bIns="0" rtlCol="0" anchor="ctr"/>
          <a:lstStyle/>
          <a:p>
            <a:pPr indent="0" marL="0">
              <a:buNone/>
            </a:pPr>
            <a:r>
              <a:rPr lang="en-US" sz="3200" b="1" dirty="0">
                <a:solidFill>
                  <a:srgbClr val="4F46E5"/>
                </a:solidFill>
                <a:latin typeface="Cambria" pitchFamily="34" charset="0"/>
                <a:ea typeface="Cambria" pitchFamily="34" charset="-122"/>
                <a:cs typeface="Cambria" pitchFamily="34" charset="-120"/>
              </a:rPr>
              <a:t>45</a:t>
            </a:r>
            <a:endParaRPr lang="en-US" sz="3200" dirty="0"/>
          </a:p>
        </p:txBody>
      </p:sp>
      <p:sp>
        <p:nvSpPr>
          <p:cNvPr id="8" name="Text 6"/>
          <p:cNvSpPr txBox="1"/>
          <p:nvPr/>
        </p:nvSpPr>
        <p:spPr>
          <a:xfrm>
            <a:off x="6949440" y="1984248"/>
            <a:ext cx="2194560" cy="457200"/>
          </a:xfrm>
          <a:prstGeom prst="rect">
            <a:avLst/>
          </a:prstGeom>
          <a:noFill/>
          <a:ln/>
        </p:spPr>
        <p:txBody>
          <a:bodyPr wrap="square" lIns="0" tIns="0" rIns="0" bIns="0" rtlCol="0" anchor="t"/>
          <a:lstStyle/>
          <a:p>
            <a:pPr indent="0" marL="0">
              <a:buNone/>
            </a:pPr>
            <a:r>
              <a:rPr lang="en-US" sz="1250" dirty="0">
                <a:solidFill>
                  <a:srgbClr val="6B7280"/>
                </a:solidFill>
              </a:rPr>
              <a:t>CHECK constraints (domains)</a:t>
            </a:r>
            <a:endParaRPr lang="en-US" sz="1250" dirty="0"/>
          </a:p>
        </p:txBody>
      </p:sp>
      <p:sp>
        <p:nvSpPr>
          <p:cNvPr id="9" name="Text 7"/>
          <p:cNvSpPr txBox="1"/>
          <p:nvPr/>
        </p:nvSpPr>
        <p:spPr>
          <a:xfrm>
            <a:off x="9326880" y="1325880"/>
            <a:ext cx="2194560" cy="640080"/>
          </a:xfrm>
          <a:prstGeom prst="rect">
            <a:avLst/>
          </a:prstGeom>
          <a:noFill/>
          <a:ln/>
        </p:spPr>
        <p:txBody>
          <a:bodyPr wrap="square" lIns="0" tIns="0" rIns="0" bIns="0" rtlCol="0" anchor="ctr"/>
          <a:lstStyle/>
          <a:p>
            <a:pPr indent="0" marL="0">
              <a:buNone/>
            </a:pPr>
            <a:r>
              <a:rPr lang="en-US" sz="3200" b="1" dirty="0">
                <a:solidFill>
                  <a:srgbClr val="4F46E5"/>
                </a:solidFill>
                <a:latin typeface="Cambria" pitchFamily="34" charset="0"/>
                <a:ea typeface="Cambria" pitchFamily="34" charset="-122"/>
                <a:cs typeface="Cambria" pitchFamily="34" charset="-120"/>
              </a:rPr>
              <a:t>30</a:t>
            </a:r>
            <a:endParaRPr lang="en-US" sz="3200" dirty="0"/>
          </a:p>
        </p:txBody>
      </p:sp>
      <p:sp>
        <p:nvSpPr>
          <p:cNvPr id="10" name="Text 8"/>
          <p:cNvSpPr txBox="1"/>
          <p:nvPr/>
        </p:nvSpPr>
        <p:spPr>
          <a:xfrm>
            <a:off x="9326880" y="1984248"/>
            <a:ext cx="2194560" cy="457200"/>
          </a:xfrm>
          <a:prstGeom prst="rect">
            <a:avLst/>
          </a:prstGeom>
          <a:noFill/>
          <a:ln/>
        </p:spPr>
        <p:txBody>
          <a:bodyPr wrap="square" lIns="0" tIns="0" rIns="0" bIns="0" rtlCol="0" anchor="t"/>
          <a:lstStyle/>
          <a:p>
            <a:pPr indent="0" marL="0">
              <a:buNone/>
            </a:pPr>
            <a:r>
              <a:rPr lang="en-US" sz="1250" dirty="0">
                <a:solidFill>
                  <a:srgbClr val="6B7280"/>
                </a:solidFill>
              </a:rPr>
              <a:t>foreign keys, with actions</a:t>
            </a:r>
            <a:endParaRPr lang="en-US" sz="1250" dirty="0"/>
          </a:p>
        </p:txBody>
      </p:sp>
      <p:sp>
        <p:nvSpPr>
          <p:cNvPr id="11" name="Text 9"/>
          <p:cNvSpPr txBox="1"/>
          <p:nvPr/>
        </p:nvSpPr>
        <p:spPr>
          <a:xfrm>
            <a:off x="6949440" y="2560320"/>
            <a:ext cx="2194560" cy="64008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17</a:t>
            </a:r>
            <a:endParaRPr lang="en-US" sz="3200" dirty="0"/>
          </a:p>
        </p:txBody>
      </p:sp>
      <p:sp>
        <p:nvSpPr>
          <p:cNvPr id="12" name="Text 10"/>
          <p:cNvSpPr txBox="1"/>
          <p:nvPr/>
        </p:nvSpPr>
        <p:spPr>
          <a:xfrm>
            <a:off x="6949440" y="3218688"/>
            <a:ext cx="2194560" cy="457200"/>
          </a:xfrm>
          <a:prstGeom prst="rect">
            <a:avLst/>
          </a:prstGeom>
          <a:noFill/>
          <a:ln/>
        </p:spPr>
        <p:txBody>
          <a:bodyPr wrap="square" lIns="0" tIns="0" rIns="0" bIns="0" rtlCol="0" anchor="t"/>
          <a:lstStyle/>
          <a:p>
            <a:pPr indent="0" marL="0">
              <a:buNone/>
            </a:pPr>
            <a:r>
              <a:rPr lang="en-US" sz="1250" dirty="0">
                <a:solidFill>
                  <a:srgbClr val="6B7280"/>
                </a:solidFill>
              </a:rPr>
              <a:t>UNIQUE (alternate keys)</a:t>
            </a:r>
            <a:endParaRPr lang="en-US" sz="1250" dirty="0"/>
          </a:p>
        </p:txBody>
      </p:sp>
      <p:sp>
        <p:nvSpPr>
          <p:cNvPr id="13" name="Text 11"/>
          <p:cNvSpPr txBox="1"/>
          <p:nvPr/>
        </p:nvSpPr>
        <p:spPr>
          <a:xfrm>
            <a:off x="9326880" y="2560320"/>
            <a:ext cx="2194560" cy="64008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1</a:t>
            </a:r>
            <a:endParaRPr lang="en-US" sz="3200" dirty="0"/>
          </a:p>
        </p:txBody>
      </p:sp>
      <p:sp>
        <p:nvSpPr>
          <p:cNvPr id="14" name="Text 12"/>
          <p:cNvSpPr txBox="1"/>
          <p:nvPr/>
        </p:nvSpPr>
        <p:spPr>
          <a:xfrm>
            <a:off x="9326880" y="3218688"/>
            <a:ext cx="2194560" cy="457200"/>
          </a:xfrm>
          <a:prstGeom prst="rect">
            <a:avLst/>
          </a:prstGeom>
          <a:noFill/>
          <a:ln/>
        </p:spPr>
        <p:txBody>
          <a:bodyPr wrap="square" lIns="0" tIns="0" rIns="0" bIns="0" rtlCol="0" anchor="t"/>
          <a:lstStyle/>
          <a:p>
            <a:pPr indent="0" marL="0">
              <a:buNone/>
            </a:pPr>
            <a:r>
              <a:rPr lang="en-US" sz="1250" dirty="0">
                <a:solidFill>
                  <a:srgbClr val="6B7280"/>
                </a:solidFill>
              </a:rPr>
              <a:t>EXCLUDE (overlap ban)</a:t>
            </a:r>
            <a:endParaRPr lang="en-US" sz="1250" dirty="0"/>
          </a:p>
        </p:txBody>
      </p:sp>
      <p:sp>
        <p:nvSpPr>
          <p:cNvPr id="15" name="Text 13"/>
          <p:cNvSpPr txBox="1"/>
          <p:nvPr/>
        </p:nvSpPr>
        <p:spPr>
          <a:xfrm>
            <a:off x="6949440" y="3794760"/>
            <a:ext cx="2194560" cy="64008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3</a:t>
            </a:r>
            <a:endParaRPr lang="en-US" sz="3200" dirty="0"/>
          </a:p>
        </p:txBody>
      </p:sp>
      <p:sp>
        <p:nvSpPr>
          <p:cNvPr id="16" name="Text 14"/>
          <p:cNvSpPr txBox="1"/>
          <p:nvPr/>
        </p:nvSpPr>
        <p:spPr>
          <a:xfrm>
            <a:off x="6949440" y="4453128"/>
            <a:ext cx="2194560" cy="457200"/>
          </a:xfrm>
          <a:prstGeom prst="rect">
            <a:avLst/>
          </a:prstGeom>
          <a:noFill/>
          <a:ln/>
        </p:spPr>
        <p:txBody>
          <a:bodyPr wrap="square" lIns="0" tIns="0" rIns="0" bIns="0" rtlCol="0" anchor="t"/>
          <a:lstStyle/>
          <a:p>
            <a:pPr indent="0" marL="0">
              <a:buNone/>
            </a:pPr>
            <a:r>
              <a:rPr lang="en-US" sz="1250" dirty="0">
                <a:solidFill>
                  <a:srgbClr val="6B7280"/>
                </a:solidFill>
              </a:rPr>
              <a:t>deferred constraint triggers</a:t>
            </a:r>
            <a:endParaRPr lang="en-US" sz="1250" dirty="0"/>
          </a:p>
        </p:txBody>
      </p:sp>
      <p:sp>
        <p:nvSpPr>
          <p:cNvPr id="17" name="Text 15"/>
          <p:cNvSpPr txBox="1"/>
          <p:nvPr/>
        </p:nvSpPr>
        <p:spPr>
          <a:xfrm>
            <a:off x="9326880" y="3794760"/>
            <a:ext cx="2194560" cy="64008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55</a:t>
            </a:r>
            <a:endParaRPr lang="en-US" sz="3200" dirty="0"/>
          </a:p>
        </p:txBody>
      </p:sp>
      <p:sp>
        <p:nvSpPr>
          <p:cNvPr id="18" name="Text 16"/>
          <p:cNvSpPr txBox="1"/>
          <p:nvPr/>
        </p:nvSpPr>
        <p:spPr>
          <a:xfrm>
            <a:off x="9326880" y="4453128"/>
            <a:ext cx="2194560" cy="457200"/>
          </a:xfrm>
          <a:prstGeom prst="rect">
            <a:avLst/>
          </a:prstGeom>
          <a:noFill/>
          <a:ln/>
        </p:spPr>
        <p:txBody>
          <a:bodyPr wrap="square" lIns="0" tIns="0" rIns="0" bIns="0" rtlCol="0" anchor="t"/>
          <a:lstStyle/>
          <a:p>
            <a:pPr indent="0" marL="0">
              <a:buNone/>
            </a:pPr>
            <a:r>
              <a:rPr lang="en-US" sz="1250" dirty="0">
                <a:solidFill>
                  <a:srgbClr val="6B7280"/>
                </a:solidFill>
              </a:rPr>
              <a:t>indexes incl. FK indexes</a:t>
            </a:r>
            <a:endParaRPr lang="en-US" sz="1250" dirty="0"/>
          </a:p>
        </p:txBody>
      </p:sp>
      <p:sp>
        <p:nvSpPr>
          <p:cNvPr id="19" name="Shape 17"/>
          <p:cNvSpPr/>
          <p:nvPr/>
        </p:nvSpPr>
        <p:spPr>
          <a:xfrm>
            <a:off x="6949440" y="5074920"/>
            <a:ext cx="4709160" cy="914400"/>
          </a:xfrm>
          <a:prstGeom prst="roundRect">
            <a:avLst>
              <a:gd name="adj" fmla="val 10000"/>
            </a:avLst>
          </a:prstGeom>
          <a:solidFill>
            <a:srgbClr val="F6F7FB"/>
          </a:solidFill>
          <a:ln w="12700">
            <a:solidFill>
              <a:srgbClr val="E5E7EB"/>
            </a:solidFill>
            <a:prstDash val="solid"/>
          </a:ln>
        </p:spPr>
      </p:sp>
      <p:sp>
        <p:nvSpPr>
          <p:cNvPr id="20" name="Text 18"/>
          <p:cNvSpPr txBox="1"/>
          <p:nvPr/>
        </p:nvSpPr>
        <p:spPr>
          <a:xfrm>
            <a:off x="7114032" y="5184648"/>
            <a:ext cx="4379976" cy="694944"/>
          </a:xfrm>
          <a:prstGeom prst="rect">
            <a:avLst/>
          </a:prstGeom>
          <a:noFill/>
          <a:ln/>
        </p:spPr>
        <p:txBody>
          <a:bodyPr wrap="square" lIns="0" tIns="0" rIns="0" bIns="0" rtlCol="0" anchor="t"/>
          <a:lstStyle/>
          <a:p>
            <a:pPr indent="0" marL="0">
              <a:spcAft>
                <a:spcPts val="400"/>
              </a:spcAft>
              <a:buNone/>
            </a:pPr>
            <a:r>
              <a:rPr lang="en-US" sz="1350" b="1" dirty="0">
                <a:solidFill>
                  <a:srgbClr val="1F2937"/>
                </a:solidFill>
                <a:latin typeface="Calibri" pitchFamily="34" charset="0"/>
                <a:ea typeface="Calibri" pitchFamily="34" charset="-122"/>
                <a:cs typeface="Calibri" pitchFamily="34" charset="-120"/>
              </a:rPr>
              <a:t>ON DELETE, chosen per relationship</a:t>
            </a:r>
            <a:endParaRPr lang="en-US" sz="135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CASCADE: subtypes &amp; weak entity · RESTRICT: history (offers) · SET NULL (col): keep job, drop recruiter link</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A realistic, reproducible test bed</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M3  </a:t>
            </a:r>
            <a:pPr algn="ctr" indent="0" marL="0">
              <a:buNone/>
            </a:pPr>
            <a:r>
              <a:rPr lang="en-US" sz="1200" dirty="0">
                <a:solidFill>
                  <a:srgbClr val="312E81"/>
                </a:solidFill>
              </a:rPr>
              <a:t>[Member 3]</a:t>
            </a:r>
            <a:endParaRPr lang="en-US" sz="1200" dirty="0"/>
          </a:p>
        </p:txBody>
      </p:sp>
      <p:sp>
        <p:nvSpPr>
          <p:cNvPr id="5" name="Text 3"/>
          <p:cNvSpPr txBox="1"/>
          <p:nvPr/>
        </p:nvSpPr>
        <p:spPr>
          <a:xfrm>
            <a:off x="548640" y="1325880"/>
            <a:ext cx="2103120" cy="64008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180</a:t>
            </a:r>
            <a:endParaRPr lang="en-US" sz="4000" dirty="0"/>
          </a:p>
        </p:txBody>
      </p:sp>
      <p:sp>
        <p:nvSpPr>
          <p:cNvPr id="6" name="Text 4"/>
          <p:cNvSpPr txBox="1"/>
          <p:nvPr/>
        </p:nvSpPr>
        <p:spPr>
          <a:xfrm>
            <a:off x="548640" y="1984248"/>
            <a:ext cx="2103120" cy="457200"/>
          </a:xfrm>
          <a:prstGeom prst="rect">
            <a:avLst/>
          </a:prstGeom>
          <a:noFill/>
          <a:ln/>
        </p:spPr>
        <p:txBody>
          <a:bodyPr wrap="square" lIns="0" tIns="0" rIns="0" bIns="0" rtlCol="0" anchor="t"/>
          <a:lstStyle/>
          <a:p>
            <a:pPr indent="0" marL="0">
              <a:buNone/>
            </a:pPr>
            <a:r>
              <a:rPr lang="en-US" sz="1250" dirty="0">
                <a:solidFill>
                  <a:srgbClr val="6B7280"/>
                </a:solidFill>
              </a:rPr>
              <a:t>students in 3 programs</a:t>
            </a:r>
            <a:endParaRPr lang="en-US" sz="1250" dirty="0"/>
          </a:p>
        </p:txBody>
      </p:sp>
      <p:sp>
        <p:nvSpPr>
          <p:cNvPr id="7" name="Text 5"/>
          <p:cNvSpPr txBox="1"/>
          <p:nvPr/>
        </p:nvSpPr>
        <p:spPr>
          <a:xfrm>
            <a:off x="2834640" y="1325880"/>
            <a:ext cx="2103120" cy="64008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16</a:t>
            </a:r>
            <a:endParaRPr lang="en-US" sz="4000" dirty="0"/>
          </a:p>
        </p:txBody>
      </p:sp>
      <p:sp>
        <p:nvSpPr>
          <p:cNvPr id="8" name="Text 6"/>
          <p:cNvSpPr txBox="1"/>
          <p:nvPr/>
        </p:nvSpPr>
        <p:spPr>
          <a:xfrm>
            <a:off x="2834640" y="1984248"/>
            <a:ext cx="2103120" cy="457200"/>
          </a:xfrm>
          <a:prstGeom prst="rect">
            <a:avLst/>
          </a:prstGeom>
          <a:noFill/>
          <a:ln/>
        </p:spPr>
        <p:txBody>
          <a:bodyPr wrap="square" lIns="0" tIns="0" rIns="0" bIns="0" rtlCol="0" anchor="t"/>
          <a:lstStyle/>
          <a:p>
            <a:pPr indent="0" marL="0">
              <a:buNone/>
            </a:pPr>
            <a:r>
              <a:rPr lang="en-US" sz="1250" dirty="0">
                <a:solidFill>
                  <a:srgbClr val="6B7280"/>
                </a:solidFill>
              </a:rPr>
              <a:t>fictional companies</a:t>
            </a:r>
            <a:endParaRPr lang="en-US" sz="1250" dirty="0"/>
          </a:p>
        </p:txBody>
      </p:sp>
      <p:sp>
        <p:nvSpPr>
          <p:cNvPr id="9" name="Text 7"/>
          <p:cNvSpPr txBox="1"/>
          <p:nvPr/>
        </p:nvSpPr>
        <p:spPr>
          <a:xfrm>
            <a:off x="5120640" y="1325880"/>
            <a:ext cx="2103120" cy="64008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1,184</a:t>
            </a:r>
            <a:endParaRPr lang="en-US" sz="4000" dirty="0"/>
          </a:p>
        </p:txBody>
      </p:sp>
      <p:sp>
        <p:nvSpPr>
          <p:cNvPr id="10" name="Text 8"/>
          <p:cNvSpPr txBox="1"/>
          <p:nvPr/>
        </p:nvSpPr>
        <p:spPr>
          <a:xfrm>
            <a:off x="5120640" y="1984248"/>
            <a:ext cx="2103120" cy="457200"/>
          </a:xfrm>
          <a:prstGeom prst="rect">
            <a:avLst/>
          </a:prstGeom>
          <a:noFill/>
          <a:ln/>
        </p:spPr>
        <p:txBody>
          <a:bodyPr wrap="square" lIns="0" tIns="0" rIns="0" bIns="0" rtlCol="0" anchor="t"/>
          <a:lstStyle/>
          <a:p>
            <a:pPr indent="0" marL="0">
              <a:buNone/>
            </a:pPr>
            <a:r>
              <a:rPr lang="en-US" sz="1250" dirty="0">
                <a:solidFill>
                  <a:srgbClr val="6B7280"/>
                </a:solidFill>
              </a:rPr>
              <a:t>applications</a:t>
            </a:r>
            <a:endParaRPr lang="en-US" sz="1250" dirty="0"/>
          </a:p>
        </p:txBody>
      </p:sp>
      <p:sp>
        <p:nvSpPr>
          <p:cNvPr id="11" name="Text 9"/>
          <p:cNvSpPr txBox="1"/>
          <p:nvPr/>
        </p:nvSpPr>
        <p:spPr>
          <a:xfrm>
            <a:off x="7406640" y="1325880"/>
            <a:ext cx="2103120" cy="64008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1,057</a:t>
            </a:r>
            <a:endParaRPr lang="en-US" sz="4000" dirty="0"/>
          </a:p>
        </p:txBody>
      </p:sp>
      <p:sp>
        <p:nvSpPr>
          <p:cNvPr id="12" name="Text 10"/>
          <p:cNvSpPr txBox="1"/>
          <p:nvPr/>
        </p:nvSpPr>
        <p:spPr>
          <a:xfrm>
            <a:off x="7406640" y="1984248"/>
            <a:ext cx="2103120" cy="457200"/>
          </a:xfrm>
          <a:prstGeom prst="rect">
            <a:avLst/>
          </a:prstGeom>
          <a:noFill/>
          <a:ln/>
        </p:spPr>
        <p:txBody>
          <a:bodyPr wrap="square" lIns="0" tIns="0" rIns="0" bIns="0" rtlCol="0" anchor="t"/>
          <a:lstStyle/>
          <a:p>
            <a:pPr indent="0" marL="0">
              <a:buNone/>
            </a:pPr>
            <a:r>
              <a:rPr lang="en-US" sz="1250" dirty="0">
                <a:solidFill>
                  <a:srgbClr val="6B7280"/>
                </a:solidFill>
              </a:rPr>
              <a:t>interview slots</a:t>
            </a:r>
            <a:endParaRPr lang="en-US" sz="1250" dirty="0"/>
          </a:p>
        </p:txBody>
      </p:sp>
      <p:sp>
        <p:nvSpPr>
          <p:cNvPr id="13" name="Text 11"/>
          <p:cNvSpPr txBox="1"/>
          <p:nvPr/>
        </p:nvSpPr>
        <p:spPr>
          <a:xfrm>
            <a:off x="9692640" y="1325880"/>
            <a:ext cx="2103120" cy="64008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96</a:t>
            </a:r>
            <a:endParaRPr lang="en-US" sz="4000" dirty="0"/>
          </a:p>
        </p:txBody>
      </p:sp>
      <p:sp>
        <p:nvSpPr>
          <p:cNvPr id="14" name="Text 12"/>
          <p:cNvSpPr txBox="1"/>
          <p:nvPr/>
        </p:nvSpPr>
        <p:spPr>
          <a:xfrm>
            <a:off x="9692640" y="1984248"/>
            <a:ext cx="2103120" cy="457200"/>
          </a:xfrm>
          <a:prstGeom prst="rect">
            <a:avLst/>
          </a:prstGeom>
          <a:noFill/>
          <a:ln/>
        </p:spPr>
        <p:txBody>
          <a:bodyPr wrap="square" lIns="0" tIns="0" rIns="0" bIns="0" rtlCol="0" anchor="t"/>
          <a:lstStyle/>
          <a:p>
            <a:pPr indent="0" marL="0">
              <a:buNone/>
            </a:pPr>
            <a:r>
              <a:rPr lang="en-US" sz="1250" dirty="0">
                <a:solidFill>
                  <a:srgbClr val="6B7280"/>
                </a:solidFill>
              </a:rPr>
              <a:t>offers made</a:t>
            </a:r>
            <a:endParaRPr lang="en-US" sz="1250" dirty="0"/>
          </a:p>
        </p:txBody>
      </p:sp>
      <p:sp>
        <p:nvSpPr>
          <p:cNvPr id="15" name="Text 13"/>
          <p:cNvSpPr txBox="1"/>
          <p:nvPr/>
        </p:nvSpPr>
        <p:spPr>
          <a:xfrm>
            <a:off x="548640" y="2743200"/>
            <a:ext cx="566928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74151"/>
                </a:solidFill>
              </a:rPr>
              <a:t>Reference data is hand-written INSERTs, readable on a slide</a:t>
            </a:r>
            <a:endParaRPr lang="en-US" sz="1500" dirty="0"/>
          </a:p>
          <a:p>
            <a:pPr marL="342900" indent="-342900">
              <a:spcAft>
                <a:spcPts val="1000"/>
              </a:spcAft>
              <a:buSzPct val="100000"/>
              <a:buChar char="•"/>
            </a:pPr>
            <a:r>
              <a:rPr lang="en-US" sz="1500" dirty="0">
                <a:solidFill>
                  <a:srgbClr val="374151"/>
                </a:solidFill>
              </a:rPr>
              <a:t>Students are generated set-based; setseed() makes every run identical</a:t>
            </a:r>
            <a:endParaRPr lang="en-US" sz="1500" dirty="0"/>
          </a:p>
          <a:p>
            <a:pPr marL="342900" indent="-342900">
              <a:spcAft>
                <a:spcPts val="1000"/>
              </a:spcAft>
              <a:buSzPct val="100000"/>
              <a:buChar char="•"/>
            </a:pPr>
            <a:r>
              <a:rPr lang="en-US" sz="1500" dirty="0">
                <a:solidFill>
                  <a:srgbClr val="374151"/>
                </a:solidFill>
              </a:rPr>
              <a:t>A PL/pgSQL simulation runs shortlist → rounds → offers → accept, job by job</a:t>
            </a:r>
            <a:endParaRPr lang="en-US" sz="1500" dirty="0"/>
          </a:p>
          <a:p>
            <a:pPr marL="342900" indent="-342900">
              <a:spcAft>
                <a:spcPts val="1000"/>
              </a:spcAft>
              <a:buSzPct val="100000"/>
              <a:buChar char="•"/>
            </a:pPr>
            <a:r>
              <a:rPr lang="en-US" sz="1500" dirty="0">
                <a:solidFill>
                  <a:srgbClr val="374151"/>
                </a:solidFill>
              </a:rPr>
              <a:t>Every row is loaded THROUGH the triggers, in one transaction: it all passed every rule, or nothing loads</a:t>
            </a:r>
            <a:endParaRPr lang="en-US" sz="1500" dirty="0"/>
          </a:p>
        </p:txBody>
      </p:sp>
      <p:sp>
        <p:nvSpPr>
          <p:cNvPr id="16" name="Shape 14"/>
          <p:cNvSpPr/>
          <p:nvPr/>
        </p:nvSpPr>
        <p:spPr>
          <a:xfrm>
            <a:off x="6547104" y="2706624"/>
            <a:ext cx="5148072" cy="3246120"/>
          </a:xfrm>
          <a:prstGeom prst="roundRect">
            <a:avLst>
              <a:gd name="adj" fmla="val 1408"/>
            </a:avLst>
          </a:prstGeom>
          <a:solidFill>
            <a:srgbClr val="FFFFFF"/>
          </a:solidFill>
          <a:ln w="12700">
            <a:solidFill>
              <a:srgbClr val="E5E7EB"/>
            </a:solidFill>
            <a:prstDash val="solid"/>
          </a:ln>
        </p:spPr>
      </p:sp>
      <p:pic>
        <p:nvPicPr>
          <p:cNvPr id="17" name="Image 0" descr="C:\Users\bhavy\Downloads\DBMS-20261028T151751Z-1-001\DBMS\Project\deliverables\screenshots\demo_02_students.png">    </p:cNvPr>
          <p:cNvPicPr>
            <a:picLocks noChangeAspect="1"/>
          </p:cNvPicPr>
          <p:nvPr/>
        </p:nvPicPr>
        <p:blipFill>
          <a:blip r:embed="rId1"/>
          <a:stretch>
            <a:fillRect/>
          </a:stretch>
        </p:blipFill>
        <p:spPr>
          <a:xfrm>
            <a:off x="6583680" y="2743200"/>
            <a:ext cx="5074920" cy="3172968"/>
          </a:xfrm>
          <a:prstGeom prst="rect">
            <a:avLst/>
          </a:prstGeom>
        </p:spPr>
      </p:pic>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Five queries, five business questions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M3  </a:t>
            </a:r>
            <a:pPr algn="ctr" indent="0" marL="0">
              <a:buNone/>
            </a:pPr>
            <a:r>
              <a:rPr lang="en-US" sz="1200" dirty="0">
                <a:solidFill>
                  <a:srgbClr val="312E81"/>
                </a:solidFill>
              </a:rPr>
              <a:t>[Member 3]</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502920"/>
                <a:gridCol w="3291840"/>
                <a:gridCol w="3840480"/>
                <a:gridCol w="3474720"/>
              </a:tblGrid>
              <a:tr h="713232">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Business question</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SQL technique</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Answer from our data</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r>
              <a:tr h="713232">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Q1</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Which recruiters are hardest to crack?</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Joins, outer join, GROUP BY, HAVING vs scalar subquery</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5 companies; Meridian Insurance offers to 8.6%</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713232">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Q2</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Who holds EVERY skill a new job needs?</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Relational division: double NOT EXISTS</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8 students, led by DBA12-039</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713232">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Q3</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Top earners per program?</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DENSE_RANK, NTILE, AVG() OVER on a view</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Top CTC ₹38 LPA</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713232">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Q4</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How fast is each batch getting placed?</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CTEs, generate_series, running SUM() OVER</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20.3% of PGDBA placed by 28 Oct</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713232">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Q5</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Strong students lost in interviews?</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Correlated subquery + LATERAL join</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374151"/>
                          </a:solidFill>
                          <a:latin typeface="Calibri" pitchFamily="34" charset="0"/>
                          <a:ea typeface="Calibri" pitchFamily="34" charset="-122"/>
                          <a:cs typeface="Calibri" pitchFamily="34" charset="-120"/>
                        </a:rPr>
                        <a:t>3 students flagged for coaching</a:t>
                      </a:r>
                      <a:endParaRPr lang="en-US" sz="13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Spotlight: relational division and window functions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M3  </a:t>
            </a:r>
            <a:pPr algn="ctr" indent="0" marL="0">
              <a:buNone/>
            </a:pPr>
            <a:r>
              <a:rPr lang="en-US" sz="1200" dirty="0">
                <a:solidFill>
                  <a:srgbClr val="312E81"/>
                </a:solidFill>
              </a:rPr>
              <a:t>[Member 3]</a:t>
            </a:r>
            <a:endParaRPr lang="en-US" sz="1200" dirty="0"/>
          </a:p>
        </p:txBody>
      </p:sp>
      <p:sp>
        <p:nvSpPr>
          <p:cNvPr id="5" name="Shape 3"/>
          <p:cNvSpPr/>
          <p:nvPr/>
        </p:nvSpPr>
        <p:spPr>
          <a:xfrm>
            <a:off x="548640" y="1371600"/>
            <a:ext cx="5669280" cy="3246120"/>
          </a:xfrm>
          <a:prstGeom prst="roundRect">
            <a:avLst>
              <a:gd name="adj" fmla="val 2254"/>
            </a:avLst>
          </a:prstGeom>
          <a:solidFill>
            <a:srgbClr val="0F172A"/>
          </a:solidFill>
          <a:ln w="12700">
            <a:solidFill>
              <a:srgbClr val="0F172A"/>
            </a:solidFill>
            <a:prstDash val="solid"/>
          </a:ln>
        </p:spPr>
      </p:sp>
      <p:sp>
        <p:nvSpPr>
          <p:cNvPr id="6" name="Text 4"/>
          <p:cNvSpPr txBox="1"/>
          <p:nvPr/>
        </p:nvSpPr>
        <p:spPr>
          <a:xfrm>
            <a:off x="731520" y="1508760"/>
            <a:ext cx="5303520" cy="2971800"/>
          </a:xfrm>
          <a:prstGeom prst="rect">
            <a:avLst/>
          </a:prstGeom>
          <a:noFill/>
          <a:ln/>
        </p:spPr>
        <p:txBody>
          <a:bodyPr wrap="square" lIns="0" tIns="0" rIns="0" bIns="0" rtlCol="0" anchor="t"/>
          <a:lstStyle/>
          <a:p>
            <a:pPr indent="0" marL="0">
              <a:buNone/>
            </a:pPr>
            <a:r>
              <a:rPr lang="en-US" sz="1250" dirty="0">
                <a:solidFill>
                  <a:srgbClr val="E2E8F0"/>
                </a:solidFill>
                <a:latin typeface="Courier New" pitchFamily="34" charset="0"/>
                <a:ea typeface="Courier New" pitchFamily="34" charset="-122"/>
                <a:cs typeface="Courier New" pitchFamily="34" charset="-120"/>
              </a:rPr>
              <a:t>-- students holding EVERY skill job 25 needs</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SELECT s.roll_no FROM student s</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WHERE NOT EXISTS (          -- no required skill</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SELECT 1 FROM job_required_skill r</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WHERE r.job_id = 25</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AND NOT EXISTS (        -- ... that s lacks</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SELECT 1 FROM student_skill ss</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WHERE ss.student_id = s.person_id</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AND ss.skill_id   = r.skill_id</a:t>
            </a:r>
            <a:endParaRPr lang="en-US" sz="1250" dirty="0"/>
          </a:p>
          <a:p>
            <a:pPr indent="0" marL="0">
              <a:buNone/>
            </a:pPr>
            <a:r>
              <a:rPr lang="en-US" sz="1250" dirty="0">
                <a:solidFill>
                  <a:srgbClr val="E2E8F0"/>
                </a:solidFill>
                <a:latin typeface="Courier New" pitchFamily="34" charset="0"/>
                <a:ea typeface="Courier New" pitchFamily="34" charset="-122"/>
                <a:cs typeface="Courier New" pitchFamily="34" charset="-120"/>
              </a:rPr>
              <a:t>        AND ss.proficiency &gt;= r.min_proficiency));</a:t>
            </a:r>
            <a:endParaRPr lang="en-US" sz="1250" dirty="0"/>
          </a:p>
        </p:txBody>
      </p:sp>
      <p:sp>
        <p:nvSpPr>
          <p:cNvPr id="7" name="Text 5"/>
          <p:cNvSpPr txBox="1"/>
          <p:nvPr/>
        </p:nvSpPr>
        <p:spPr>
          <a:xfrm>
            <a:off x="548640" y="4754880"/>
            <a:ext cx="5669280" cy="365760"/>
          </a:xfrm>
          <a:prstGeom prst="rect">
            <a:avLst/>
          </a:prstGeom>
          <a:noFill/>
          <a:ln/>
        </p:spPr>
        <p:txBody>
          <a:bodyPr wrap="square" lIns="0" tIns="0" rIns="0" bIns="0" rtlCol="0" anchor="ctr"/>
          <a:lstStyle/>
          <a:p>
            <a:pPr indent="0" marL="0">
              <a:buNone/>
            </a:pPr>
            <a:r>
              <a:rPr lang="en-US" sz="1400" b="1" dirty="0">
                <a:solidFill>
                  <a:srgbClr val="4F46E5"/>
                </a:solidFill>
              </a:rPr>
              <a:t>Qualified(student, skill) ÷ π skill (σ job = 25 (JobRequiredSkill))</a:t>
            </a:r>
            <a:endParaRPr lang="en-US" sz="1400" dirty="0"/>
          </a:p>
        </p:txBody>
      </p:sp>
      <p:sp>
        <p:nvSpPr>
          <p:cNvPr id="8" name="Text 6"/>
          <p:cNvSpPr txBox="1"/>
          <p:nvPr/>
        </p:nvSpPr>
        <p:spPr>
          <a:xfrm>
            <a:off x="548640" y="5166360"/>
            <a:ext cx="5669280" cy="731520"/>
          </a:xfrm>
          <a:prstGeom prst="rect">
            <a:avLst/>
          </a:prstGeom>
          <a:noFill/>
          <a:ln/>
        </p:spPr>
        <p:txBody>
          <a:bodyPr wrap="square" lIns="0" tIns="0" rIns="0" bIns="0" rtlCol="0" anchor="t"/>
          <a:lstStyle/>
          <a:p>
            <a:pPr indent="0" marL="0">
              <a:buNone/>
            </a:pPr>
            <a:r>
              <a:rPr lang="en-US" sz="1300" dirty="0">
                <a:solidFill>
                  <a:srgbClr val="374151"/>
                </a:solidFill>
              </a:rPr>
              <a:t>Cross-checked against division-by-counting (GROUP BY … HAVING count = …) for all 25 jobs: identical results (test TC-QRY-06).</a:t>
            </a:r>
            <a:endParaRPr lang="en-US" sz="1300" dirty="0"/>
          </a:p>
        </p:txBody>
      </p:sp>
      <p:graphicFrame>
        <p:nvGraphicFramePr>
          <p:cNvPr id="9" name="Chart 0" descr=""/>
          <p:cNvGraphicFramePr/>
          <p:nvPr/>
        </p:nvGraphicFramePr>
        <p:xfrm>
          <a:off x="6537960" y="132588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6537960" y="5623560"/>
            <a:ext cx="5120640" cy="457200"/>
          </a:xfrm>
          <a:prstGeom prst="rect">
            <a:avLst/>
          </a:prstGeom>
          <a:noFill/>
          <a:ln/>
        </p:spPr>
        <p:txBody>
          <a:bodyPr wrap="square" lIns="0" tIns="0" rIns="0" bIns="0" rtlCol="0" anchor="ctr"/>
          <a:lstStyle/>
          <a:p>
            <a:pPr indent="0" marL="0">
              <a:buNone/>
            </a:pPr>
            <a:r>
              <a:rPr lang="en-US" sz="1250" i="1" dirty="0">
                <a:solidFill>
                  <a:srgbClr val="6B7280"/>
                </a:solidFill>
              </a:rPr>
              <a:t>Window functions aggregate without collapsing rows: each day keeps its own row and gets a running total.</a:t>
            </a:r>
            <a:endParaRPr lang="en-US" sz="12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The one-offer policy, as a trigger</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M3  </a:t>
            </a:r>
            <a:pPr algn="ctr" indent="0" marL="0">
              <a:buNone/>
            </a:pPr>
            <a:r>
              <a:rPr lang="en-US" sz="1200" dirty="0">
                <a:solidFill>
                  <a:srgbClr val="312E81"/>
                </a:solidFill>
              </a:rPr>
              <a:t>[Member 3]</a:t>
            </a:r>
            <a:endParaRPr lang="en-US" sz="1200" dirty="0"/>
          </a:p>
        </p:txBody>
      </p:sp>
      <p:sp>
        <p:nvSpPr>
          <p:cNvPr id="5" name="Shape 3"/>
          <p:cNvSpPr/>
          <p:nvPr/>
        </p:nvSpPr>
        <p:spPr>
          <a:xfrm>
            <a:off x="1655064" y="1197864"/>
            <a:ext cx="8851392" cy="5102352"/>
          </a:xfrm>
          <a:prstGeom prst="roundRect">
            <a:avLst>
              <a:gd name="adj" fmla="val 896"/>
            </a:avLst>
          </a:prstGeom>
          <a:solidFill>
            <a:srgbClr val="FFFFFF"/>
          </a:solidFill>
          <a:ln w="12700">
            <a:solidFill>
              <a:srgbClr val="E5E7EB"/>
            </a:solidFill>
            <a:prstDash val="solid"/>
          </a:ln>
        </p:spPr>
      </p:sp>
      <p:pic>
        <p:nvPicPr>
          <p:cNvPr id="6" name="Image 0" descr="C:\Users\bhavy\Downloads\DBMS-20261028T151751Z-1-001\DBMS\Project\deliverables\diagrams\trigger_flow.png">    </p:cNvPr>
          <p:cNvPicPr>
            <a:picLocks noChangeAspect="1"/>
          </p:cNvPicPr>
          <p:nvPr/>
        </p:nvPicPr>
        <p:blipFill>
          <a:blip r:embed="rId1"/>
          <a:stretch>
            <a:fillRect/>
          </a:stretch>
        </p:blipFill>
        <p:spPr>
          <a:xfrm>
            <a:off x="1691640" y="1234440"/>
            <a:ext cx="8778240" cy="5029200"/>
          </a:xfrm>
          <a:prstGeom prst="rect">
            <a:avLst/>
          </a:prstGeom>
        </p:spPr>
      </p:pic>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Live demo: accept an offer, watch the cascade</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M3  </a:t>
            </a:r>
            <a:pPr algn="ctr" indent="0" marL="0">
              <a:buNone/>
            </a:pPr>
            <a:r>
              <a:rPr lang="en-US" sz="1200" dirty="0">
                <a:solidFill>
                  <a:srgbClr val="312E81"/>
                </a:solidFill>
              </a:rPr>
              <a:t>[Member 3]</a:t>
            </a:r>
            <a:endParaRPr lang="en-US" sz="1200" dirty="0"/>
          </a:p>
        </p:txBody>
      </p:sp>
      <p:sp>
        <p:nvSpPr>
          <p:cNvPr id="5" name="Shape 3"/>
          <p:cNvSpPr/>
          <p:nvPr/>
        </p:nvSpPr>
        <p:spPr>
          <a:xfrm>
            <a:off x="512064" y="1289304"/>
            <a:ext cx="7296912" cy="4590288"/>
          </a:xfrm>
          <a:prstGeom prst="roundRect">
            <a:avLst>
              <a:gd name="adj" fmla="val 996"/>
            </a:avLst>
          </a:prstGeom>
          <a:solidFill>
            <a:srgbClr val="FFFFFF"/>
          </a:solidFill>
          <a:ln w="12700">
            <a:solidFill>
              <a:srgbClr val="E5E7EB"/>
            </a:solidFill>
            <a:prstDash val="solid"/>
          </a:ln>
        </p:spPr>
      </p:sp>
      <p:pic>
        <p:nvPicPr>
          <p:cNvPr id="6" name="Image 0" descr="C:\Users\bhavy\Downloads\DBMS-20261028T151751Z-1-001\DBMS\Project\deliverables\screenshots\demo_05_accept_cascade.png">    </p:cNvPr>
          <p:cNvPicPr>
            <a:picLocks noChangeAspect="1"/>
          </p:cNvPicPr>
          <p:nvPr/>
        </p:nvPicPr>
        <p:blipFill>
          <a:blip r:embed="rId1"/>
          <a:stretch>
            <a:fillRect/>
          </a:stretch>
        </p:blipFill>
        <p:spPr>
          <a:xfrm>
            <a:off x="548640" y="1325880"/>
            <a:ext cx="7223760" cy="4517136"/>
          </a:xfrm>
          <a:prstGeom prst="rect">
            <a:avLst/>
          </a:prstGeom>
        </p:spPr>
      </p:pic>
      <p:sp>
        <p:nvSpPr>
          <p:cNvPr id="7" name="Shape 4"/>
          <p:cNvSpPr/>
          <p:nvPr/>
        </p:nvSpPr>
        <p:spPr>
          <a:xfrm>
            <a:off x="8092440" y="1371600"/>
            <a:ext cx="438912" cy="438912"/>
          </a:xfrm>
          <a:prstGeom prst="ellipse">
            <a:avLst/>
          </a:prstGeom>
          <a:solidFill>
            <a:srgbClr val="C2410C"/>
          </a:solidFill>
          <a:ln w="12700">
            <a:solidFill>
              <a:srgbClr val="C2410C"/>
            </a:solidFill>
            <a:prstDash val="solid"/>
          </a:ln>
        </p:spPr>
      </p:sp>
      <p:sp>
        <p:nvSpPr>
          <p:cNvPr id="8" name="Text 5"/>
          <p:cNvSpPr txBox="1"/>
          <p:nvPr/>
        </p:nvSpPr>
        <p:spPr>
          <a:xfrm>
            <a:off x="80924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6"/>
          <p:cNvSpPr txBox="1"/>
          <p:nvPr/>
        </p:nvSpPr>
        <p:spPr>
          <a:xfrm>
            <a:off x="8641080" y="1325880"/>
            <a:ext cx="3017520" cy="1005840"/>
          </a:xfrm>
          <a:prstGeom prst="rect">
            <a:avLst/>
          </a:prstGeom>
          <a:noFill/>
          <a:ln/>
        </p:spPr>
        <p:txBody>
          <a:bodyPr wrap="square" lIns="0" tIns="0" rIns="0" bIns="0" rtlCol="0" anchor="t"/>
          <a:lstStyle/>
          <a:p>
            <a:pPr indent="0" marL="0">
              <a:buNone/>
            </a:pPr>
            <a:r>
              <a:rPr lang="en-US" sz="1500" b="1" dirty="0">
                <a:solidFill>
                  <a:srgbClr val="1F2937"/>
                </a:solidFill>
              </a:rPr>
              <a:t>Second offer</a:t>
            </a:r>
            <a:endParaRPr lang="en-US" sz="1500" dirty="0"/>
          </a:p>
          <a:p>
            <a:pPr indent="0" marL="0">
              <a:buNone/>
            </a:pPr>
            <a:r>
              <a:rPr lang="en-US" sz="1300" dirty="0">
                <a:solidFill>
                  <a:srgbClr val="374151"/>
                </a:solidFill>
              </a:rPr>
              <a:t>Monsoon Foods makes Dev Saxena an offer; trigger marks the application OFFERED</a:t>
            </a:r>
            <a:endParaRPr lang="en-US" sz="1500" dirty="0"/>
          </a:p>
        </p:txBody>
      </p:sp>
      <p:sp>
        <p:nvSpPr>
          <p:cNvPr id="10" name="Shape 7"/>
          <p:cNvSpPr/>
          <p:nvPr/>
        </p:nvSpPr>
        <p:spPr>
          <a:xfrm>
            <a:off x="8092440" y="2450592"/>
            <a:ext cx="438912" cy="438912"/>
          </a:xfrm>
          <a:prstGeom prst="ellipse">
            <a:avLst/>
          </a:prstGeom>
          <a:solidFill>
            <a:srgbClr val="C2410C"/>
          </a:solidFill>
          <a:ln w="12700">
            <a:solidFill>
              <a:srgbClr val="C2410C"/>
            </a:solidFill>
            <a:prstDash val="solid"/>
          </a:ln>
        </p:spPr>
      </p:sp>
      <p:sp>
        <p:nvSpPr>
          <p:cNvPr id="11" name="Text 8"/>
          <p:cNvSpPr txBox="1"/>
          <p:nvPr/>
        </p:nvSpPr>
        <p:spPr>
          <a:xfrm>
            <a:off x="8092440" y="245059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9"/>
          <p:cNvSpPr txBox="1"/>
          <p:nvPr/>
        </p:nvSpPr>
        <p:spPr>
          <a:xfrm>
            <a:off x="8641080" y="2404872"/>
            <a:ext cx="3017520" cy="1005840"/>
          </a:xfrm>
          <a:prstGeom prst="rect">
            <a:avLst/>
          </a:prstGeom>
          <a:noFill/>
          <a:ln/>
        </p:spPr>
        <p:txBody>
          <a:bodyPr wrap="square" lIns="0" tIns="0" rIns="0" bIns="0" rtlCol="0" anchor="t"/>
          <a:lstStyle/>
          <a:p>
            <a:pPr indent="0" marL="0">
              <a:buNone/>
            </a:pPr>
            <a:r>
              <a:rPr lang="en-US" sz="1500" b="1" dirty="0">
                <a:solidFill>
                  <a:srgbClr val="1F2937"/>
                </a:solidFill>
              </a:rPr>
              <a:t>Accept</a:t>
            </a:r>
            <a:endParaRPr lang="en-US" sz="1500" dirty="0"/>
          </a:p>
          <a:p>
            <a:pPr indent="0" marL="0">
              <a:buNone/>
            </a:pPr>
            <a:r>
              <a:rPr lang="en-US" sz="1300" dirty="0">
                <a:solidFill>
                  <a:srgbClr val="374151"/>
                </a:solidFill>
              </a:rPr>
              <a:t>Dev accepts DataSutra: CALL sp_accept_offer()</a:t>
            </a:r>
            <a:endParaRPr lang="en-US" sz="1500" dirty="0"/>
          </a:p>
        </p:txBody>
      </p:sp>
      <p:sp>
        <p:nvSpPr>
          <p:cNvPr id="13" name="Shape 10"/>
          <p:cNvSpPr/>
          <p:nvPr/>
        </p:nvSpPr>
        <p:spPr>
          <a:xfrm>
            <a:off x="8092440" y="3529584"/>
            <a:ext cx="438912" cy="438912"/>
          </a:xfrm>
          <a:prstGeom prst="ellipse">
            <a:avLst/>
          </a:prstGeom>
          <a:solidFill>
            <a:srgbClr val="C2410C"/>
          </a:solidFill>
          <a:ln w="12700">
            <a:solidFill>
              <a:srgbClr val="C2410C"/>
            </a:solidFill>
            <a:prstDash val="solid"/>
          </a:ln>
        </p:spPr>
      </p:sp>
      <p:sp>
        <p:nvSpPr>
          <p:cNvPr id="14" name="Text 11"/>
          <p:cNvSpPr txBox="1"/>
          <p:nvPr/>
        </p:nvSpPr>
        <p:spPr>
          <a:xfrm>
            <a:off x="8092440" y="352958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2"/>
          <p:cNvSpPr txBox="1"/>
          <p:nvPr/>
        </p:nvSpPr>
        <p:spPr>
          <a:xfrm>
            <a:off x="8641080" y="3483864"/>
            <a:ext cx="3017520" cy="1005840"/>
          </a:xfrm>
          <a:prstGeom prst="rect">
            <a:avLst/>
          </a:prstGeom>
          <a:noFill/>
          <a:ln/>
        </p:spPr>
        <p:txBody>
          <a:bodyPr wrap="square" lIns="0" tIns="0" rIns="0" bIns="0" rtlCol="0" anchor="t"/>
          <a:lstStyle/>
          <a:p>
            <a:pPr indent="0" marL="0">
              <a:buNone/>
            </a:pPr>
            <a:r>
              <a:rPr lang="en-US" sz="1500" b="1" dirty="0">
                <a:solidFill>
                  <a:srgbClr val="1F2937"/>
                </a:solidFill>
              </a:rPr>
              <a:t>Cascade</a:t>
            </a:r>
            <a:endParaRPr lang="en-US" sz="1500" dirty="0"/>
          </a:p>
          <a:p>
            <a:pPr indent="0" marL="0">
              <a:buNone/>
            </a:pPr>
            <a:r>
              <a:rPr lang="en-US" sz="1300" dirty="0">
                <a:solidFill>
                  <a:srgbClr val="374151"/>
                </a:solidFill>
              </a:rPr>
              <a:t>Other offer DECLINED, open application WITHDRAWN, interviews freed, all logged</a:t>
            </a:r>
            <a:endParaRPr lang="en-US" sz="1500" dirty="0"/>
          </a:p>
        </p:txBody>
      </p:sp>
      <p:sp>
        <p:nvSpPr>
          <p:cNvPr id="16" name="Shape 13"/>
          <p:cNvSpPr/>
          <p:nvPr/>
        </p:nvSpPr>
        <p:spPr>
          <a:xfrm>
            <a:off x="8092440" y="4608576"/>
            <a:ext cx="438912" cy="438912"/>
          </a:xfrm>
          <a:prstGeom prst="ellipse">
            <a:avLst/>
          </a:prstGeom>
          <a:solidFill>
            <a:srgbClr val="C2410C"/>
          </a:solidFill>
          <a:ln w="12700">
            <a:solidFill>
              <a:srgbClr val="C2410C"/>
            </a:solidFill>
            <a:prstDash val="solid"/>
          </a:ln>
        </p:spPr>
      </p:sp>
      <p:sp>
        <p:nvSpPr>
          <p:cNvPr id="17" name="Text 14"/>
          <p:cNvSpPr txBox="1"/>
          <p:nvPr/>
        </p:nvSpPr>
        <p:spPr>
          <a:xfrm>
            <a:off x="8092440" y="46085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5"/>
          <p:cNvSpPr txBox="1"/>
          <p:nvPr/>
        </p:nvSpPr>
        <p:spPr>
          <a:xfrm>
            <a:off x="8641080" y="4562856"/>
            <a:ext cx="3017520" cy="1005840"/>
          </a:xfrm>
          <a:prstGeom prst="rect">
            <a:avLst/>
          </a:prstGeom>
          <a:noFill/>
          <a:ln/>
        </p:spPr>
        <p:txBody>
          <a:bodyPr wrap="square" lIns="0" tIns="0" rIns="0" bIns="0" rtlCol="0" anchor="t"/>
          <a:lstStyle/>
          <a:p>
            <a:pPr indent="0" marL="0">
              <a:buNone/>
            </a:pPr>
            <a:r>
              <a:rPr lang="en-US" sz="1500" b="1" dirty="0">
                <a:solidFill>
                  <a:srgbClr val="1F2937"/>
                </a:solidFill>
              </a:rPr>
              <a:t>Guard</a:t>
            </a:r>
            <a:endParaRPr lang="en-US" sz="1500" dirty="0"/>
          </a:p>
          <a:p>
            <a:pPr indent="0" marL="0">
              <a:buNone/>
            </a:pPr>
            <a:r>
              <a:rPr lang="en-US" sz="1300" dirty="0">
                <a:solidFill>
                  <a:srgbClr val="374151"/>
                </a:solidFill>
              </a:rPr>
              <a:t>Applying again, or a CGPA below the cut-off, is refused with the trigger's message</a:t>
            </a:r>
            <a:endParaRPr lang="en-US" sz="1500" dirty="0"/>
          </a:p>
        </p:txBody>
      </p:sp>
      <p:sp>
        <p:nvSpPr>
          <p:cNvPr id="19" name="Text 16"/>
          <p:cNvSpPr txBox="1"/>
          <p:nvPr/>
        </p:nvSpPr>
        <p:spPr>
          <a:xfrm>
            <a:off x="8092440" y="5715000"/>
            <a:ext cx="3566160" cy="320040"/>
          </a:xfrm>
          <a:prstGeom prst="rect">
            <a:avLst/>
          </a:prstGeom>
          <a:noFill/>
          <a:ln/>
        </p:spPr>
        <p:txBody>
          <a:bodyPr wrap="square" lIns="0" tIns="0" rIns="0" bIns="0" rtlCol="0" anchor="ctr"/>
          <a:lstStyle/>
          <a:p>
            <a:pPr indent="0" marL="0">
              <a:buNone/>
            </a:pPr>
            <a:r>
              <a:rPr lang="en-US" sz="1150" i="1" dirty="0">
                <a:solidFill>
                  <a:srgbClr val="6B7280"/>
                </a:solidFill>
              </a:rPr>
              <a:t>Backup if the live demo fails: PlaceIQ_Demo_Video.webm</a:t>
            </a:r>
            <a:endParaRPr lang="en-US" sz="11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Analytics (1/4): the database does the statistics</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M4  </a:t>
            </a:r>
            <a:pPr algn="ctr" indent="0" marL="0">
              <a:buNone/>
            </a:pPr>
            <a:r>
              <a:rPr lang="en-US" sz="1200" dirty="0">
                <a:solidFill>
                  <a:srgbClr val="312E81"/>
                </a:solidFill>
              </a:rPr>
              <a:t>[Member 4]</a:t>
            </a:r>
            <a:endParaRPr lang="en-US" sz="1200" dirty="0"/>
          </a:p>
        </p:txBody>
      </p:sp>
      <p:graphicFrame>
        <p:nvGraphicFramePr>
          <p:cNvPr id="5" name="Chart 0" descr=""/>
          <p:cNvGraphicFramePr/>
          <p:nvPr/>
        </p:nvGraphicFramePr>
        <p:xfrm>
          <a:off x="548640" y="1325880"/>
          <a:ext cx="5760720" cy="3337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4800600"/>
            <a:ext cx="5760720" cy="1188720"/>
          </a:xfrm>
          <a:prstGeom prst="roundRect">
            <a:avLst>
              <a:gd name="adj" fmla="val 6154"/>
            </a:avLst>
          </a:prstGeom>
          <a:solidFill>
            <a:srgbClr val="0F172A"/>
          </a:solidFill>
          <a:ln w="12700">
            <a:solidFill>
              <a:srgbClr val="0F172A"/>
            </a:solidFill>
            <a:prstDash val="solid"/>
          </a:ln>
        </p:spPr>
      </p:sp>
      <p:sp>
        <p:nvSpPr>
          <p:cNvPr id="7" name="Text 4"/>
          <p:cNvSpPr txBox="1"/>
          <p:nvPr/>
        </p:nvSpPr>
        <p:spPr>
          <a:xfrm>
            <a:off x="731520" y="4937760"/>
            <a:ext cx="5394960" cy="914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SELECT width_bucket(cgpa, 6, 10, 4) AS band, count(*),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count(*) FILTER (WHERE status = 'PLACED')</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FROM student LEFT JOIN v_placement_status ... GROUP BY band;</a:t>
            </a:r>
            <a:endParaRPr lang="en-US" sz="1100" dirty="0"/>
          </a:p>
        </p:txBody>
      </p:sp>
      <p:sp>
        <p:nvSpPr>
          <p:cNvPr id="8" name="Shape 5"/>
          <p:cNvSpPr/>
          <p:nvPr/>
        </p:nvSpPr>
        <p:spPr>
          <a:xfrm>
            <a:off x="6629400" y="1325880"/>
            <a:ext cx="5029200" cy="1280160"/>
          </a:xfrm>
          <a:prstGeom prst="roundRect">
            <a:avLst>
              <a:gd name="adj" fmla="val 7143"/>
            </a:avLst>
          </a:prstGeom>
          <a:solidFill>
            <a:srgbClr val="F6F7FB"/>
          </a:solidFill>
          <a:ln w="12700">
            <a:solidFill>
              <a:srgbClr val="E5E7EB"/>
            </a:solidFill>
            <a:prstDash val="solid"/>
          </a:ln>
        </p:spPr>
      </p:sp>
      <p:sp>
        <p:nvSpPr>
          <p:cNvPr id="9" name="Text 6"/>
          <p:cNvSpPr txBox="1"/>
          <p:nvPr/>
        </p:nvSpPr>
        <p:spPr>
          <a:xfrm>
            <a:off x="6793992" y="1435608"/>
            <a:ext cx="4700016" cy="1060704"/>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A1 · CGPA</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Mean 7.88, median 7.87, SD 0.78: symmetric. ANOVA across programs p = 0.907: the programs do not differ.</a:t>
            </a:r>
            <a:endParaRPr lang="en-US" sz="1400" dirty="0"/>
          </a:p>
        </p:txBody>
      </p:sp>
      <p:sp>
        <p:nvSpPr>
          <p:cNvPr id="10" name="Shape 7"/>
          <p:cNvSpPr/>
          <p:nvPr/>
        </p:nvSpPr>
        <p:spPr>
          <a:xfrm>
            <a:off x="6629400" y="2743200"/>
            <a:ext cx="5029200" cy="1280160"/>
          </a:xfrm>
          <a:prstGeom prst="roundRect">
            <a:avLst>
              <a:gd name="adj" fmla="val 7143"/>
            </a:avLst>
          </a:prstGeom>
          <a:solidFill>
            <a:srgbClr val="F6F7FB"/>
          </a:solidFill>
          <a:ln w="12700">
            <a:solidFill>
              <a:srgbClr val="E5E7EB"/>
            </a:solidFill>
            <a:prstDash val="solid"/>
          </a:ln>
        </p:spPr>
      </p:sp>
      <p:sp>
        <p:nvSpPr>
          <p:cNvPr id="11" name="Text 8"/>
          <p:cNvSpPr txBox="1"/>
          <p:nvPr/>
        </p:nvSpPr>
        <p:spPr>
          <a:xfrm>
            <a:off x="6793992" y="2852928"/>
            <a:ext cx="4700016" cy="1060704"/>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A3 · Funnel</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45–49% of applications reach an interview, but only 4–9% become offers: students fail after the interview, not at the CV.</a:t>
            </a:r>
            <a:endParaRPr lang="en-US" sz="1400" dirty="0"/>
          </a:p>
        </p:txBody>
      </p:sp>
      <p:sp>
        <p:nvSpPr>
          <p:cNvPr id="12" name="Shape 9"/>
          <p:cNvSpPr/>
          <p:nvPr/>
        </p:nvSpPr>
        <p:spPr>
          <a:xfrm>
            <a:off x="6629400" y="4160520"/>
            <a:ext cx="5029200" cy="1280160"/>
          </a:xfrm>
          <a:prstGeom prst="roundRect">
            <a:avLst>
              <a:gd name="adj" fmla="val 7143"/>
            </a:avLst>
          </a:prstGeom>
          <a:solidFill>
            <a:srgbClr val="F6F7FB"/>
          </a:solidFill>
          <a:ln w="12700">
            <a:solidFill>
              <a:srgbClr val="E5E7EB"/>
            </a:solidFill>
            <a:prstDash val="solid"/>
          </a:ln>
        </p:spPr>
      </p:sp>
      <p:sp>
        <p:nvSpPr>
          <p:cNvPr id="13" name="Text 10"/>
          <p:cNvSpPr txBox="1"/>
          <p:nvPr/>
        </p:nvSpPr>
        <p:spPr>
          <a:xfrm>
            <a:off x="6793992" y="4270248"/>
            <a:ext cx="4700016" cy="1060704"/>
          </a:xfrm>
          <a:prstGeom prst="rect">
            <a:avLst/>
          </a:prstGeom>
          <a:noFill/>
          <a:ln/>
        </p:spPr>
        <p:txBody>
          <a:bodyPr wrap="square" lIns="0" tIns="0" rIns="0" bIns="0" rtlCol="0" anchor="t"/>
          <a:lstStyle/>
          <a:p>
            <a:pPr indent="0" marL="0">
              <a:spcAft>
                <a:spcPts val="400"/>
              </a:spcAft>
              <a:buNone/>
            </a:pPr>
            <a:r>
              <a:rPr lang="en-US" sz="1400" b="1" dirty="0">
                <a:solidFill>
                  <a:srgbClr val="4F46E5"/>
                </a:solidFill>
                <a:latin typeface="Calibri" pitchFamily="34" charset="0"/>
                <a:ea typeface="Calibri" pitchFamily="34" charset="-122"/>
                <a:cs typeface="Calibri" pitchFamily="34" charset="-120"/>
              </a:rPr>
              <a:t>A4 · Skill gap</a:t>
            </a:r>
            <a:endParaRPr lang="en-US" sz="140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SQL has the most jobs per proficient student, then Excel and Statistics: run workshops there first.</a:t>
            </a:r>
            <a:endParaRPr lang="en-US" sz="1400" dirty="0"/>
          </a:p>
        </p:txBody>
      </p:sp>
      <p:sp>
        <p:nvSpPr>
          <p:cNvPr id="14" name="Text 11"/>
          <p:cNvSpPr txBox="1"/>
          <p:nvPr/>
        </p:nvSpPr>
        <p:spPr>
          <a:xfrm>
            <a:off x="6629400" y="5623560"/>
            <a:ext cx="5029200" cy="365760"/>
          </a:xfrm>
          <a:prstGeom prst="rect">
            <a:avLst/>
          </a:prstGeom>
          <a:noFill/>
          <a:ln/>
        </p:spPr>
        <p:txBody>
          <a:bodyPr wrap="square" lIns="0" tIns="0" rIns="0" bIns="0" rtlCol="0" anchor="ctr"/>
          <a:lstStyle/>
          <a:p>
            <a:pPr indent="0" marL="0">
              <a:buNone/>
            </a:pPr>
            <a:r>
              <a:rPr lang="en-US" sz="1200" b="1" dirty="0">
                <a:solidFill>
                  <a:srgbClr val="4F46E5"/>
                </a:solidFill>
              </a:rPr>
              <a:t>γ band; count(*), count(σ status='PLACED') ( Student ⟕ σ cycle='FINAL' (PlacementStatus) )</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Analytics (2/4): features in SQL, k from data</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M4  </a:t>
            </a:r>
            <a:pPr algn="ctr" indent="0" marL="0">
              <a:buNone/>
            </a:pPr>
            <a:r>
              <a:rPr lang="en-US" sz="1200" dirty="0">
                <a:solidFill>
                  <a:srgbClr val="312E81"/>
                </a:solidFill>
              </a:rPr>
              <a:t>[Member 4]</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325880"/>
                <a:gridCol w="2880360"/>
                <a:gridCol w="1828800"/>
              </a:tblGrid>
              <a:tr h="40233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should matter</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Built from</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r>
              <a:tr h="402336">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cgpa</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Recruiters' first filter (A2)</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tech_score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Analytics roles screen on Python, SQL, ML</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student_skill ⋈ skill</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402336">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biz_score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Consulting &amp; finance screen on cases, Excel</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student_skill ⋈ skill</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applications</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No application, no offer</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application</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402336">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interview_rate</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Share of applications reaching interview</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50" dirty="0">
                          <a:solidFill>
                            <a:srgbClr val="374151"/>
                          </a:solidFill>
                          <a:latin typeface="Calibri" pitchFamily="34" charset="0"/>
                          <a:ea typeface="Calibri" pitchFamily="34" charset="-122"/>
                          <a:cs typeface="Calibri" pitchFamily="34" charset="-120"/>
                        </a:rPr>
                        <a:t>application, interview</a:t>
                      </a:r>
                      <a:endParaRPr lang="en-US" sz="125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977640"/>
            <a:ext cx="6035040" cy="2011680"/>
          </a:xfrm>
          <a:prstGeom prst="roundRect">
            <a:avLst>
              <a:gd name="adj" fmla="val 4545"/>
            </a:avLst>
          </a:prstGeom>
          <a:solidFill>
            <a:srgbClr val="FFF4E6"/>
          </a:solidFill>
          <a:ln w="12700">
            <a:solidFill>
              <a:srgbClr val="FED7AA"/>
            </a:solidFill>
            <a:prstDash val="solid"/>
          </a:ln>
        </p:spPr>
      </p:sp>
      <p:sp>
        <p:nvSpPr>
          <p:cNvPr id="7" name="Text 4"/>
          <p:cNvSpPr txBox="1"/>
          <p:nvPr/>
        </p:nvSpPr>
        <p:spPr>
          <a:xfrm>
            <a:off x="713232" y="4087368"/>
            <a:ext cx="5705856" cy="1792224"/>
          </a:xfrm>
          <a:prstGeom prst="rect">
            <a:avLst/>
          </a:prstGeom>
          <a:noFill/>
          <a:ln/>
        </p:spPr>
        <p:txBody>
          <a:bodyPr wrap="square" lIns="0" tIns="0" rIns="0" bIns="0" rtlCol="0" anchor="t"/>
          <a:lstStyle/>
          <a:p>
            <a:pPr indent="0" marL="0">
              <a:spcAft>
                <a:spcPts val="400"/>
              </a:spcAft>
              <a:buNone/>
            </a:pPr>
            <a:r>
              <a:rPr lang="en-US" sz="1500" b="1" dirty="0">
                <a:solidFill>
                  <a:srgbClr val="C2410C"/>
                </a:solidFill>
                <a:latin typeface="Calibri" pitchFamily="34" charset="0"/>
                <a:ea typeface="Calibri" pitchFamily="34" charset="-122"/>
                <a:cs typeface="Calibri" pitchFamily="34" charset="-120"/>
              </a:rPr>
              <a:t>One view, one SELECT</a:t>
            </a:r>
            <a:endParaRPr lang="en-US" sz="1500" dirty="0"/>
          </a:p>
          <a:p>
            <a:pPr indent="0" marL="0">
              <a:spcAft>
                <a:spcPts val="300"/>
              </a:spcAft>
              <a:buNone/>
            </a:pPr>
            <a:r>
              <a:rPr lang="en-US" sz="1300" dirty="0">
                <a:solidFill>
                  <a:srgbClr val="374151"/>
                </a:solidFill>
                <a:latin typeface="Calibri" pitchFamily="34" charset="0"/>
                <a:ea typeface="Calibri" pitchFamily="34" charset="-122"/>
                <a:cs typeface="Calibri" pitchFamily="34" charset="-120"/>
              </a:rPr>
              <a:t>v_student_features joins 6 normalized tables into 177 rows × 5 features: the only student-level data that leaves PostgreSQL.</a:t>
            </a:r>
            <a:endParaRPr lang="en-US" sz="1500" dirty="0"/>
          </a:p>
          <a:p>
            <a:pPr indent="0" marL="0">
              <a:spcAft>
                <a:spcPts val="300"/>
              </a:spcAft>
              <a:buNone/>
            </a:pPr>
            <a:r>
              <a:rPr lang="en-US" sz="1300" dirty="0">
                <a:solidFill>
                  <a:srgbClr val="374151"/>
                </a:solidFill>
                <a:latin typeface="Calibri" pitchFamily="34" charset="0"/>
                <a:ea typeface="Calibri" pitchFamily="34" charset="-122"/>
                <a:cs typeface="Calibri" pitchFamily="34" charset="-120"/>
              </a:rPr>
              <a:t>Offers and CTC are deliberately NOT inputs: we cluster on what the committee sees early, then test the segments against outcomes. Otherwise the result would be circular.</a:t>
            </a:r>
            <a:endParaRPr lang="en-US" sz="1500" dirty="0"/>
          </a:p>
        </p:txBody>
      </p:sp>
      <p:sp>
        <p:nvSpPr>
          <p:cNvPr id="8" name="Shape 5"/>
          <p:cNvSpPr/>
          <p:nvPr/>
        </p:nvSpPr>
        <p:spPr>
          <a:xfrm>
            <a:off x="6867144" y="1335024"/>
            <a:ext cx="4828032" cy="2039112"/>
          </a:xfrm>
          <a:prstGeom prst="roundRect">
            <a:avLst>
              <a:gd name="adj" fmla="val 2242"/>
            </a:avLst>
          </a:prstGeom>
          <a:solidFill>
            <a:srgbClr val="FFFFFF"/>
          </a:solidFill>
          <a:ln w="12700">
            <a:solidFill>
              <a:srgbClr val="E5E7EB"/>
            </a:solidFill>
            <a:prstDash val="solid"/>
          </a:ln>
        </p:spPr>
      </p:sp>
      <p:pic>
        <p:nvPicPr>
          <p:cNvPr id="9" name="Image 0" descr="C:\Users\bhavy\Downloads\DBMS-20261028T151751Z-1-001\DBMS\Project\analytics\figures\03_choose_k.png">    </p:cNvPr>
          <p:cNvPicPr>
            <a:picLocks noChangeAspect="1"/>
          </p:cNvPicPr>
          <p:nvPr/>
        </p:nvPicPr>
        <p:blipFill>
          <a:blip r:embed="rId1"/>
          <a:stretch>
            <a:fillRect/>
          </a:stretch>
        </p:blipFill>
        <p:spPr>
          <a:xfrm>
            <a:off x="6903720" y="1371600"/>
            <a:ext cx="4754880" cy="1965960"/>
          </a:xfrm>
          <a:prstGeom prst="rect">
            <a:avLst/>
          </a:prstGeom>
        </p:spPr>
      </p:pic>
      <p:sp>
        <p:nvSpPr>
          <p:cNvPr id="10" name="Text 6"/>
          <p:cNvSpPr txBox="1"/>
          <p:nvPr/>
        </p:nvSpPr>
        <p:spPr>
          <a:xfrm>
            <a:off x="6903720" y="3566160"/>
            <a:ext cx="4754880" cy="2423160"/>
          </a:xfrm>
          <a:prstGeom prst="rect">
            <a:avLst/>
          </a:prstGeom>
          <a:noFill/>
          <a:ln/>
        </p:spPr>
        <p:txBody>
          <a:bodyPr wrap="square" lIns="0" tIns="0" rIns="0" bIns="0" rtlCol="0" anchor="t"/>
          <a:lstStyle/>
          <a:p>
            <a:pPr indent="0" marL="0">
              <a:spcAft>
                <a:spcPts val="800"/>
              </a:spcAft>
              <a:buNone/>
            </a:pPr>
            <a:r>
              <a:rPr lang="en-US" sz="1350" b="1" dirty="0">
                <a:solidFill>
                  <a:srgbClr val="1F2937"/>
                </a:solidFill>
              </a:rPr>
              <a:t>Standardize first: </a:t>
            </a:r>
            <a:pPr indent="0" marL="0">
              <a:spcAft>
                <a:spcPts val="800"/>
              </a:spcAft>
              <a:buNone/>
            </a:pPr>
            <a:r>
              <a:rPr lang="en-US" sz="1350" dirty="0">
                <a:solidFill>
                  <a:srgbClr val="374151"/>
                </a:solidFill>
              </a:rPr>
              <a:t>k-means uses distance, so unscaled applications (0–14) would outvote interview_rate (0–1).</a:t>
            </a:r>
            <a:endParaRPr lang="en-US" sz="1350" dirty="0"/>
          </a:p>
          <a:p>
            <a:pPr indent="0" marL="0">
              <a:spcAft>
                <a:spcPts val="800"/>
              </a:spcAft>
              <a:buNone/>
            </a:pPr>
            <a:r>
              <a:rPr lang="en-US" sz="1350" b="1" dirty="0">
                <a:solidFill>
                  <a:srgbClr val="1F2937"/>
                </a:solidFill>
              </a:rPr>
              <a:t>k = 4: </a:t>
            </a:r>
            <a:pPr indent="0" marL="0">
              <a:spcAft>
                <a:spcPts val="800"/>
              </a:spcAft>
              <a:buNone/>
            </a:pPr>
            <a:r>
              <a:rPr lang="en-US" sz="1350" dirty="0">
                <a:solidFill>
                  <a:srgbClr val="374151"/>
                </a:solidFill>
              </a:rPr>
              <a:t>inertia flattens after it and the silhouette peaks there (0.298).</a:t>
            </a:r>
            <a:endParaRPr lang="en-US" sz="1350" dirty="0"/>
          </a:p>
          <a:p>
            <a:pPr indent="0" marL="0">
              <a:spcAft>
                <a:spcPts val="800"/>
              </a:spcAft>
              <a:buNone/>
            </a:pPr>
            <a:r>
              <a:rPr lang="en-US" sz="1350" b="1" dirty="0">
                <a:solidFill>
                  <a:srgbClr val="1F2937"/>
                </a:solidFill>
              </a:rPr>
              <a:t>Strongest structure: </a:t>
            </a:r>
            <a:pPr indent="0" marL="0">
              <a:spcAft>
                <a:spcPts val="800"/>
              </a:spcAft>
              <a:buNone/>
            </a:pPr>
            <a:r>
              <a:rPr lang="en-US" sz="1350" dirty="0">
                <a:solidFill>
                  <a:srgbClr val="374151"/>
                </a:solidFill>
              </a:rPr>
              <a:t>tech vs business skills, r = -0.68. Students specialise.</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Analytics (3/4): four segments, profile only</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M4  </a:t>
            </a:r>
            <a:pPr algn="ctr" indent="0" marL="0">
              <a:buNone/>
            </a:pPr>
            <a:r>
              <a:rPr lang="en-US" sz="1200" dirty="0">
                <a:solidFill>
                  <a:srgbClr val="312E81"/>
                </a:solidFill>
              </a:rPr>
              <a:t>[Member 4]</a:t>
            </a:r>
            <a:endParaRPr lang="en-US" sz="1200" dirty="0"/>
          </a:p>
        </p:txBody>
      </p:sp>
      <p:pic>
        <p:nvPicPr>
          <p:cNvPr id="5" name="Image 0" descr="C:\Users\bhavy\Downloads\DBMS-20261028T151751Z-1-001\DBMS\Project\analytics\figures\05_segment_fingerprints.png">    </p:cNvPr>
          <p:cNvPicPr>
            <a:picLocks noChangeAspect="1"/>
          </p:cNvPicPr>
          <p:nvPr/>
        </p:nvPicPr>
        <p:blipFill>
          <a:blip r:embed="rId1"/>
          <a:stretch>
            <a:fillRect/>
          </a:stretch>
        </p:blipFill>
        <p:spPr>
          <a:xfrm>
            <a:off x="548640" y="1280160"/>
            <a:ext cx="11109960" cy="2578608"/>
          </a:xfrm>
          <a:prstGeom prst="rect">
            <a:avLst/>
          </a:prstGeom>
        </p:spPr>
      </p:pic>
      <p:sp>
        <p:nvSpPr>
          <p:cNvPr id="6" name="Shape 3"/>
          <p:cNvSpPr/>
          <p:nvPr/>
        </p:nvSpPr>
        <p:spPr>
          <a:xfrm>
            <a:off x="548640" y="4023360"/>
            <a:ext cx="2670048" cy="1600200"/>
          </a:xfrm>
          <a:prstGeom prst="roundRect">
            <a:avLst>
              <a:gd name="adj" fmla="val 4571"/>
            </a:avLst>
          </a:prstGeom>
          <a:solidFill>
            <a:srgbClr val="F6F7FB"/>
          </a:solidFill>
          <a:ln w="12700">
            <a:solidFill>
              <a:srgbClr val="E5E7EB"/>
            </a:solidFill>
            <a:prstDash val="solid"/>
          </a:ln>
        </p:spPr>
      </p:sp>
      <p:sp>
        <p:nvSpPr>
          <p:cNvPr id="7" name="Shape 4"/>
          <p:cNvSpPr/>
          <p:nvPr/>
        </p:nvSpPr>
        <p:spPr>
          <a:xfrm>
            <a:off x="548640" y="4023360"/>
            <a:ext cx="82296" cy="1600200"/>
          </a:xfrm>
          <a:prstGeom prst="rect">
            <a:avLst/>
          </a:prstGeom>
          <a:solidFill>
            <a:srgbClr val="1BAF7A"/>
          </a:solidFill>
          <a:ln w="12700">
            <a:solidFill>
              <a:srgbClr val="1BAF7A"/>
            </a:solidFill>
            <a:prstDash val="solid"/>
          </a:ln>
        </p:spPr>
      </p:sp>
      <p:sp>
        <p:nvSpPr>
          <p:cNvPr id="8" name="Text 5"/>
          <p:cNvSpPr txBox="1"/>
          <p:nvPr/>
        </p:nvSpPr>
        <p:spPr>
          <a:xfrm>
            <a:off x="749808" y="4087368"/>
            <a:ext cx="2395728" cy="1481328"/>
          </a:xfrm>
          <a:prstGeom prst="rect">
            <a:avLst/>
          </a:prstGeom>
          <a:noFill/>
          <a:ln/>
        </p:spPr>
        <p:txBody>
          <a:bodyPr wrap="square" lIns="0" tIns="0" rIns="0" bIns="0" rtlCol="0" anchor="t"/>
          <a:lstStyle/>
          <a:p>
            <a:pPr indent="0" marL="0">
              <a:buNone/>
            </a:pPr>
            <a:r>
              <a:rPr lang="en-US" sz="1350" b="1" dirty="0">
                <a:solidFill>
                  <a:srgbClr val="1F2937"/>
                </a:solidFill>
              </a:rPr>
              <a:t>High-Achieving Generalists</a:t>
            </a:r>
            <a:endParaRPr lang="en-US" sz="1350" dirty="0"/>
          </a:p>
          <a:p>
            <a:pPr indent="0" marL="0">
              <a:buNone/>
            </a:pPr>
            <a:r>
              <a:rPr lang="en-US" sz="2600" b="1" dirty="0">
                <a:solidFill>
                  <a:srgbClr val="1F2937"/>
                </a:solidFill>
                <a:latin typeface="Cambria" pitchFamily="34" charset="0"/>
                <a:ea typeface="Cambria" pitchFamily="34" charset="-122"/>
                <a:cs typeface="Cambria" pitchFamily="34" charset="-120"/>
              </a:rPr>
              <a:t>41%</a:t>
            </a:r>
            <a:pPr indent="0" marL="0">
              <a:buNone/>
            </a:pPr>
            <a:r>
              <a:rPr lang="en-US" sz="1150" dirty="0">
                <a:solidFill>
                  <a:srgbClr val="6B7280"/>
                </a:solidFill>
              </a:rPr>
              <a:t>  accepted · n = 68</a:t>
            </a:r>
            <a:endParaRPr lang="en-US" sz="1350" dirty="0"/>
          </a:p>
          <a:p>
            <a:pPr indent="0" marL="0">
              <a:buNone/>
            </a:pPr>
            <a:r>
              <a:rPr lang="en-US" sz="1150" dirty="0">
                <a:solidFill>
                  <a:srgbClr val="374151"/>
                </a:solidFill>
              </a:rPr>
              <a:t>High CGPA, business skills, apply widely</a:t>
            </a:r>
            <a:endParaRPr lang="en-US" sz="1350" dirty="0"/>
          </a:p>
        </p:txBody>
      </p:sp>
      <p:sp>
        <p:nvSpPr>
          <p:cNvPr id="9" name="Shape 6"/>
          <p:cNvSpPr/>
          <p:nvPr/>
        </p:nvSpPr>
        <p:spPr>
          <a:xfrm>
            <a:off x="3364992" y="4023360"/>
            <a:ext cx="2670048" cy="1600200"/>
          </a:xfrm>
          <a:prstGeom prst="roundRect">
            <a:avLst>
              <a:gd name="adj" fmla="val 4571"/>
            </a:avLst>
          </a:prstGeom>
          <a:solidFill>
            <a:srgbClr val="F6F7FB"/>
          </a:solidFill>
          <a:ln w="12700">
            <a:solidFill>
              <a:srgbClr val="E5E7EB"/>
            </a:solidFill>
            <a:prstDash val="solid"/>
          </a:ln>
        </p:spPr>
      </p:sp>
      <p:sp>
        <p:nvSpPr>
          <p:cNvPr id="10" name="Shape 7"/>
          <p:cNvSpPr/>
          <p:nvPr/>
        </p:nvSpPr>
        <p:spPr>
          <a:xfrm>
            <a:off x="3364992" y="4023360"/>
            <a:ext cx="82296" cy="1600200"/>
          </a:xfrm>
          <a:prstGeom prst="rect">
            <a:avLst/>
          </a:prstGeom>
          <a:solidFill>
            <a:srgbClr val="2A78D6"/>
          </a:solidFill>
          <a:ln w="12700">
            <a:solidFill>
              <a:srgbClr val="2A78D6"/>
            </a:solidFill>
            <a:prstDash val="solid"/>
          </a:ln>
        </p:spPr>
      </p:sp>
      <p:sp>
        <p:nvSpPr>
          <p:cNvPr id="11" name="Text 8"/>
          <p:cNvSpPr txBox="1"/>
          <p:nvPr/>
        </p:nvSpPr>
        <p:spPr>
          <a:xfrm>
            <a:off x="3566160" y="4087368"/>
            <a:ext cx="2395728" cy="1481328"/>
          </a:xfrm>
          <a:prstGeom prst="rect">
            <a:avLst/>
          </a:prstGeom>
          <a:noFill/>
          <a:ln/>
        </p:spPr>
        <p:txBody>
          <a:bodyPr wrap="square" lIns="0" tIns="0" rIns="0" bIns="0" rtlCol="0" anchor="t"/>
          <a:lstStyle/>
          <a:p>
            <a:pPr indent="0" marL="0">
              <a:buNone/>
            </a:pPr>
            <a:r>
              <a:rPr lang="en-US" sz="1350" b="1" dirty="0">
                <a:solidFill>
                  <a:srgbClr val="1F2937"/>
                </a:solidFill>
              </a:rPr>
              <a:t>Tech Specialists</a:t>
            </a:r>
            <a:endParaRPr lang="en-US" sz="1350" dirty="0"/>
          </a:p>
          <a:p>
            <a:pPr indent="0" marL="0">
              <a:buNone/>
            </a:pPr>
            <a:r>
              <a:rPr lang="en-US" sz="2600" b="1" dirty="0">
                <a:solidFill>
                  <a:srgbClr val="1F2937"/>
                </a:solidFill>
                <a:latin typeface="Cambria" pitchFamily="34" charset="0"/>
                <a:ea typeface="Cambria" pitchFamily="34" charset="-122"/>
                <a:cs typeface="Cambria" pitchFamily="34" charset="-120"/>
              </a:rPr>
              <a:t>36%</a:t>
            </a:r>
            <a:pPr indent="0" marL="0">
              <a:buNone/>
            </a:pPr>
            <a:r>
              <a:rPr lang="en-US" sz="1150" dirty="0">
                <a:solidFill>
                  <a:srgbClr val="6B7280"/>
                </a:solidFill>
              </a:rPr>
              <a:t>  accepted · n = 56</a:t>
            </a:r>
            <a:endParaRPr lang="en-US" sz="1350" dirty="0"/>
          </a:p>
          <a:p>
            <a:pPr indent="0" marL="0">
              <a:buNone/>
            </a:pPr>
            <a:r>
              <a:rPr lang="en-US" sz="1150" dirty="0">
                <a:solidFill>
                  <a:srgbClr val="374151"/>
                </a:solidFill>
              </a:rPr>
              <a:t>Mostly PGDBA, technical skills, best CTC (₹29.3 L)</a:t>
            </a:r>
            <a:endParaRPr lang="en-US" sz="1350" dirty="0"/>
          </a:p>
        </p:txBody>
      </p:sp>
      <p:sp>
        <p:nvSpPr>
          <p:cNvPr id="12" name="Shape 9"/>
          <p:cNvSpPr/>
          <p:nvPr/>
        </p:nvSpPr>
        <p:spPr>
          <a:xfrm>
            <a:off x="6181344" y="4023360"/>
            <a:ext cx="2670048" cy="1600200"/>
          </a:xfrm>
          <a:prstGeom prst="roundRect">
            <a:avLst>
              <a:gd name="adj" fmla="val 4571"/>
            </a:avLst>
          </a:prstGeom>
          <a:solidFill>
            <a:srgbClr val="F6F7FB"/>
          </a:solidFill>
          <a:ln w="12700">
            <a:solidFill>
              <a:srgbClr val="E5E7EB"/>
            </a:solidFill>
            <a:prstDash val="solid"/>
          </a:ln>
        </p:spPr>
      </p:sp>
      <p:sp>
        <p:nvSpPr>
          <p:cNvPr id="13" name="Shape 10"/>
          <p:cNvSpPr/>
          <p:nvPr/>
        </p:nvSpPr>
        <p:spPr>
          <a:xfrm>
            <a:off x="6181344" y="4023360"/>
            <a:ext cx="82296" cy="1600200"/>
          </a:xfrm>
          <a:prstGeom prst="rect">
            <a:avLst/>
          </a:prstGeom>
          <a:solidFill>
            <a:srgbClr val="EDA100"/>
          </a:solidFill>
          <a:ln w="12700">
            <a:solidFill>
              <a:srgbClr val="EDA100"/>
            </a:solidFill>
            <a:prstDash val="solid"/>
          </a:ln>
        </p:spPr>
      </p:sp>
      <p:sp>
        <p:nvSpPr>
          <p:cNvPr id="14" name="Text 11"/>
          <p:cNvSpPr txBox="1"/>
          <p:nvPr/>
        </p:nvSpPr>
        <p:spPr>
          <a:xfrm>
            <a:off x="6382512" y="4087368"/>
            <a:ext cx="2395728" cy="1481328"/>
          </a:xfrm>
          <a:prstGeom prst="rect">
            <a:avLst/>
          </a:prstGeom>
          <a:noFill/>
          <a:ln/>
        </p:spPr>
        <p:txBody>
          <a:bodyPr wrap="square" lIns="0" tIns="0" rIns="0" bIns="0" rtlCol="0" anchor="t"/>
          <a:lstStyle/>
          <a:p>
            <a:pPr indent="0" marL="0">
              <a:buNone/>
            </a:pPr>
            <a:r>
              <a:rPr lang="en-US" sz="1350" b="1" dirty="0">
                <a:solidFill>
                  <a:srgbClr val="1F2937"/>
                </a:solidFill>
              </a:rPr>
              <a:t>Selective Appliers</a:t>
            </a:r>
            <a:endParaRPr lang="en-US" sz="1350" dirty="0"/>
          </a:p>
          <a:p>
            <a:pPr indent="0" marL="0">
              <a:buNone/>
            </a:pPr>
            <a:r>
              <a:rPr lang="en-US" sz="2600" b="1" dirty="0">
                <a:solidFill>
                  <a:srgbClr val="1F2937"/>
                </a:solidFill>
                <a:latin typeface="Cambria" pitchFamily="34" charset="0"/>
                <a:ea typeface="Cambria" pitchFamily="34" charset="-122"/>
                <a:cs typeface="Cambria" pitchFamily="34" charset="-120"/>
              </a:rPr>
              <a:t>0%</a:t>
            </a:r>
            <a:pPr indent="0" marL="0">
              <a:buNone/>
            </a:pPr>
            <a:r>
              <a:rPr lang="en-US" sz="1150" dirty="0">
                <a:solidFill>
                  <a:srgbClr val="6B7280"/>
                </a:solidFill>
              </a:rPr>
              <a:t>  accepted · n = 19</a:t>
            </a:r>
            <a:endParaRPr lang="en-US" sz="1350" dirty="0"/>
          </a:p>
          <a:p>
            <a:pPr indent="0" marL="0">
              <a:buNone/>
            </a:pPr>
            <a:r>
              <a:rPr lang="en-US" sz="1150" dirty="0">
                <a:solidFill>
                  <a:srgbClr val="374151"/>
                </a:solidFill>
              </a:rPr>
              <a:t>Avg CGPA; 88% reach interview, but only 2.6 applications</a:t>
            </a:r>
            <a:endParaRPr lang="en-US" sz="1350" dirty="0"/>
          </a:p>
        </p:txBody>
      </p:sp>
      <p:sp>
        <p:nvSpPr>
          <p:cNvPr id="15" name="Shape 12"/>
          <p:cNvSpPr/>
          <p:nvPr/>
        </p:nvSpPr>
        <p:spPr>
          <a:xfrm>
            <a:off x="8997696" y="4023360"/>
            <a:ext cx="2670048" cy="1600200"/>
          </a:xfrm>
          <a:prstGeom prst="roundRect">
            <a:avLst>
              <a:gd name="adj" fmla="val 4571"/>
            </a:avLst>
          </a:prstGeom>
          <a:solidFill>
            <a:srgbClr val="F6F7FB"/>
          </a:solidFill>
          <a:ln w="12700">
            <a:solidFill>
              <a:srgbClr val="E5E7EB"/>
            </a:solidFill>
            <a:prstDash val="solid"/>
          </a:ln>
        </p:spPr>
      </p:sp>
      <p:sp>
        <p:nvSpPr>
          <p:cNvPr id="16" name="Shape 13"/>
          <p:cNvSpPr/>
          <p:nvPr/>
        </p:nvSpPr>
        <p:spPr>
          <a:xfrm>
            <a:off x="8997696" y="4023360"/>
            <a:ext cx="82296" cy="1600200"/>
          </a:xfrm>
          <a:prstGeom prst="rect">
            <a:avLst/>
          </a:prstGeom>
          <a:solidFill>
            <a:srgbClr val="EB6834"/>
          </a:solidFill>
          <a:ln w="12700">
            <a:solidFill>
              <a:srgbClr val="EB6834"/>
            </a:solidFill>
            <a:prstDash val="solid"/>
          </a:ln>
        </p:spPr>
      </p:sp>
      <p:sp>
        <p:nvSpPr>
          <p:cNvPr id="17" name="Text 14"/>
          <p:cNvSpPr txBox="1"/>
          <p:nvPr/>
        </p:nvSpPr>
        <p:spPr>
          <a:xfrm>
            <a:off x="9198864" y="4087368"/>
            <a:ext cx="2395728" cy="1481328"/>
          </a:xfrm>
          <a:prstGeom prst="rect">
            <a:avLst/>
          </a:prstGeom>
          <a:noFill/>
          <a:ln/>
        </p:spPr>
        <p:txBody>
          <a:bodyPr wrap="square" lIns="0" tIns="0" rIns="0" bIns="0" rtlCol="0" anchor="t"/>
          <a:lstStyle/>
          <a:p>
            <a:pPr indent="0" marL="0">
              <a:buNone/>
            </a:pPr>
            <a:r>
              <a:rPr lang="en-US" sz="1350" b="1" dirty="0">
                <a:solidFill>
                  <a:srgbClr val="1F2937"/>
                </a:solidFill>
              </a:rPr>
              <a:t>At-Risk</a:t>
            </a:r>
            <a:endParaRPr lang="en-US" sz="1350" dirty="0"/>
          </a:p>
          <a:p>
            <a:pPr indent="0" marL="0">
              <a:buNone/>
            </a:pPr>
            <a:r>
              <a:rPr lang="en-US" sz="2600" b="1" dirty="0">
                <a:solidFill>
                  <a:srgbClr val="1F2937"/>
                </a:solidFill>
                <a:latin typeface="Cambria" pitchFamily="34" charset="0"/>
                <a:ea typeface="Cambria" pitchFamily="34" charset="-122"/>
                <a:cs typeface="Cambria" pitchFamily="34" charset="-120"/>
              </a:rPr>
              <a:t>3%</a:t>
            </a:r>
            <a:pPr indent="0" marL="0">
              <a:buNone/>
            </a:pPr>
            <a:r>
              <a:rPr lang="en-US" sz="1150" dirty="0">
                <a:solidFill>
                  <a:srgbClr val="6B7280"/>
                </a:solidFill>
              </a:rPr>
              <a:t>  accepted · n = 34</a:t>
            </a:r>
            <a:endParaRPr lang="en-US" sz="1350" dirty="0"/>
          </a:p>
          <a:p>
            <a:pPr indent="0" marL="0">
              <a:buNone/>
            </a:pPr>
            <a:r>
              <a:rPr lang="en-US" sz="1150" dirty="0">
                <a:solidFill>
                  <a:srgbClr val="374151"/>
                </a:solidFill>
              </a:rPr>
              <a:t>Low CGPA, few applications, rarely shortlisted</a:t>
            </a:r>
            <a:endParaRPr lang="en-US" sz="1350" dirty="0"/>
          </a:p>
        </p:txBody>
      </p:sp>
      <p:sp>
        <p:nvSpPr>
          <p:cNvPr id="18" name="Text 15"/>
          <p:cNvSpPr txBox="1"/>
          <p:nvPr/>
        </p:nvSpPr>
        <p:spPr>
          <a:xfrm>
            <a:off x="548640" y="5715000"/>
            <a:ext cx="11109960" cy="365760"/>
          </a:xfrm>
          <a:prstGeom prst="rect">
            <a:avLst/>
          </a:prstGeom>
          <a:noFill/>
          <a:ln/>
        </p:spPr>
        <p:txBody>
          <a:bodyPr wrap="square" lIns="0" tIns="0" rIns="0" bIns="0" rtlCol="0" anchor="ctr"/>
          <a:lstStyle/>
          <a:p>
            <a:pPr indent="0" marL="0">
              <a:buNone/>
            </a:pPr>
            <a:r>
              <a:rPr lang="en-US" sz="1300" b="1" dirty="0">
                <a:solidFill>
                  <a:srgbClr val="0F766E"/>
                </a:solidFill>
              </a:rPr>
              <a:t>χ² test, segment × accepted offer: χ² = 25.7, dof = 3, p = 0.000011. The segments differ in outcome, so the clusters are real, not just geometry.</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Analytics (4/4): clusters back in the database</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M4  </a:t>
            </a:r>
            <a:pPr algn="ctr" indent="0" marL="0">
              <a:buNone/>
            </a:pPr>
            <a:r>
              <a:rPr lang="en-US" sz="1200" dirty="0">
                <a:solidFill>
                  <a:srgbClr val="312E81"/>
                </a:solidFill>
              </a:rPr>
              <a:t>[Member 4]</a:t>
            </a:r>
            <a:endParaRPr lang="en-US" sz="1200" dirty="0"/>
          </a:p>
        </p:txBody>
      </p:sp>
      <p:sp>
        <p:nvSpPr>
          <p:cNvPr id="5" name="Shape 3"/>
          <p:cNvSpPr/>
          <p:nvPr/>
        </p:nvSpPr>
        <p:spPr>
          <a:xfrm>
            <a:off x="548640" y="1371600"/>
            <a:ext cx="5943600" cy="2880360"/>
          </a:xfrm>
          <a:prstGeom prst="roundRect">
            <a:avLst>
              <a:gd name="adj" fmla="val 2540"/>
            </a:avLst>
          </a:prstGeom>
          <a:solidFill>
            <a:srgbClr val="0F172A"/>
          </a:solidFill>
          <a:ln w="12700">
            <a:solidFill>
              <a:srgbClr val="0F172A"/>
            </a:solidFill>
            <a:prstDash val="solid"/>
          </a:ln>
        </p:spPr>
      </p:sp>
      <p:sp>
        <p:nvSpPr>
          <p:cNvPr id="6" name="Text 4"/>
          <p:cNvSpPr txBox="1"/>
          <p:nvPr/>
        </p:nvSpPr>
        <p:spPr>
          <a:xfrm>
            <a:off x="731520" y="1508760"/>
            <a:ext cx="5577840" cy="260604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 S2: who needs help now?</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SELECT sg.segment_name, f.roll_no,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CASE WHEN f.applications &lt; 3   THEN 'Apply to more roles'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WHEN f.interview_rate &lt; 0.4 THEN 'CV review' ... END</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FROM student_segment g</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JOIN segment sg USING (segment)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JOIN v_student_features f USING (student_id)</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WHERE NOT f.accepted_offer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AND g.segment IN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SELECT segment FROM v_segment_profile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WHERE accepted_pct &lt;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(SELECT 100.0 * avg(accepted_offer::int)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FROM v_student_features));</a:t>
            </a:r>
            <a:endParaRPr lang="en-US" sz="1100" dirty="0"/>
          </a:p>
        </p:txBody>
      </p:sp>
      <p:sp>
        <p:nvSpPr>
          <p:cNvPr id="7" name="Text 5"/>
          <p:cNvSpPr txBox="1"/>
          <p:nvPr/>
        </p:nvSpPr>
        <p:spPr>
          <a:xfrm>
            <a:off x="548640" y="4343400"/>
            <a:ext cx="5943600" cy="502920"/>
          </a:xfrm>
          <a:prstGeom prst="rect">
            <a:avLst/>
          </a:prstGeom>
          <a:noFill/>
          <a:ln/>
        </p:spPr>
        <p:txBody>
          <a:bodyPr wrap="square" lIns="0" tIns="0" rIns="0" bIns="0" rtlCol="0" anchor="t"/>
          <a:lstStyle/>
          <a:p>
            <a:pPr indent="0" marL="0">
              <a:buNone/>
            </a:pPr>
            <a:r>
              <a:rPr lang="en-US" sz="1200" b="1" dirty="0">
                <a:solidFill>
                  <a:srgbClr val="4F46E5"/>
                </a:solidFill>
              </a:rPr>
              <a:t>Weak = π segment (σ accepted_pct &lt; campus avg (SegmentProfile));  result = σ ¬accepted (StudentSegment ⋉ Weak ⋈ Features)</a:t>
            </a:r>
            <a:endParaRPr lang="en-US" sz="1200" dirty="0"/>
          </a:p>
        </p:txBody>
      </p:sp>
      <p:sp>
        <p:nvSpPr>
          <p:cNvPr id="8" name="Shape 6"/>
          <p:cNvSpPr/>
          <p:nvPr/>
        </p:nvSpPr>
        <p:spPr>
          <a:xfrm>
            <a:off x="548640" y="4937760"/>
            <a:ext cx="5943600" cy="1051560"/>
          </a:xfrm>
          <a:prstGeom prst="roundRect">
            <a:avLst>
              <a:gd name="adj" fmla="val 8696"/>
            </a:avLst>
          </a:prstGeom>
          <a:solidFill>
            <a:srgbClr val="F6F7FB"/>
          </a:solidFill>
          <a:ln w="12700">
            <a:solidFill>
              <a:srgbClr val="E5E7EB"/>
            </a:solidFill>
            <a:prstDash val="solid"/>
          </a:ln>
        </p:spPr>
      </p:sp>
      <p:sp>
        <p:nvSpPr>
          <p:cNvPr id="9" name="Text 7"/>
          <p:cNvSpPr txBox="1"/>
          <p:nvPr/>
        </p:nvSpPr>
        <p:spPr>
          <a:xfrm>
            <a:off x="713232" y="5047488"/>
            <a:ext cx="5614416" cy="832104"/>
          </a:xfrm>
          <a:prstGeom prst="rect">
            <a:avLst/>
          </a:prstGeom>
          <a:noFill/>
          <a:ln/>
        </p:spPr>
        <p:txBody>
          <a:bodyPr wrap="square" lIns="0" tIns="0" rIns="0" bIns="0" rtlCol="0" anchor="t"/>
          <a:lstStyle/>
          <a:p>
            <a:pPr indent="0" marL="0">
              <a:spcAft>
                <a:spcPts val="400"/>
              </a:spcAft>
              <a:buNone/>
            </a:pPr>
            <a:r>
              <a:rPr lang="en-US" sz="1350" b="1" dirty="0">
                <a:solidFill>
                  <a:srgbClr val="1F2937"/>
                </a:solidFill>
                <a:latin typeface="Calibri" pitchFamily="34" charset="0"/>
                <a:ea typeface="Calibri" pitchFamily="34" charset="-122"/>
                <a:cs typeface="Calibri" pitchFamily="34" charset="-120"/>
              </a:rPr>
              <a:t>Stored like any other data</a:t>
            </a:r>
            <a:endParaRPr lang="en-US" sz="1350" dirty="0"/>
          </a:p>
          <a:p>
            <a:pPr indent="0" marL="0">
              <a:spcAft>
                <a:spcPts val="300"/>
              </a:spcAft>
              <a:buNone/>
            </a:pPr>
            <a:r>
              <a:rPr lang="en-US" sz="1250" dirty="0">
                <a:solidFill>
                  <a:srgbClr val="374151"/>
                </a:solidFill>
                <a:latin typeface="Calibri" pitchFamily="34" charset="0"/>
                <a:ea typeface="Calibri" pitchFamily="34" charset="-122"/>
                <a:cs typeface="Calibri" pitchFamily="34" charset="-120"/>
              </a:rPr>
              <a:t>Labels go into SEGMENT and STUDENT_SEGMENT (BCNF, foreign keys) in ONE transaction: every student is relabelled, or none is.</a:t>
            </a:r>
            <a:endParaRPr lang="en-US" sz="1350" dirty="0"/>
          </a:p>
        </p:txBody>
      </p:sp>
      <p:sp>
        <p:nvSpPr>
          <p:cNvPr id="10" name="Text 8"/>
          <p:cNvSpPr txBox="1"/>
          <p:nvPr/>
        </p:nvSpPr>
        <p:spPr>
          <a:xfrm>
            <a:off x="6858000" y="1280160"/>
            <a:ext cx="1463040" cy="731520"/>
          </a:xfrm>
          <a:prstGeom prst="rect">
            <a:avLst/>
          </a:prstGeom>
          <a:noFill/>
          <a:ln/>
        </p:spPr>
        <p:txBody>
          <a:bodyPr wrap="square" lIns="0" tIns="0" rIns="0" bIns="0" rtlCol="0" anchor="ctr"/>
          <a:lstStyle/>
          <a:p>
            <a:pPr indent="0" marL="0">
              <a:buNone/>
            </a:pPr>
            <a:r>
              <a:rPr lang="en-US" sz="4400" b="1" dirty="0">
                <a:solidFill>
                  <a:srgbClr val="C2410C"/>
                </a:solidFill>
                <a:latin typeface="Cambria" pitchFamily="34" charset="0"/>
                <a:ea typeface="Cambria" pitchFamily="34" charset="-122"/>
                <a:cs typeface="Cambria" pitchFamily="34" charset="-120"/>
              </a:rPr>
              <a:t>52</a:t>
            </a:r>
            <a:endParaRPr lang="en-US" sz="4400" dirty="0"/>
          </a:p>
        </p:txBody>
      </p:sp>
      <p:sp>
        <p:nvSpPr>
          <p:cNvPr id="11" name="Text 9"/>
          <p:cNvSpPr txBox="1"/>
          <p:nvPr/>
        </p:nvSpPr>
        <p:spPr>
          <a:xfrm>
            <a:off x="8275320" y="1417320"/>
            <a:ext cx="3383280" cy="548640"/>
          </a:xfrm>
          <a:prstGeom prst="rect">
            <a:avLst/>
          </a:prstGeom>
          <a:noFill/>
          <a:ln/>
        </p:spPr>
        <p:txBody>
          <a:bodyPr wrap="square" lIns="0" tIns="0" rIns="0" bIns="0" rtlCol="0" anchor="ctr"/>
          <a:lstStyle/>
          <a:p>
            <a:pPr indent="0" marL="0">
              <a:buNone/>
            </a:pPr>
            <a:r>
              <a:rPr lang="en-US" sz="1350" dirty="0">
                <a:solidFill>
                  <a:srgbClr val="6B7280"/>
                </a:solidFill>
              </a:rPr>
              <a:t>students flagged, each with one action</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0" y="2148840"/>
          <a:ext cx="4800600" cy="914400"/>
        </p:xfrm>
        <a:graphic>
          <a:graphicData uri="http://schemas.openxmlformats.org/drawingml/2006/table">
            <a:tbl>
              <a:tblPr/>
              <a:tblGrid>
                <a:gridCol w="1645920"/>
                <a:gridCol w="2240280"/>
                <a:gridCol w="9144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Suggested action</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Students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r>
              <a:tr h="329184">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At-Risk</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Apply to more roles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At-Risk</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CV review</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329184">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At-Risk</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Technical skills workshop</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Selective Appliers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Apply to more roles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r h="329184">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Selective Appliers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Technical skills workshop</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Selective Appliers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Mock interviews</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6F7FB"/>
                    </a:solidFill>
                  </a:tcPr>
                </a:tc>
              </a:tr>
            </a:tbl>
          </a:graphicData>
        </a:graphic>
      </p:graphicFrame>
      <p:sp>
        <p:nvSpPr>
          <p:cNvPr id="13" name="Text 10"/>
          <p:cNvSpPr txBox="1"/>
          <p:nvPr/>
        </p:nvSpPr>
        <p:spPr>
          <a:xfrm>
            <a:off x="6858000" y="4617720"/>
            <a:ext cx="4800600" cy="1417320"/>
          </a:xfrm>
          <a:prstGeom prst="rect">
            <a:avLst/>
          </a:prstGeom>
          <a:noFill/>
          <a:ln/>
        </p:spPr>
        <p:txBody>
          <a:bodyPr wrap="square" lIns="0" tIns="0" rIns="0" bIns="0" rtlCol="0" anchor="t"/>
          <a:lstStyle/>
          <a:p>
            <a:pPr indent="0" marL="0">
              <a:spcAft>
                <a:spcPts val="600"/>
              </a:spcAft>
              <a:buNone/>
            </a:pPr>
            <a:r>
              <a:rPr lang="en-US" sz="1250" b="1" dirty="0">
                <a:solidFill>
                  <a:srgbClr val="1F2937"/>
                </a:solidFill>
              </a:rPr>
              <a:t>S1: </a:t>
            </a:r>
            <a:pPr indent="0" marL="0">
              <a:spcAft>
                <a:spcPts val="600"/>
              </a:spcAft>
              <a:buNone/>
            </a:pPr>
            <a:r>
              <a:rPr lang="en-US" sz="1250" dirty="0">
                <a:solidFill>
                  <a:srgbClr val="374151"/>
                </a:solidFill>
              </a:rPr>
              <a:t>PGP students fall into 4 segments and 52% of PGPEX are At-Risk, so a program-wide policy misses people.</a:t>
            </a:r>
            <a:endParaRPr lang="en-US" sz="1250" dirty="0"/>
          </a:p>
          <a:p>
            <a:pPr indent="0" marL="0">
              <a:spcAft>
                <a:spcPts val="600"/>
              </a:spcAft>
              <a:buNone/>
            </a:pPr>
            <a:r>
              <a:rPr lang="en-US" sz="1250" b="1" dirty="0">
                <a:solidFill>
                  <a:srgbClr val="1F2937"/>
                </a:solidFill>
              </a:rPr>
              <a:t>Threshold t: </a:t>
            </a:r>
            <a:pPr indent="0" marL="0">
              <a:spcAft>
                <a:spcPts val="600"/>
              </a:spcAft>
              <a:buNone/>
            </a:pPr>
            <a:r>
              <a:rPr lang="en-US" sz="1250" dirty="0">
                <a:solidFill>
                  <a:srgbClr val="374151"/>
                </a:solidFill>
              </a:rPr>
              <a:t>flagging students whose P(offer) &lt; 0.6 catches 89% of those with no offer, at 78% precision.</a:t>
            </a:r>
            <a:endParaRPr lang="en-US" sz="12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144000" cy="731520"/>
          </a:xfrm>
          <a:prstGeom prst="rect">
            <a:avLst/>
          </a:prstGeom>
          <a:noFill/>
          <a:ln/>
        </p:spPr>
        <p:txBody>
          <a:bodyPr wrap="square" lIns="0" tIns="0" rIns="0" bIns="0" rtlCol="0" anchor="ctr"/>
          <a:lstStyle/>
          <a:p>
            <a:pPr algn="l" indent="0" marL="0">
              <a:buNone/>
            </a:pPr>
            <a:r>
              <a:rPr lang="en-US" sz="3000" b="1" dirty="0">
                <a:solidFill>
                  <a:srgbClr val="111827"/>
                </a:solidFill>
                <a:latin typeface="Cambria" pitchFamily="34" charset="0"/>
                <a:ea typeface="Cambria" pitchFamily="34" charset="-122"/>
                <a:cs typeface="Cambria" pitchFamily="34" charset="-120"/>
              </a:rPr>
              <a:t>Indexing, security and testing</a:t>
            </a:r>
            <a:endParaRPr lang="en-US" sz="3000" dirty="0"/>
          </a:p>
        </p:txBody>
      </p:sp>
      <p:sp>
        <p:nvSpPr>
          <p:cNvPr id="3" name="speaker-chip"/>
          <p:cNvSpPr/>
          <p:nvPr/>
        </p:nvSpPr>
        <p:spPr>
          <a:xfrm>
            <a:off x="9921240" y="457200"/>
            <a:ext cx="1737360" cy="402336"/>
          </a:xfrm>
          <a:prstGeom prst="roundRect">
            <a:avLst>
              <a:gd name="adj" fmla="val 50000"/>
            </a:avLst>
          </a:prstGeom>
          <a:solidFill>
            <a:srgbClr val="EEF0FF"/>
          </a:solidFill>
          <a:ln w="12700">
            <a:solidFill>
              <a:srgbClr val="EEF0FF"/>
            </a:solidFill>
            <a:prstDash val="solid"/>
          </a:ln>
        </p:spPr>
      </p:sp>
      <p:sp>
        <p:nvSpPr>
          <p:cNvPr id="4" name="Text 2"/>
          <p:cNvSpPr txBox="1"/>
          <p:nvPr/>
        </p:nvSpPr>
        <p:spPr>
          <a:xfrm>
            <a:off x="9921240" y="457200"/>
            <a:ext cx="1737360" cy="402336"/>
          </a:xfrm>
          <a:prstGeom prst="rect">
            <a:avLst/>
          </a:prstGeom>
          <a:noFill/>
          <a:ln/>
        </p:spPr>
        <p:txBody>
          <a:bodyPr wrap="square" lIns="0" tIns="0" rIns="0" bIns="0" rtlCol="0" anchor="ctr"/>
          <a:lstStyle/>
          <a:p>
            <a:pPr algn="ctr" indent="0" marL="0">
              <a:buNone/>
            </a:pPr>
            <a:r>
              <a:rPr lang="en-US" sz="1200" b="1" dirty="0">
                <a:solidFill>
                  <a:srgbClr val="4F46E5"/>
                </a:solidFill>
              </a:rPr>
              <a:t>M4  </a:t>
            </a:r>
            <a:pPr algn="ctr" indent="0" marL="0">
              <a:buNone/>
            </a:pPr>
            <a:r>
              <a:rPr lang="en-US" sz="1200" dirty="0">
                <a:solidFill>
                  <a:srgbClr val="312E81"/>
                </a:solidFill>
              </a:rPr>
              <a:t>[Member 4]</a:t>
            </a:r>
            <a:endParaRPr lang="en-US" sz="1200" dirty="0"/>
          </a:p>
        </p:txBody>
      </p:sp>
      <p:graphicFrame>
        <p:nvGraphicFramePr>
          <p:cNvPr id="5" name="Chart 0" descr=""/>
          <p:cNvGraphicFramePr/>
          <p:nvPr/>
        </p:nvGraphicFramePr>
        <p:xfrm>
          <a:off x="548640" y="132588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983480"/>
            <a:ext cx="2011680" cy="640080"/>
          </a:xfrm>
          <a:prstGeom prst="rect">
            <a:avLst/>
          </a:prstGeom>
          <a:noFill/>
          <a:ln/>
        </p:spPr>
        <p:txBody>
          <a:bodyPr wrap="square" lIns="0" tIns="0" rIns="0" bIns="0" rtlCol="0" anchor="ctr"/>
          <a:lstStyle/>
          <a:p>
            <a:pPr indent="0" marL="0">
              <a:buNone/>
            </a:pPr>
            <a:r>
              <a:rPr lang="en-US" sz="3000" b="1" dirty="0">
                <a:solidFill>
                  <a:srgbClr val="4F46E5"/>
                </a:solidFill>
                <a:latin typeface="Cambria" pitchFamily="34" charset="0"/>
                <a:ea typeface="Cambria" pitchFamily="34" charset="-122"/>
                <a:cs typeface="Cambria" pitchFamily="34" charset="-120"/>
              </a:rPr>
              <a:t>2,434×</a:t>
            </a:r>
            <a:endParaRPr lang="en-US" sz="3000" dirty="0"/>
          </a:p>
        </p:txBody>
      </p:sp>
      <p:sp>
        <p:nvSpPr>
          <p:cNvPr id="7" name="Text 4"/>
          <p:cNvSpPr txBox="1"/>
          <p:nvPr/>
        </p:nvSpPr>
        <p:spPr>
          <a:xfrm>
            <a:off x="548640" y="5641848"/>
            <a:ext cx="2011680" cy="457200"/>
          </a:xfrm>
          <a:prstGeom prst="rect">
            <a:avLst/>
          </a:prstGeom>
          <a:noFill/>
          <a:ln/>
        </p:spPr>
        <p:txBody>
          <a:bodyPr wrap="square" lIns="0" tIns="0" rIns="0" bIns="0" rtlCol="0" anchor="t"/>
          <a:lstStyle/>
          <a:p>
            <a:pPr indent="0" marL="0">
              <a:buNone/>
            </a:pPr>
            <a:r>
              <a:rPr lang="en-US" sz="1250" dirty="0">
                <a:solidFill>
                  <a:srgbClr val="6B7280"/>
                </a:solidFill>
              </a:rPr>
              <a:t>faster: composite B-tree</a:t>
            </a:r>
            <a:endParaRPr lang="en-US" sz="1250" dirty="0"/>
          </a:p>
        </p:txBody>
      </p:sp>
      <p:sp>
        <p:nvSpPr>
          <p:cNvPr id="8" name="Text 5"/>
          <p:cNvSpPr txBox="1"/>
          <p:nvPr/>
        </p:nvSpPr>
        <p:spPr>
          <a:xfrm>
            <a:off x="2651760" y="4983480"/>
            <a:ext cx="2103120" cy="640080"/>
          </a:xfrm>
          <a:prstGeom prst="rect">
            <a:avLst/>
          </a:prstGeom>
          <a:noFill/>
          <a:ln/>
        </p:spPr>
        <p:txBody>
          <a:bodyPr wrap="square" lIns="0" tIns="0" rIns="0" bIns="0" rtlCol="0" anchor="ctr"/>
          <a:lstStyle/>
          <a:p>
            <a:pPr indent="0" marL="0">
              <a:buNone/>
            </a:pPr>
            <a:r>
              <a:rPr lang="en-US" sz="3000" b="1" dirty="0">
                <a:solidFill>
                  <a:srgbClr val="0F766E"/>
                </a:solidFill>
                <a:latin typeface="Cambria" pitchFamily="34" charset="0"/>
                <a:ea typeface="Cambria" pitchFamily="34" charset="-122"/>
                <a:cs typeface="Cambria" pitchFamily="34" charset="-120"/>
              </a:rPr>
              <a:t>26×</a:t>
            </a:r>
            <a:endParaRPr lang="en-US" sz="3000" dirty="0"/>
          </a:p>
        </p:txBody>
      </p:sp>
      <p:sp>
        <p:nvSpPr>
          <p:cNvPr id="9" name="Text 6"/>
          <p:cNvSpPr txBox="1"/>
          <p:nvPr/>
        </p:nvSpPr>
        <p:spPr>
          <a:xfrm>
            <a:off x="2651760" y="5641848"/>
            <a:ext cx="2103120" cy="457200"/>
          </a:xfrm>
          <a:prstGeom prst="rect">
            <a:avLst/>
          </a:prstGeom>
          <a:noFill/>
          <a:ln/>
        </p:spPr>
        <p:txBody>
          <a:bodyPr wrap="square" lIns="0" tIns="0" rIns="0" bIns="0" rtlCol="0" anchor="t"/>
          <a:lstStyle/>
          <a:p>
            <a:pPr indent="0" marL="0">
              <a:buNone/>
            </a:pPr>
            <a:r>
              <a:rPr lang="en-US" sz="1250" dirty="0">
                <a:solidFill>
                  <a:srgbClr val="6B7280"/>
                </a:solidFill>
              </a:rPr>
              <a:t>smaller: partial index</a:t>
            </a:r>
            <a:endParaRPr lang="en-US" sz="1250" dirty="0"/>
          </a:p>
        </p:txBody>
      </p:sp>
      <p:sp>
        <p:nvSpPr>
          <p:cNvPr id="10" name="Shape 7"/>
          <p:cNvSpPr/>
          <p:nvPr/>
        </p:nvSpPr>
        <p:spPr>
          <a:xfrm>
            <a:off x="5074920" y="1325880"/>
            <a:ext cx="3429000" cy="4663440"/>
          </a:xfrm>
          <a:prstGeom prst="roundRect">
            <a:avLst>
              <a:gd name="adj" fmla="val 2667"/>
            </a:avLst>
          </a:prstGeom>
          <a:solidFill>
            <a:srgbClr val="F6F7FB"/>
          </a:solidFill>
          <a:ln w="12700">
            <a:solidFill>
              <a:srgbClr val="E5E7EB"/>
            </a:solidFill>
            <a:prstDash val="solid"/>
          </a:ln>
        </p:spPr>
      </p:sp>
      <p:sp>
        <p:nvSpPr>
          <p:cNvPr id="11" name="Text 8"/>
          <p:cNvSpPr txBox="1"/>
          <p:nvPr/>
        </p:nvSpPr>
        <p:spPr>
          <a:xfrm>
            <a:off x="5257800" y="1463040"/>
            <a:ext cx="3108960" cy="365760"/>
          </a:xfrm>
          <a:prstGeom prst="rect">
            <a:avLst/>
          </a:prstGeom>
          <a:noFill/>
          <a:ln/>
        </p:spPr>
        <p:txBody>
          <a:bodyPr wrap="square" lIns="0" tIns="0" rIns="0" bIns="0" rtlCol="0" anchor="ctr"/>
          <a:lstStyle/>
          <a:p>
            <a:pPr indent="0" marL="0">
              <a:buNone/>
            </a:pPr>
            <a:r>
              <a:rPr lang="en-US" sz="1400" b="1" dirty="0">
                <a:solidFill>
                  <a:srgbClr val="1F2937"/>
                </a:solidFill>
              </a:rPr>
              <a:t>SQL injection:  x' OR '1'='1</a:t>
            </a:r>
            <a:endParaRPr lang="en-US" sz="1400" dirty="0"/>
          </a:p>
        </p:txBody>
      </p:sp>
      <p:sp>
        <p:nvSpPr>
          <p:cNvPr id="12" name="Text 9"/>
          <p:cNvSpPr txBox="1"/>
          <p:nvPr/>
        </p:nvSpPr>
        <p:spPr>
          <a:xfrm>
            <a:off x="5257800" y="1965960"/>
            <a:ext cx="1463040" cy="640080"/>
          </a:xfrm>
          <a:prstGeom prst="rect">
            <a:avLst/>
          </a:prstGeom>
          <a:noFill/>
          <a:ln/>
        </p:spPr>
        <p:txBody>
          <a:bodyPr wrap="square" lIns="0" tIns="0" rIns="0" bIns="0" rtlCol="0" anchor="ctr"/>
          <a:lstStyle/>
          <a:p>
            <a:pPr indent="0" marL="0">
              <a:buNone/>
            </a:pPr>
            <a:r>
              <a:rPr lang="en-US" sz="4000" b="1" dirty="0">
                <a:solidFill>
                  <a:srgbClr val="DC2626"/>
                </a:solidFill>
                <a:latin typeface="Cambria" pitchFamily="34" charset="0"/>
                <a:ea typeface="Cambria" pitchFamily="34" charset="-122"/>
                <a:cs typeface="Cambria" pitchFamily="34" charset="-120"/>
              </a:rPr>
              <a:t>180</a:t>
            </a:r>
            <a:endParaRPr lang="en-US" sz="4000" dirty="0"/>
          </a:p>
        </p:txBody>
      </p:sp>
      <p:sp>
        <p:nvSpPr>
          <p:cNvPr id="13" name="Text 10"/>
          <p:cNvSpPr txBox="1"/>
          <p:nvPr/>
        </p:nvSpPr>
        <p:spPr>
          <a:xfrm>
            <a:off x="5257800" y="2624328"/>
            <a:ext cx="1463040" cy="457200"/>
          </a:xfrm>
          <a:prstGeom prst="rect">
            <a:avLst/>
          </a:prstGeom>
          <a:noFill/>
          <a:ln/>
        </p:spPr>
        <p:txBody>
          <a:bodyPr wrap="square" lIns="0" tIns="0" rIns="0" bIns="0" rtlCol="0" anchor="t"/>
          <a:lstStyle/>
          <a:p>
            <a:pPr indent="0" marL="0">
              <a:buNone/>
            </a:pPr>
            <a:r>
              <a:rPr lang="en-US" sz="1250" dirty="0">
                <a:solidFill>
                  <a:srgbClr val="6B7280"/>
                </a:solidFill>
              </a:rPr>
              <a:t>rows leaked by string concatenation</a:t>
            </a:r>
            <a:endParaRPr lang="en-US" sz="1250" dirty="0"/>
          </a:p>
        </p:txBody>
      </p:sp>
      <p:sp>
        <p:nvSpPr>
          <p:cNvPr id="14" name="Text 11"/>
          <p:cNvSpPr txBox="1"/>
          <p:nvPr/>
        </p:nvSpPr>
        <p:spPr>
          <a:xfrm>
            <a:off x="6858000" y="1965960"/>
            <a:ext cx="1463040" cy="64008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0</a:t>
            </a:r>
            <a:endParaRPr lang="en-US" sz="4000" dirty="0"/>
          </a:p>
        </p:txBody>
      </p:sp>
      <p:sp>
        <p:nvSpPr>
          <p:cNvPr id="15" name="Text 12"/>
          <p:cNvSpPr txBox="1"/>
          <p:nvPr/>
        </p:nvSpPr>
        <p:spPr>
          <a:xfrm>
            <a:off x="6858000" y="2624328"/>
            <a:ext cx="1463040" cy="457200"/>
          </a:xfrm>
          <a:prstGeom prst="rect">
            <a:avLst/>
          </a:prstGeom>
          <a:noFill/>
          <a:ln/>
        </p:spPr>
        <p:txBody>
          <a:bodyPr wrap="square" lIns="0" tIns="0" rIns="0" bIns="0" rtlCol="0" anchor="t"/>
          <a:lstStyle/>
          <a:p>
            <a:pPr indent="0" marL="0">
              <a:buNone/>
            </a:pPr>
            <a:r>
              <a:rPr lang="en-US" sz="1250" dirty="0">
                <a:solidFill>
                  <a:srgbClr val="6B7280"/>
                </a:solidFill>
              </a:rPr>
              <a:t>rows with a bound parameter</a:t>
            </a:r>
            <a:endParaRPr lang="en-US" sz="1250" dirty="0"/>
          </a:p>
        </p:txBody>
      </p:sp>
      <p:sp>
        <p:nvSpPr>
          <p:cNvPr id="16" name="Text 13"/>
          <p:cNvSpPr txBox="1"/>
          <p:nvPr/>
        </p:nvSpPr>
        <p:spPr>
          <a:xfrm>
            <a:off x="5257800" y="3429000"/>
            <a:ext cx="3108960" cy="1371600"/>
          </a:xfrm>
          <a:prstGeom prst="rect">
            <a:avLst/>
          </a:prstGeom>
          <a:noFill/>
          <a:ln/>
        </p:spPr>
        <p:txBody>
          <a:bodyPr wrap="square" lIns="0" tIns="0" rIns="0" bIns="0" rtlCol="0" anchor="t"/>
          <a:lstStyle/>
          <a:p>
            <a:pPr indent="0" marL="0">
              <a:buNone/>
            </a:pPr>
            <a:r>
              <a:rPr lang="en-US" sz="1300" dirty="0">
                <a:solidFill>
                  <a:srgbClr val="374151"/>
                </a:solidFill>
              </a:rPr>
              <a:t>The unsafe path runs as a SELECT-only role in a READ ONLY transaction: DROP TABLE is refused.</a:t>
            </a:r>
            <a:endParaRPr lang="en-US" sz="1300" dirty="0"/>
          </a:p>
        </p:txBody>
      </p:sp>
      <p:sp>
        <p:nvSpPr>
          <p:cNvPr id="17" name="Shape 14"/>
          <p:cNvSpPr/>
          <p:nvPr/>
        </p:nvSpPr>
        <p:spPr>
          <a:xfrm>
            <a:off x="8778240" y="1325880"/>
            <a:ext cx="2880360" cy="4663440"/>
          </a:xfrm>
          <a:prstGeom prst="roundRect">
            <a:avLst>
              <a:gd name="adj" fmla="val 3175"/>
            </a:avLst>
          </a:prstGeom>
          <a:solidFill>
            <a:srgbClr val="E6F6F3"/>
          </a:solidFill>
          <a:ln w="12700">
            <a:solidFill>
              <a:srgbClr val="E6F6F3"/>
            </a:solidFill>
            <a:prstDash val="solid"/>
          </a:ln>
        </p:spPr>
      </p:sp>
      <p:sp>
        <p:nvSpPr>
          <p:cNvPr id="18" name="Text 15"/>
          <p:cNvSpPr txBox="1"/>
          <p:nvPr/>
        </p:nvSpPr>
        <p:spPr>
          <a:xfrm>
            <a:off x="8961120" y="1508760"/>
            <a:ext cx="2560320" cy="82296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91 / 91</a:t>
            </a:r>
            <a:endParaRPr lang="en-US" sz="4000" dirty="0"/>
          </a:p>
        </p:txBody>
      </p:sp>
      <p:sp>
        <p:nvSpPr>
          <p:cNvPr id="19" name="Text 16"/>
          <p:cNvSpPr txBox="1"/>
          <p:nvPr/>
        </p:nvSpPr>
        <p:spPr>
          <a:xfrm>
            <a:off x="8961120" y="2377440"/>
            <a:ext cx="2560320" cy="2011680"/>
          </a:xfrm>
          <a:prstGeom prst="rect">
            <a:avLst/>
          </a:prstGeom>
          <a:noFill/>
          <a:ln/>
        </p:spPr>
        <p:txBody>
          <a:bodyPr wrap="square" lIns="0" tIns="0" rIns="0" bIns="0" rtlCol="0" anchor="t"/>
          <a:lstStyle/>
          <a:p>
            <a:pPr indent="0" marL="0">
              <a:buNone/>
            </a:pPr>
            <a:r>
              <a:rPr lang="en-US" sz="1300" dirty="0">
                <a:solidFill>
                  <a:srgbClr val="374151"/>
                </a:solidFill>
              </a:rPr>
              <a:t>automated tests pass against the real database: constraints, triggers, queries, concurrency, performance, security, API</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11480"/>
            <a:ext cx="8229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learned</a:t>
            </a:r>
            <a:endParaRPr lang="en-US" sz="3200" dirty="0"/>
          </a:p>
        </p:txBody>
      </p:sp>
      <p:sp>
        <p:nvSpPr>
          <p:cNvPr id="3" name="Shape 1"/>
          <p:cNvSpPr/>
          <p:nvPr/>
        </p:nvSpPr>
        <p:spPr>
          <a:xfrm>
            <a:off x="640080" y="1417320"/>
            <a:ext cx="2606040" cy="3108960"/>
          </a:xfrm>
          <a:prstGeom prst="roundRect">
            <a:avLst>
              <a:gd name="adj" fmla="val 3509"/>
            </a:avLst>
          </a:prstGeom>
          <a:solidFill>
            <a:srgbClr val="1F2937"/>
          </a:solidFill>
          <a:ln w="12700">
            <a:solidFill>
              <a:srgbClr val="374151"/>
            </a:solidFill>
            <a:prstDash val="solid"/>
          </a:ln>
        </p:spPr>
      </p:sp>
      <p:sp>
        <p:nvSpPr>
          <p:cNvPr id="4" name="Text 2"/>
          <p:cNvSpPr txBox="1"/>
          <p:nvPr/>
        </p:nvSpPr>
        <p:spPr>
          <a:xfrm>
            <a:off x="822960" y="1572768"/>
            <a:ext cx="2286000" cy="365760"/>
          </a:xfrm>
          <a:prstGeom prst="rect">
            <a:avLst/>
          </a:prstGeom>
          <a:noFill/>
          <a:ln/>
        </p:spPr>
        <p:txBody>
          <a:bodyPr wrap="square" lIns="0" tIns="0" rIns="0" bIns="0" rtlCol="0" anchor="ctr"/>
          <a:lstStyle/>
          <a:p>
            <a:pPr indent="0" marL="0">
              <a:buNone/>
            </a:pPr>
            <a:r>
              <a:rPr lang="en-US" sz="1400" b="1" dirty="0">
                <a:solidFill>
                  <a:srgbClr val="A5B4FC"/>
                </a:solidFill>
              </a:rPr>
              <a:t>M1  </a:t>
            </a:r>
            <a:pPr indent="0" marL="0">
              <a:buNone/>
            </a:pPr>
            <a:r>
              <a:rPr lang="en-US" sz="1400" b="1" dirty="0">
                <a:solidFill>
                  <a:srgbClr val="FFFFFF"/>
                </a:solidFill>
              </a:rPr>
              <a:t>Ekta Sharma</a:t>
            </a:r>
            <a:endParaRPr lang="en-US" sz="1400" dirty="0"/>
          </a:p>
        </p:txBody>
      </p:sp>
      <p:sp>
        <p:nvSpPr>
          <p:cNvPr id="5" name="Text 3"/>
          <p:cNvSpPr txBox="1"/>
          <p:nvPr/>
        </p:nvSpPr>
        <p:spPr>
          <a:xfrm>
            <a:off x="822960" y="2057400"/>
            <a:ext cx="2286000" cy="2377440"/>
          </a:xfrm>
          <a:prstGeom prst="rect">
            <a:avLst/>
          </a:prstGeom>
          <a:noFill/>
          <a:ln/>
        </p:spPr>
        <p:txBody>
          <a:bodyPr wrap="square" lIns="0" tIns="0" rIns="0" bIns="0" rtlCol="0" anchor="t"/>
          <a:lstStyle/>
          <a:p>
            <a:pPr indent="0" marL="0">
              <a:buNone/>
            </a:pPr>
            <a:r>
              <a:rPr lang="en-US" sz="1400" dirty="0">
                <a:solidFill>
                  <a:srgbClr val="CBD5E1"/>
                </a:solidFill>
              </a:rPr>
              <a:t>Modelling decides everything downstream: treating the application as an aggregation is what made interview and offer integrity enforceable.</a:t>
            </a:r>
            <a:endParaRPr lang="en-US" sz="1400" dirty="0"/>
          </a:p>
        </p:txBody>
      </p:sp>
      <p:sp>
        <p:nvSpPr>
          <p:cNvPr id="6" name="Shape 4"/>
          <p:cNvSpPr/>
          <p:nvPr/>
        </p:nvSpPr>
        <p:spPr>
          <a:xfrm>
            <a:off x="3401568" y="1417320"/>
            <a:ext cx="2606040" cy="3108960"/>
          </a:xfrm>
          <a:prstGeom prst="roundRect">
            <a:avLst>
              <a:gd name="adj" fmla="val 3509"/>
            </a:avLst>
          </a:prstGeom>
          <a:solidFill>
            <a:srgbClr val="1F2937"/>
          </a:solidFill>
          <a:ln w="12700">
            <a:solidFill>
              <a:srgbClr val="374151"/>
            </a:solidFill>
            <a:prstDash val="solid"/>
          </a:ln>
        </p:spPr>
      </p:sp>
      <p:sp>
        <p:nvSpPr>
          <p:cNvPr id="7" name="Text 5"/>
          <p:cNvSpPr txBox="1"/>
          <p:nvPr/>
        </p:nvSpPr>
        <p:spPr>
          <a:xfrm>
            <a:off x="3584448" y="1572768"/>
            <a:ext cx="2286000" cy="365760"/>
          </a:xfrm>
          <a:prstGeom prst="rect">
            <a:avLst/>
          </a:prstGeom>
          <a:noFill/>
          <a:ln/>
        </p:spPr>
        <p:txBody>
          <a:bodyPr wrap="square" lIns="0" tIns="0" rIns="0" bIns="0" rtlCol="0" anchor="ctr"/>
          <a:lstStyle/>
          <a:p>
            <a:pPr indent="0" marL="0">
              <a:buNone/>
            </a:pPr>
            <a:r>
              <a:rPr lang="en-US" sz="1400" b="1" dirty="0">
                <a:solidFill>
                  <a:srgbClr val="A5B4FC"/>
                </a:solidFill>
              </a:rPr>
              <a:t>M2  </a:t>
            </a:r>
            <a:pPr indent="0" marL="0">
              <a:buNone/>
            </a:pPr>
            <a:r>
              <a:rPr lang="en-US" sz="1400" b="1" dirty="0">
                <a:solidFill>
                  <a:srgbClr val="FFFFFF"/>
                </a:solidFill>
              </a:rPr>
              <a:t>[Member 2]</a:t>
            </a:r>
            <a:endParaRPr lang="en-US" sz="1400" dirty="0"/>
          </a:p>
        </p:txBody>
      </p:sp>
      <p:sp>
        <p:nvSpPr>
          <p:cNvPr id="8" name="Text 6"/>
          <p:cNvSpPr txBox="1"/>
          <p:nvPr/>
        </p:nvSpPr>
        <p:spPr>
          <a:xfrm>
            <a:off x="3584448" y="2057400"/>
            <a:ext cx="2286000" cy="2377440"/>
          </a:xfrm>
          <a:prstGeom prst="rect">
            <a:avLst/>
          </a:prstGeom>
          <a:noFill/>
          <a:ln/>
        </p:spPr>
        <p:txBody>
          <a:bodyPr wrap="square" lIns="0" tIns="0" rIns="0" bIns="0" rtlCol="0" anchor="t"/>
          <a:lstStyle/>
          <a:p>
            <a:pPr indent="0" marL="0">
              <a:buNone/>
            </a:pPr>
            <a:r>
              <a:rPr lang="en-US" sz="1400" dirty="0">
                <a:solidFill>
                  <a:srgbClr val="CBD5E1"/>
                </a:solidFill>
              </a:rPr>
              <a:t>Normalization is a proof: writing every FD exposed the transitive dependency hiding in min_cgpa. Declared constraints then hold even if the app is bypassed.</a:t>
            </a:r>
            <a:endParaRPr lang="en-US" sz="1400" dirty="0"/>
          </a:p>
        </p:txBody>
      </p:sp>
      <p:sp>
        <p:nvSpPr>
          <p:cNvPr id="9" name="Shape 7"/>
          <p:cNvSpPr/>
          <p:nvPr/>
        </p:nvSpPr>
        <p:spPr>
          <a:xfrm>
            <a:off x="6163056" y="1417320"/>
            <a:ext cx="2606040" cy="3108960"/>
          </a:xfrm>
          <a:prstGeom prst="roundRect">
            <a:avLst>
              <a:gd name="adj" fmla="val 3509"/>
            </a:avLst>
          </a:prstGeom>
          <a:solidFill>
            <a:srgbClr val="1F2937"/>
          </a:solidFill>
          <a:ln w="12700">
            <a:solidFill>
              <a:srgbClr val="374151"/>
            </a:solidFill>
            <a:prstDash val="solid"/>
          </a:ln>
        </p:spPr>
      </p:sp>
      <p:sp>
        <p:nvSpPr>
          <p:cNvPr id="10" name="Text 8"/>
          <p:cNvSpPr txBox="1"/>
          <p:nvPr/>
        </p:nvSpPr>
        <p:spPr>
          <a:xfrm>
            <a:off x="6345936" y="1572768"/>
            <a:ext cx="2286000" cy="365760"/>
          </a:xfrm>
          <a:prstGeom prst="rect">
            <a:avLst/>
          </a:prstGeom>
          <a:noFill/>
          <a:ln/>
        </p:spPr>
        <p:txBody>
          <a:bodyPr wrap="square" lIns="0" tIns="0" rIns="0" bIns="0" rtlCol="0" anchor="ctr"/>
          <a:lstStyle/>
          <a:p>
            <a:pPr indent="0" marL="0">
              <a:buNone/>
            </a:pPr>
            <a:r>
              <a:rPr lang="en-US" sz="1400" b="1" dirty="0">
                <a:solidFill>
                  <a:srgbClr val="A5B4FC"/>
                </a:solidFill>
              </a:rPr>
              <a:t>M3  </a:t>
            </a:r>
            <a:pPr indent="0" marL="0">
              <a:buNone/>
            </a:pPr>
            <a:r>
              <a:rPr lang="en-US" sz="1400" b="1" dirty="0">
                <a:solidFill>
                  <a:srgbClr val="FFFFFF"/>
                </a:solidFill>
              </a:rPr>
              <a:t>[Member 3]</a:t>
            </a:r>
            <a:endParaRPr lang="en-US" sz="1400" dirty="0"/>
          </a:p>
        </p:txBody>
      </p:sp>
      <p:sp>
        <p:nvSpPr>
          <p:cNvPr id="11" name="Text 9"/>
          <p:cNvSpPr txBox="1"/>
          <p:nvPr/>
        </p:nvSpPr>
        <p:spPr>
          <a:xfrm>
            <a:off x="6345936" y="2057400"/>
            <a:ext cx="2286000" cy="2377440"/>
          </a:xfrm>
          <a:prstGeom prst="rect">
            <a:avLst/>
          </a:prstGeom>
          <a:noFill/>
          <a:ln/>
        </p:spPr>
        <p:txBody>
          <a:bodyPr wrap="square" lIns="0" tIns="0" rIns="0" bIns="0" rtlCol="0" anchor="t"/>
          <a:lstStyle/>
          <a:p>
            <a:pPr indent="0" marL="0">
              <a:buNone/>
            </a:pPr>
            <a:r>
              <a:rPr lang="en-US" sz="1400" dirty="0">
                <a:solidFill>
                  <a:srgbClr val="CBD5E1"/>
                </a:solidFill>
              </a:rPr>
              <a:t>Rules that span tables need triggers and transactions: lock order turned a possible deadlock into a clean queue.</a:t>
            </a:r>
            <a:endParaRPr lang="en-US" sz="1400" dirty="0"/>
          </a:p>
        </p:txBody>
      </p:sp>
      <p:sp>
        <p:nvSpPr>
          <p:cNvPr id="12" name="Shape 10"/>
          <p:cNvSpPr/>
          <p:nvPr/>
        </p:nvSpPr>
        <p:spPr>
          <a:xfrm>
            <a:off x="8924544" y="1417320"/>
            <a:ext cx="2606040" cy="3108960"/>
          </a:xfrm>
          <a:prstGeom prst="roundRect">
            <a:avLst>
              <a:gd name="adj" fmla="val 3509"/>
            </a:avLst>
          </a:prstGeom>
          <a:solidFill>
            <a:srgbClr val="1F2937"/>
          </a:solidFill>
          <a:ln w="12700">
            <a:solidFill>
              <a:srgbClr val="374151"/>
            </a:solidFill>
            <a:prstDash val="solid"/>
          </a:ln>
        </p:spPr>
      </p:sp>
      <p:sp>
        <p:nvSpPr>
          <p:cNvPr id="13" name="Text 11"/>
          <p:cNvSpPr txBox="1"/>
          <p:nvPr/>
        </p:nvSpPr>
        <p:spPr>
          <a:xfrm>
            <a:off x="9107424" y="1572768"/>
            <a:ext cx="2286000" cy="365760"/>
          </a:xfrm>
          <a:prstGeom prst="rect">
            <a:avLst/>
          </a:prstGeom>
          <a:noFill/>
          <a:ln/>
        </p:spPr>
        <p:txBody>
          <a:bodyPr wrap="square" lIns="0" tIns="0" rIns="0" bIns="0" rtlCol="0" anchor="ctr"/>
          <a:lstStyle/>
          <a:p>
            <a:pPr indent="0" marL="0">
              <a:buNone/>
            </a:pPr>
            <a:r>
              <a:rPr lang="en-US" sz="1400" b="1" dirty="0">
                <a:solidFill>
                  <a:srgbClr val="A5B4FC"/>
                </a:solidFill>
              </a:rPr>
              <a:t>M4  </a:t>
            </a:r>
            <a:pPr indent="0" marL="0">
              <a:buNone/>
            </a:pPr>
            <a:r>
              <a:rPr lang="en-US" sz="1400" b="1" dirty="0">
                <a:solidFill>
                  <a:srgbClr val="FFFFFF"/>
                </a:solidFill>
              </a:rPr>
              <a:t>[Member 4]</a:t>
            </a:r>
            <a:endParaRPr lang="en-US" sz="1400" dirty="0"/>
          </a:p>
        </p:txBody>
      </p:sp>
      <p:sp>
        <p:nvSpPr>
          <p:cNvPr id="14" name="Text 12"/>
          <p:cNvSpPr txBox="1"/>
          <p:nvPr/>
        </p:nvSpPr>
        <p:spPr>
          <a:xfrm>
            <a:off x="9107424" y="2057400"/>
            <a:ext cx="2286000" cy="2377440"/>
          </a:xfrm>
          <a:prstGeom prst="rect">
            <a:avLst/>
          </a:prstGeom>
          <a:noFill/>
          <a:ln/>
        </p:spPr>
        <p:txBody>
          <a:bodyPr wrap="square" lIns="0" tIns="0" rIns="0" bIns="0" rtlCol="0" anchor="t"/>
          <a:lstStyle/>
          <a:p>
            <a:pPr indent="0" marL="0">
              <a:buNone/>
            </a:pPr>
            <a:r>
              <a:rPr lang="en-US" sz="1400" dirty="0">
                <a:solidFill>
                  <a:srgbClr val="CBD5E1"/>
                </a:solidFill>
              </a:rPr>
              <a:t>Cluster on profile, judge on outcome: the segments found Selective Appliers, whom a CGPA cut-off would never flag.</a:t>
            </a:r>
            <a:endParaRPr lang="en-US" sz="1400" dirty="0"/>
          </a:p>
        </p:txBody>
      </p:sp>
      <p:sp>
        <p:nvSpPr>
          <p:cNvPr id="15" name="Text 13"/>
          <p:cNvSpPr txBox="1"/>
          <p:nvPr/>
        </p:nvSpPr>
        <p:spPr>
          <a:xfrm>
            <a:off x="640080" y="489204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Thank you. Questions?</a:t>
            </a:r>
            <a:endParaRPr lang="en-US" sz="3600" dirty="0"/>
          </a:p>
        </p:txBody>
      </p:sp>
      <p:sp>
        <p:nvSpPr>
          <p:cNvPr id="16" name="Text 14"/>
          <p:cNvSpPr txBox="1"/>
          <p:nvPr/>
        </p:nvSpPr>
        <p:spPr>
          <a:xfrm>
            <a:off x="640080" y="5669280"/>
            <a:ext cx="10058400" cy="365760"/>
          </a:xfrm>
          <a:prstGeom prst="rect">
            <a:avLst/>
          </a:prstGeom>
          <a:noFill/>
          <a:ln/>
        </p:spPr>
        <p:txBody>
          <a:bodyPr wrap="square" lIns="0" tIns="0" rIns="0" bIns="0" rtlCol="0" anchor="ctr"/>
          <a:lstStyle/>
          <a:p>
            <a:pPr indent="0" marL="0">
              <a:buNone/>
            </a:pPr>
            <a:r>
              <a:rPr lang="en-US" sz="1400" dirty="0">
                <a:solidFill>
                  <a:srgbClr val="94A3B8"/>
                </a:solidFill>
              </a:rPr>
              <a:t>github.com/EktaSharma-github/placeiq   ·   schema, data, queries, tests and the web UI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PGDBA Batch 12, IIM Calcutta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PlaceIQ: Campus Placement &amp; Recruitment Database</dc:title>
  <dc:subject>PptxGenJS Presentation</dc:subject>
  <dc:creator>Ekta Sharma, [Member 2], [Member 3], [Member 4]</dc:creator>
  <cp:lastModifiedBy>Ekta Sharma, [Member 2], [Member 3], [Member 4]</cp:lastModifiedBy>
  <cp:revision>1</cp:revision>
  <dcterms:created xsi:type="dcterms:W3CDTF">2026-10-29T12:04:46Z</dcterms:created>
  <dcterms:modified xsi:type="dcterms:W3CDTF">2026-10-29T12:04:46Z</dcterms:modified>
</cp:coreProperties>
</file>